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6" r:id="rId3"/>
    <p:sldId id="267" r:id="rId4"/>
    <p:sldId id="273" r:id="rId5"/>
    <p:sldId id="276" r:id="rId6"/>
    <p:sldId id="277" r:id="rId7"/>
    <p:sldId id="269" r:id="rId8"/>
    <p:sldId id="279" r:id="rId9"/>
    <p:sldId id="274" r:id="rId10"/>
    <p:sldId id="275" r:id="rId11"/>
    <p:sldId id="284" r:id="rId12"/>
    <p:sldId id="281" r:id="rId13"/>
    <p:sldId id="282" r:id="rId14"/>
    <p:sldId id="285" r:id="rId15"/>
    <p:sldId id="28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55"/>
    <p:restoredTop sz="94640"/>
  </p:normalViewPr>
  <p:slideViewPr>
    <p:cSldViewPr snapToGrid="0" snapToObjects="1">
      <p:cViewPr varScale="1">
        <p:scale>
          <a:sx n="116" d="100"/>
          <a:sy n="116" d="100"/>
        </p:scale>
        <p:origin x="344" y="192"/>
      </p:cViewPr>
      <p:guideLst/>
    </p:cSldViewPr>
  </p:slideViewPr>
  <p:notesTextViewPr>
    <p:cViewPr>
      <p:scale>
        <a:sx n="1" d="1"/>
        <a:sy n="1" d="1"/>
      </p:scale>
      <p:origin x="0" y="0"/>
    </p:cViewPr>
  </p:notesTextViewPr>
  <p:notesViewPr>
    <p:cSldViewPr snapToGrid="0" snapToObjects="1">
      <p:cViewPr varScale="1">
        <p:scale>
          <a:sx n="70" d="100"/>
          <a:sy n="70" d="100"/>
        </p:scale>
        <p:origin x="4552"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790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Ref: https://</a:t>
            </a:r>
            <a:r>
              <a:rPr lang="en-US" dirty="0" err="1"/>
              <a:t>web.stanford.edu</a:t>
            </a:r>
            <a:r>
              <a:rPr lang="en-US" dirty="0"/>
              <a:t>/class/archive/cs/cs161/cs161.1176/Slides/Lecture2.pdf</a:t>
            </a:r>
          </a:p>
        </p:txBody>
      </p:sp>
    </p:spTree>
    <p:extLst>
      <p:ext uri="{BB962C8B-B14F-4D97-AF65-F5344CB8AC3E}">
        <p14:creationId xmlns:p14="http://schemas.microsoft.com/office/powerpoint/2010/main" val="3395376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different way</a:t>
            </a:r>
            <a:r>
              <a:rPr lang="en-US" baseline="0" dirty="0"/>
              <a:t> of looking at merge sort.  Let's take the same example, and think about it in terms of what order the MERGE calls happen in (instead of what order the recursive calls happen in)</a:t>
            </a:r>
            <a:endParaRPr lang="en-US" dirty="0"/>
          </a:p>
        </p:txBody>
      </p:sp>
      <p:sp>
        <p:nvSpPr>
          <p:cNvPr id="4" name="Slide Number Placeholder 3"/>
          <p:cNvSpPr>
            <a:spLocks noGrp="1"/>
          </p:cNvSpPr>
          <p:nvPr>
            <p:ph type="sldNum" sz="quarter" idx="10"/>
          </p:nvPr>
        </p:nvSpPr>
        <p:spPr/>
        <p:txBody>
          <a:bodyPr/>
          <a:lstStyle/>
          <a:p>
            <a:fld id="{726DB9F1-7089-284F-968A-5D7899EE4DC1}" type="slidenum">
              <a:rPr lang="en-US" smtClean="0"/>
              <a:t>10</a:t>
            </a:fld>
            <a:endParaRPr lang="en-US"/>
          </a:p>
        </p:txBody>
      </p:sp>
    </p:spTree>
    <p:extLst>
      <p:ext uri="{BB962C8B-B14F-4D97-AF65-F5344CB8AC3E}">
        <p14:creationId xmlns:p14="http://schemas.microsoft.com/office/powerpoint/2010/main" val="2069147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120812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Ref : https://</a:t>
            </a:r>
            <a:r>
              <a:rPr lang="en-US" dirty="0" err="1"/>
              <a:t>web.stanford.edu</a:t>
            </a:r>
            <a:r>
              <a:rPr lang="en-US" dirty="0"/>
              <a:t>/class/archive/cs/cs161/cs161.1176/ </a:t>
            </a:r>
          </a:p>
        </p:txBody>
      </p:sp>
    </p:spTree>
    <p:extLst>
      <p:ext uri="{BB962C8B-B14F-4D97-AF65-F5344CB8AC3E}">
        <p14:creationId xmlns:p14="http://schemas.microsoft.com/office/powerpoint/2010/main" val="1024943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Ref: https://</a:t>
            </a:r>
            <a:r>
              <a:rPr lang="en-US" dirty="0" err="1"/>
              <a:t>web.stanford.edu</a:t>
            </a:r>
            <a:r>
              <a:rPr lang="en-US" dirty="0"/>
              <a:t>/class/archive/cs/cs161/cs161.1176/</a:t>
            </a:r>
          </a:p>
        </p:txBody>
      </p:sp>
    </p:spTree>
    <p:extLst>
      <p:ext uri="{BB962C8B-B14F-4D97-AF65-F5344CB8AC3E}">
        <p14:creationId xmlns:p14="http://schemas.microsoft.com/office/powerpoint/2010/main" val="2222269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FE212A-9867-FF43-B29B-BF7943B5E8BF}"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4B0CA4-3198-9940-9118-E85F445E1A6F}" type="slidenum">
              <a:rPr lang="en-US" smtClean="0"/>
              <a:t>‹#›</a:t>
            </a:fld>
            <a:endParaRPr lang="en-US"/>
          </a:p>
        </p:txBody>
      </p:sp>
    </p:spTree>
    <p:extLst>
      <p:ext uri="{BB962C8B-B14F-4D97-AF65-F5344CB8AC3E}">
        <p14:creationId xmlns:p14="http://schemas.microsoft.com/office/powerpoint/2010/main" val="9861439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cs.usfca.edu/~galles/visualization/ComparisonSort.html" TargetMode="External"/><Relationship Id="rId2" Type="http://schemas.openxmlformats.org/officeDocument/2006/relationships/hyperlink" Target="https://visualgo.net/en/sorting"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594360"/>
            <a:ext cx="73152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CS 383 ALGORITHMS ANALYSIS AND DESIGN</a:t>
            </a:r>
            <a:endParaRPr lang="en-US" sz="1200" dirty="0"/>
          </a:p>
        </p:txBody>
      </p:sp>
      <p:sp>
        <p:nvSpPr>
          <p:cNvPr id="3" name="Text 1"/>
          <p:cNvSpPr txBox="1"/>
          <p:nvPr/>
        </p:nvSpPr>
        <p:spPr>
          <a:xfrm>
            <a:off x="502920" y="960120"/>
            <a:ext cx="7498080" cy="914400"/>
          </a:xfrm>
          <a:prstGeom prst="rect">
            <a:avLst/>
          </a:prstGeom>
          <a:noFill/>
          <a:ln/>
        </p:spPr>
        <p:txBody>
          <a:bodyPr wrap="square" lIns="0" tIns="0" rIns="0" bIns="0" rtlCol="0" anchor="ctr"/>
          <a:lstStyle/>
          <a:p>
            <a:pPr marL="0" indent="0">
              <a:buNone/>
            </a:pPr>
            <a:r>
              <a:rPr lang="en-US" sz="4200" b="1" dirty="0">
                <a:solidFill>
                  <a:srgbClr val="1E2A44"/>
                </a:solidFill>
                <a:latin typeface="Calibri" pitchFamily="34" charset="0"/>
                <a:ea typeface="Calibri" pitchFamily="34" charset="-122"/>
                <a:cs typeface="Calibri" pitchFamily="34" charset="-120"/>
              </a:rPr>
              <a:t>Sorting Algorithms II</a:t>
            </a:r>
            <a:endParaRPr lang="en-US" sz="4200" dirty="0"/>
          </a:p>
        </p:txBody>
      </p:sp>
      <p:sp>
        <p:nvSpPr>
          <p:cNvPr id="4" name="Text 2"/>
          <p:cNvSpPr txBox="1"/>
          <p:nvPr/>
        </p:nvSpPr>
        <p:spPr>
          <a:xfrm>
            <a:off x="502920" y="1783080"/>
            <a:ext cx="7315200" cy="457200"/>
          </a:xfrm>
          <a:prstGeom prst="rect">
            <a:avLst/>
          </a:prstGeom>
          <a:noFill/>
          <a:ln/>
        </p:spPr>
        <p:txBody>
          <a:bodyPr wrap="square" lIns="0" tIns="0" rIns="0" bIns="0" rtlCol="0" anchor="ctr"/>
          <a:lstStyle/>
          <a:p>
            <a:pPr marL="0" indent="0">
              <a:buNone/>
            </a:pPr>
            <a:r>
              <a:rPr lang="en-US" sz="1900" b="1">
                <a:solidFill>
                  <a:srgbClr val="C55A11"/>
                </a:solidFill>
                <a:latin typeface="Calibri" pitchFamily="34" charset="0"/>
                <a:ea typeface="Calibri" pitchFamily="34" charset="-122"/>
                <a:cs typeface="Calibri" pitchFamily="34" charset="-120"/>
              </a:rPr>
              <a:t>Using Divide-and-Conquer</a:t>
            </a:r>
            <a:endParaRPr lang="en-US" sz="1900" dirty="0"/>
          </a:p>
        </p:txBody>
      </p:sp>
      <p:sp>
        <p:nvSpPr>
          <p:cNvPr id="5" name="Text 3"/>
          <p:cNvSpPr txBox="1"/>
          <p:nvPr/>
        </p:nvSpPr>
        <p:spPr>
          <a:xfrm>
            <a:off x="502920" y="2331720"/>
            <a:ext cx="6949440" cy="548640"/>
          </a:xfrm>
          <a:prstGeom prst="rect">
            <a:avLst/>
          </a:prstGeom>
          <a:noFill/>
          <a:ln/>
        </p:spPr>
        <p:txBody>
          <a:bodyPr wrap="square" lIns="0" tIns="0" rIns="0" bIns="0"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Divide and conquer gets Merge Sort to O(n log n).</a:t>
            </a:r>
            <a:endParaRPr lang="en-US" sz="1400" dirty="0"/>
          </a:p>
        </p:txBody>
      </p:sp>
      <p:sp>
        <p:nvSpPr>
          <p:cNvPr id="6" name="Shape 4"/>
          <p:cNvSpPr/>
          <p:nvPr/>
        </p:nvSpPr>
        <p:spPr>
          <a:xfrm>
            <a:off x="7863840" y="3977640"/>
            <a:ext cx="384048" cy="320040"/>
          </a:xfrm>
          <a:prstGeom prst="roundRect">
            <a:avLst>
              <a:gd name="adj" fmla="val 11429"/>
            </a:avLst>
          </a:prstGeom>
          <a:solidFill>
            <a:srgbClr val="F4B183"/>
          </a:solidFill>
          <a:ln/>
        </p:spPr>
        <p:txBody>
          <a:bodyPr/>
          <a:lstStyle/>
          <a:p>
            <a:endParaRPr lang="en-US"/>
          </a:p>
        </p:txBody>
      </p:sp>
      <p:sp>
        <p:nvSpPr>
          <p:cNvPr id="7" name="Shape 5"/>
          <p:cNvSpPr/>
          <p:nvPr/>
        </p:nvSpPr>
        <p:spPr>
          <a:xfrm>
            <a:off x="8375904" y="3611880"/>
            <a:ext cx="384048" cy="685800"/>
          </a:xfrm>
          <a:prstGeom prst="roundRect">
            <a:avLst>
              <a:gd name="adj" fmla="val 9524"/>
            </a:avLst>
          </a:prstGeom>
          <a:solidFill>
            <a:srgbClr val="F4B183"/>
          </a:solidFill>
          <a:ln/>
        </p:spPr>
        <p:txBody>
          <a:bodyPr/>
          <a:lstStyle/>
          <a:p>
            <a:endParaRPr lang="en-US"/>
          </a:p>
        </p:txBody>
      </p:sp>
      <p:sp>
        <p:nvSpPr>
          <p:cNvPr id="8" name="Shape 6"/>
          <p:cNvSpPr/>
          <p:nvPr/>
        </p:nvSpPr>
        <p:spPr>
          <a:xfrm>
            <a:off x="8887968" y="3154680"/>
            <a:ext cx="384048" cy="1143000"/>
          </a:xfrm>
          <a:prstGeom prst="roundRect">
            <a:avLst>
              <a:gd name="adj" fmla="val 9524"/>
            </a:avLst>
          </a:prstGeom>
          <a:solidFill>
            <a:srgbClr val="F4B183"/>
          </a:solidFill>
          <a:ln/>
        </p:spPr>
        <p:txBody>
          <a:bodyPr/>
          <a:lstStyle/>
          <a:p>
            <a:endParaRPr lang="en-US"/>
          </a:p>
        </p:txBody>
      </p:sp>
      <p:sp>
        <p:nvSpPr>
          <p:cNvPr id="9" name="Shape 7"/>
          <p:cNvSpPr/>
          <p:nvPr/>
        </p:nvSpPr>
        <p:spPr>
          <a:xfrm>
            <a:off x="9400032" y="2606040"/>
            <a:ext cx="384048" cy="1691640"/>
          </a:xfrm>
          <a:prstGeom prst="roundRect">
            <a:avLst>
              <a:gd name="adj" fmla="val 9524"/>
            </a:avLst>
          </a:prstGeom>
          <a:solidFill>
            <a:srgbClr val="F4B183"/>
          </a:solidFill>
          <a:ln/>
        </p:spPr>
        <p:txBody>
          <a:bodyPr/>
          <a:lstStyle/>
          <a:p>
            <a:endParaRPr lang="en-US"/>
          </a:p>
        </p:txBody>
      </p:sp>
      <p:sp>
        <p:nvSpPr>
          <p:cNvPr id="10" name="Shape 8"/>
          <p:cNvSpPr/>
          <p:nvPr/>
        </p:nvSpPr>
        <p:spPr>
          <a:xfrm>
            <a:off x="9912096" y="1965960"/>
            <a:ext cx="384048" cy="2331720"/>
          </a:xfrm>
          <a:prstGeom prst="roundRect">
            <a:avLst>
              <a:gd name="adj" fmla="val 9524"/>
            </a:avLst>
          </a:prstGeom>
          <a:solidFill>
            <a:srgbClr val="C55A11"/>
          </a:solidFill>
          <a:ln/>
        </p:spPr>
        <p:txBody>
          <a:bodyPr/>
          <a:lstStyle/>
          <a:p>
            <a:endParaRPr lang="en-US"/>
          </a:p>
        </p:txBody>
      </p:sp>
      <p:sp>
        <p:nvSpPr>
          <p:cNvPr id="11" name="Text 9"/>
          <p:cNvSpPr txBox="1"/>
          <p:nvPr/>
        </p:nvSpPr>
        <p:spPr>
          <a:xfrm>
            <a:off x="7772400" y="4370832"/>
            <a:ext cx="2743200" cy="274320"/>
          </a:xfrm>
          <a:prstGeom prst="rect">
            <a:avLst/>
          </a:prstGeom>
          <a:noFill/>
          <a:ln/>
        </p:spPr>
        <p:txBody>
          <a:bodyPr wrap="square" lIns="0" tIns="0" rIns="0" bIns="0" rtlCol="0" anchor="ctr"/>
          <a:lstStyle/>
          <a:p>
            <a:pPr marL="0" indent="0">
              <a:buNone/>
            </a:pPr>
            <a:r>
              <a:rPr lang="en-US" sz="1200" b="1" dirty="0">
                <a:solidFill>
                  <a:srgbClr val="C55A11"/>
                </a:solidFill>
                <a:latin typeface="Calibri" pitchFamily="34" charset="0"/>
                <a:ea typeface="Calibri" pitchFamily="34" charset="-122"/>
                <a:cs typeface="Calibri" pitchFamily="34" charset="-120"/>
              </a:rPr>
              <a:t>Before: O(n²)</a:t>
            </a:r>
            <a:endParaRPr lang="en-US" sz="1200" dirty="0"/>
          </a:p>
        </p:txBody>
      </p:sp>
      <p:sp>
        <p:nvSpPr>
          <p:cNvPr id="12" name="Shape 10"/>
          <p:cNvSpPr/>
          <p:nvPr/>
        </p:nvSpPr>
        <p:spPr>
          <a:xfrm>
            <a:off x="7863840" y="5760720"/>
            <a:ext cx="384048" cy="228600"/>
          </a:xfrm>
          <a:prstGeom prst="roundRect">
            <a:avLst>
              <a:gd name="adj" fmla="val 16000"/>
            </a:avLst>
          </a:prstGeom>
          <a:solidFill>
            <a:srgbClr val="9DB4E0"/>
          </a:solidFill>
          <a:ln/>
        </p:spPr>
        <p:txBody>
          <a:bodyPr/>
          <a:lstStyle/>
          <a:p>
            <a:endParaRPr lang="en-US"/>
          </a:p>
        </p:txBody>
      </p:sp>
      <p:sp>
        <p:nvSpPr>
          <p:cNvPr id="13" name="Shape 11"/>
          <p:cNvSpPr/>
          <p:nvPr/>
        </p:nvSpPr>
        <p:spPr>
          <a:xfrm>
            <a:off x="8375904" y="5605272"/>
            <a:ext cx="384048" cy="384048"/>
          </a:xfrm>
          <a:prstGeom prst="roundRect">
            <a:avLst>
              <a:gd name="adj" fmla="val 9524"/>
            </a:avLst>
          </a:prstGeom>
          <a:solidFill>
            <a:srgbClr val="9DB4E0"/>
          </a:solidFill>
          <a:ln/>
        </p:spPr>
        <p:txBody>
          <a:bodyPr/>
          <a:lstStyle/>
          <a:p>
            <a:endParaRPr lang="en-US"/>
          </a:p>
        </p:txBody>
      </p:sp>
      <p:sp>
        <p:nvSpPr>
          <p:cNvPr id="14" name="Shape 12"/>
          <p:cNvSpPr/>
          <p:nvPr/>
        </p:nvSpPr>
        <p:spPr>
          <a:xfrm>
            <a:off x="8887968" y="5486400"/>
            <a:ext cx="384048" cy="502920"/>
          </a:xfrm>
          <a:prstGeom prst="roundRect">
            <a:avLst>
              <a:gd name="adj" fmla="val 9524"/>
            </a:avLst>
          </a:prstGeom>
          <a:solidFill>
            <a:srgbClr val="9DB4E0"/>
          </a:solidFill>
          <a:ln/>
        </p:spPr>
        <p:txBody>
          <a:bodyPr/>
          <a:lstStyle/>
          <a:p>
            <a:endParaRPr lang="en-US"/>
          </a:p>
        </p:txBody>
      </p:sp>
      <p:sp>
        <p:nvSpPr>
          <p:cNvPr id="15" name="Shape 13"/>
          <p:cNvSpPr/>
          <p:nvPr/>
        </p:nvSpPr>
        <p:spPr>
          <a:xfrm>
            <a:off x="9400032" y="5394960"/>
            <a:ext cx="384048" cy="594360"/>
          </a:xfrm>
          <a:prstGeom prst="roundRect">
            <a:avLst>
              <a:gd name="adj" fmla="val 9524"/>
            </a:avLst>
          </a:prstGeom>
          <a:solidFill>
            <a:srgbClr val="9DB4E0"/>
          </a:solidFill>
          <a:ln/>
        </p:spPr>
        <p:txBody>
          <a:bodyPr/>
          <a:lstStyle/>
          <a:p>
            <a:endParaRPr lang="en-US"/>
          </a:p>
        </p:txBody>
      </p:sp>
      <p:sp>
        <p:nvSpPr>
          <p:cNvPr id="16" name="Shape 14"/>
          <p:cNvSpPr/>
          <p:nvPr/>
        </p:nvSpPr>
        <p:spPr>
          <a:xfrm>
            <a:off x="9912096" y="5330952"/>
            <a:ext cx="384048" cy="658368"/>
          </a:xfrm>
          <a:prstGeom prst="roundRect">
            <a:avLst>
              <a:gd name="adj" fmla="val 9524"/>
            </a:avLst>
          </a:prstGeom>
          <a:solidFill>
            <a:srgbClr val="4472C4"/>
          </a:solidFill>
          <a:ln/>
        </p:spPr>
        <p:txBody>
          <a:bodyPr/>
          <a:lstStyle/>
          <a:p>
            <a:endParaRPr lang="en-US"/>
          </a:p>
        </p:txBody>
      </p:sp>
      <p:sp>
        <p:nvSpPr>
          <p:cNvPr id="17" name="Text 15"/>
          <p:cNvSpPr txBox="1"/>
          <p:nvPr/>
        </p:nvSpPr>
        <p:spPr>
          <a:xfrm>
            <a:off x="7772400" y="6062472"/>
            <a:ext cx="2926080" cy="274320"/>
          </a:xfrm>
          <a:prstGeom prst="rect">
            <a:avLst/>
          </a:prstGeom>
          <a:noFill/>
          <a:ln/>
        </p:spPr>
        <p:txBody>
          <a:bodyPr wrap="square" lIns="0" tIns="0" rIns="0" bIns="0" rtlCol="0" anchor="ctr"/>
          <a:lstStyle/>
          <a:p>
            <a:pPr marL="0" indent="0">
              <a:buNone/>
            </a:pPr>
            <a:r>
              <a:rPr lang="en-US" sz="1200" b="1" dirty="0">
                <a:solidFill>
                  <a:srgbClr val="4472C4"/>
                </a:solidFill>
                <a:latin typeface="Calibri" pitchFamily="34" charset="0"/>
                <a:ea typeface="Calibri" pitchFamily="34" charset="-122"/>
                <a:cs typeface="Calibri" pitchFamily="34" charset="-120"/>
              </a:rPr>
              <a:t>After: O(n log n)</a:t>
            </a:r>
            <a:endParaRPr lang="en-US" sz="1200" dirty="0"/>
          </a:p>
        </p:txBody>
      </p:sp>
      <p:sp>
        <p:nvSpPr>
          <p:cNvPr id="18" name="Shape 16"/>
          <p:cNvSpPr/>
          <p:nvPr/>
        </p:nvSpPr>
        <p:spPr>
          <a:xfrm>
            <a:off x="9921240" y="502920"/>
            <a:ext cx="1417320" cy="1417320"/>
          </a:xfrm>
          <a:prstGeom prst="ellipse">
            <a:avLst/>
          </a:prstGeom>
          <a:solidFill>
            <a:srgbClr val="EEF3FC"/>
          </a:solidFill>
          <a:ln w="19050">
            <a:solidFill>
              <a:srgbClr val="C9D6F0"/>
            </a:solidFill>
            <a:prstDash val="solid"/>
          </a:ln>
        </p:spPr>
        <p:txBody>
          <a:bodyPr/>
          <a:lstStyle/>
          <a:p>
            <a:endParaRPr lang="en-US"/>
          </a:p>
        </p:txBody>
      </p:sp>
      <p:sp>
        <p:nvSpPr>
          <p:cNvPr id="19" name="Text 17"/>
          <p:cNvSpPr txBox="1"/>
          <p:nvPr/>
        </p:nvSpPr>
        <p:spPr>
          <a:xfrm>
            <a:off x="9921240" y="502920"/>
            <a:ext cx="1417320" cy="1417320"/>
          </a:xfrm>
          <a:prstGeom prst="rect">
            <a:avLst/>
          </a:prstGeom>
          <a:noFill/>
          <a:ln/>
        </p:spPr>
        <p:txBody>
          <a:bodyPr wrap="square" lIns="0" tIns="0" rIns="0" bIns="0" rtlCol="0" anchor="ctr"/>
          <a:lstStyle/>
          <a:p>
            <a:pPr marL="0" indent="0" algn="ctr">
              <a:lnSpc>
                <a:spcPct val="100000"/>
              </a:lnSpc>
              <a:buNone/>
            </a:pPr>
            <a:r>
              <a:rPr lang="en-US" sz="1300" b="1" dirty="0">
                <a:solidFill>
                  <a:srgbClr val="4472C4"/>
                </a:solidFill>
                <a:latin typeface="Calibri" pitchFamily="34" charset="0"/>
                <a:ea typeface="Calibri" pitchFamily="34" charset="-122"/>
                <a:cs typeface="Calibri" pitchFamily="34" charset="-120"/>
              </a:rPr>
              <a:t>divide</a:t>
            </a:r>
            <a:endParaRPr lang="en-US" sz="1300" dirty="0"/>
          </a:p>
          <a:p>
            <a:pPr marL="0" indent="0" algn="ctr">
              <a:lnSpc>
                <a:spcPct val="100000"/>
              </a:lnSpc>
              <a:buNone/>
            </a:pPr>
            <a:r>
              <a:rPr lang="en-US" sz="1300" b="1" dirty="0">
                <a:solidFill>
                  <a:srgbClr val="4472C4"/>
                </a:solidFill>
                <a:latin typeface="Calibri" pitchFamily="34" charset="0"/>
                <a:ea typeface="Calibri" pitchFamily="34" charset="-122"/>
                <a:cs typeface="Calibri" pitchFamily="34" charset="-120"/>
              </a:rPr>
              <a:t>&amp;</a:t>
            </a:r>
            <a:endParaRPr lang="en-US" sz="1300" dirty="0"/>
          </a:p>
          <a:p>
            <a:pPr marL="0" indent="0" algn="ctr">
              <a:lnSpc>
                <a:spcPct val="100000"/>
              </a:lnSpc>
              <a:buNone/>
            </a:pPr>
            <a:r>
              <a:rPr lang="en-US" sz="1300" b="1" dirty="0">
                <a:solidFill>
                  <a:srgbClr val="4472C4"/>
                </a:solidFill>
                <a:latin typeface="Calibri" pitchFamily="34" charset="0"/>
                <a:ea typeface="Calibri" pitchFamily="34" charset="-122"/>
                <a:cs typeface="Calibri" pitchFamily="34" charset="-120"/>
              </a:rPr>
              <a:t>conquer</a:t>
            </a:r>
            <a:endParaRPr lang="en-US" sz="1300" dirty="0"/>
          </a:p>
        </p:txBody>
      </p:sp>
      <p:sp>
        <p:nvSpPr>
          <p:cNvPr id="20" name="Shape 18"/>
          <p:cNvSpPr/>
          <p:nvPr/>
        </p:nvSpPr>
        <p:spPr>
          <a:xfrm>
            <a:off x="502920" y="5897880"/>
            <a:ext cx="6949440" cy="0"/>
          </a:xfrm>
          <a:prstGeom prst="line">
            <a:avLst/>
          </a:prstGeom>
          <a:noFill/>
          <a:ln w="12700">
            <a:solidFill>
              <a:srgbClr val="D9D9D9"/>
            </a:solidFill>
            <a:prstDash val="solid"/>
          </a:ln>
        </p:spPr>
        <p:txBody>
          <a:bodyPr/>
          <a:lstStyle/>
          <a:p>
            <a:endParaRPr lang="en-US"/>
          </a:p>
        </p:txBody>
      </p:sp>
      <p:sp>
        <p:nvSpPr>
          <p:cNvPr id="21" name="Text 19"/>
          <p:cNvSpPr txBox="1"/>
          <p:nvPr/>
        </p:nvSpPr>
        <p:spPr>
          <a:xfrm>
            <a:off x="502920" y="5989320"/>
            <a:ext cx="365760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Tanwistha Saha</a:t>
            </a:r>
            <a:endParaRPr lang="en-US" sz="1300" dirty="0"/>
          </a:p>
        </p:txBody>
      </p:sp>
      <p:sp>
        <p:nvSpPr>
          <p:cNvPr id="22" name="Text 20"/>
          <p:cNvSpPr txBox="1"/>
          <p:nvPr/>
        </p:nvSpPr>
        <p:spPr>
          <a:xfrm>
            <a:off x="502920" y="6263640"/>
            <a:ext cx="5486400" cy="274320"/>
          </a:xfrm>
          <a:prstGeom prst="rect">
            <a:avLst/>
          </a:prstGeom>
          <a:noFill/>
          <a:ln/>
        </p:spPr>
        <p:txBody>
          <a:bodyPr wrap="square" lIns="0" tIns="0" rIns="0" bIns="0" rtlCol="0" anchor="ctr"/>
          <a:lstStyle/>
          <a:p>
            <a:pPr marL="0" indent="0">
              <a:buNone/>
            </a:pPr>
            <a:r>
              <a:rPr lang="en-US" sz="1100" dirty="0">
                <a:solidFill>
                  <a:srgbClr val="595959"/>
                </a:solidFill>
                <a:latin typeface="Calibri" pitchFamily="34" charset="0"/>
                <a:ea typeface="Calibri" pitchFamily="34" charset="-122"/>
                <a:cs typeface="Calibri" pitchFamily="34" charset="-120"/>
              </a:rPr>
              <a:t>Week 4  ·  Session 9  ·  September 21</a:t>
            </a:r>
            <a:endParaRPr lang="en-US" sz="1100" dirty="0"/>
          </a:p>
        </p:txBody>
      </p:sp>
      <p:sp>
        <p:nvSpPr>
          <p:cNvPr id="23" name="Text 21"/>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 ·  Sep 21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DIVIDE AND CONQUER</a:t>
            </a:r>
            <a:endParaRPr lang="en-US" sz="1200" dirty="0"/>
          </a:p>
        </p:txBody>
      </p:sp>
      <p:sp>
        <p:nvSpPr>
          <p:cNvPr id="3" name="Text 1"/>
          <p:cNvSpPr txBox="1"/>
          <p:nvPr/>
        </p:nvSpPr>
        <p:spPr>
          <a:xfrm>
            <a:off x="502920" y="603504"/>
            <a:ext cx="10789920" cy="566928"/>
          </a:xfrm>
          <a:prstGeom prst="rect">
            <a:avLst/>
          </a:prstGeom>
          <a:noFill/>
          <a:ln/>
        </p:spPr>
        <p:txBody>
          <a:bodyPr wrap="square" lIns="0" tIns="0" rIns="0" bIns="0" rtlCol="0" anchor="ctr"/>
          <a:lstStyle/>
          <a:p>
            <a:pPr marL="0" indent="0">
              <a:buNone/>
            </a:pPr>
            <a:r>
              <a:rPr lang="en-US" sz="3000" b="1" dirty="0">
                <a:solidFill>
                  <a:srgbClr val="1E2A44"/>
                </a:solidFill>
                <a:latin typeface="Calibri" pitchFamily="34" charset="0"/>
                <a:ea typeface="Calibri" pitchFamily="34" charset="-122"/>
                <a:cs typeface="Calibri" pitchFamily="34" charset="-120"/>
              </a:rPr>
              <a:t>Merge Sort</a:t>
            </a:r>
            <a:endParaRPr lang="en-US" sz="3000" dirty="0"/>
          </a:p>
        </p:txBody>
      </p:sp>
      <p:sp>
        <p:nvSpPr>
          <p:cNvPr id="4" name="Text 2"/>
          <p:cNvSpPr txBox="1"/>
          <p:nvPr/>
        </p:nvSpPr>
        <p:spPr>
          <a:xfrm>
            <a:off x="502920" y="1152144"/>
            <a:ext cx="10881360" cy="384048"/>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Apply the divide-and-conquer recipe directly to sorting: split, sort each half, then merge.</a:t>
            </a:r>
            <a:endParaRPr lang="en-US" sz="1350" dirty="0"/>
          </a:p>
        </p:txBody>
      </p:sp>
      <p:sp>
        <p:nvSpPr>
          <p:cNvPr id="5" name="Shape 3"/>
          <p:cNvSpPr/>
          <p:nvPr/>
        </p:nvSpPr>
        <p:spPr>
          <a:xfrm>
            <a:off x="502920" y="1965960"/>
            <a:ext cx="384048" cy="384048"/>
          </a:xfrm>
          <a:prstGeom prst="ellipse">
            <a:avLst/>
          </a:prstGeom>
          <a:solidFill>
            <a:srgbClr val="4472C4"/>
          </a:solidFill>
          <a:ln/>
        </p:spPr>
        <p:txBody>
          <a:bodyPr/>
          <a:lstStyle/>
          <a:p>
            <a:endParaRPr lang="en-US"/>
          </a:p>
        </p:txBody>
      </p:sp>
      <p:sp>
        <p:nvSpPr>
          <p:cNvPr id="6" name="Text 4"/>
          <p:cNvSpPr txBox="1"/>
          <p:nvPr/>
        </p:nvSpPr>
        <p:spPr>
          <a:xfrm>
            <a:off x="502920" y="19659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051560" y="1929384"/>
            <a:ext cx="82296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Divide</a:t>
            </a:r>
            <a:endParaRPr lang="en-US" sz="1500" dirty="0"/>
          </a:p>
        </p:txBody>
      </p:sp>
      <p:sp>
        <p:nvSpPr>
          <p:cNvPr id="8" name="Text 6"/>
          <p:cNvSpPr txBox="1"/>
          <p:nvPr/>
        </p:nvSpPr>
        <p:spPr>
          <a:xfrm>
            <a:off x="1051560" y="2267712"/>
            <a:ext cx="9601200" cy="457200"/>
          </a:xfrm>
          <a:prstGeom prst="rect">
            <a:avLst/>
          </a:prstGeom>
          <a:noFill/>
          <a:ln/>
        </p:spPr>
        <p:txBody>
          <a:bodyPr wrap="square" lIns="0" tIns="0" rIns="0" bIns="0" rtlCol="0" anchor="ctr"/>
          <a:lstStyle/>
          <a:p>
            <a:pPr marL="0" indent="0">
              <a:buNone/>
            </a:pPr>
            <a:r>
              <a:rPr lang="en-US" sz="1300" dirty="0">
                <a:solidFill>
                  <a:srgbClr val="333F50"/>
                </a:solidFill>
                <a:latin typeface="Calibri" pitchFamily="34" charset="0"/>
                <a:ea typeface="Calibri" pitchFamily="34" charset="-122"/>
                <a:cs typeface="Calibri" pitchFamily="34" charset="-120"/>
              </a:rPr>
              <a:t>Split the array into two halves at the midpoint.</a:t>
            </a:r>
            <a:endParaRPr lang="en-US" sz="1300" dirty="0"/>
          </a:p>
        </p:txBody>
      </p:sp>
      <p:sp>
        <p:nvSpPr>
          <p:cNvPr id="9" name="Shape 7"/>
          <p:cNvSpPr/>
          <p:nvPr/>
        </p:nvSpPr>
        <p:spPr>
          <a:xfrm>
            <a:off x="502920" y="2834640"/>
            <a:ext cx="384048" cy="384048"/>
          </a:xfrm>
          <a:prstGeom prst="ellipse">
            <a:avLst/>
          </a:prstGeom>
          <a:solidFill>
            <a:srgbClr val="4472C4"/>
          </a:solidFill>
          <a:ln/>
        </p:spPr>
        <p:txBody>
          <a:bodyPr/>
          <a:lstStyle/>
          <a:p>
            <a:endParaRPr lang="en-US"/>
          </a:p>
        </p:txBody>
      </p:sp>
      <p:sp>
        <p:nvSpPr>
          <p:cNvPr id="10" name="Text 8"/>
          <p:cNvSpPr txBox="1"/>
          <p:nvPr/>
        </p:nvSpPr>
        <p:spPr>
          <a:xfrm>
            <a:off x="502920" y="283464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051560" y="2798064"/>
            <a:ext cx="82296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Conquer</a:t>
            </a:r>
            <a:endParaRPr lang="en-US" sz="1500" dirty="0"/>
          </a:p>
        </p:txBody>
      </p:sp>
      <p:sp>
        <p:nvSpPr>
          <p:cNvPr id="12" name="Text 10"/>
          <p:cNvSpPr txBox="1"/>
          <p:nvPr/>
        </p:nvSpPr>
        <p:spPr>
          <a:xfrm>
            <a:off x="1051560" y="3136392"/>
            <a:ext cx="9601200" cy="457200"/>
          </a:xfrm>
          <a:prstGeom prst="rect">
            <a:avLst/>
          </a:prstGeom>
          <a:noFill/>
          <a:ln/>
        </p:spPr>
        <p:txBody>
          <a:bodyPr wrap="square" lIns="0" tIns="0" rIns="0" bIns="0" rtlCol="0" anchor="ctr"/>
          <a:lstStyle/>
          <a:p>
            <a:pPr marL="0" indent="0">
              <a:buNone/>
            </a:pPr>
            <a:r>
              <a:rPr lang="en-US" sz="1300" dirty="0">
                <a:solidFill>
                  <a:srgbClr val="333F50"/>
                </a:solidFill>
                <a:latin typeface="Calibri" pitchFamily="34" charset="0"/>
                <a:ea typeface="Calibri" pitchFamily="34" charset="-122"/>
                <a:cs typeface="Calibri" pitchFamily="34" charset="-120"/>
              </a:rPr>
              <a:t>Recursively sort each half. Base case: an array of size 1 is already sorted.</a:t>
            </a:r>
            <a:endParaRPr lang="en-US" sz="1300" dirty="0"/>
          </a:p>
        </p:txBody>
      </p:sp>
      <p:sp>
        <p:nvSpPr>
          <p:cNvPr id="13" name="Shape 11"/>
          <p:cNvSpPr/>
          <p:nvPr/>
        </p:nvSpPr>
        <p:spPr>
          <a:xfrm>
            <a:off x="502920" y="3703320"/>
            <a:ext cx="384048" cy="384048"/>
          </a:xfrm>
          <a:prstGeom prst="ellipse">
            <a:avLst/>
          </a:prstGeom>
          <a:solidFill>
            <a:srgbClr val="4472C4"/>
          </a:solidFill>
          <a:ln/>
        </p:spPr>
        <p:txBody>
          <a:bodyPr/>
          <a:lstStyle/>
          <a:p>
            <a:endParaRPr lang="en-US"/>
          </a:p>
        </p:txBody>
      </p:sp>
      <p:sp>
        <p:nvSpPr>
          <p:cNvPr id="14" name="Text 12"/>
          <p:cNvSpPr txBox="1"/>
          <p:nvPr/>
        </p:nvSpPr>
        <p:spPr>
          <a:xfrm>
            <a:off x="502920" y="37033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051560" y="3666744"/>
            <a:ext cx="82296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Combine</a:t>
            </a:r>
            <a:endParaRPr lang="en-US" sz="1500" dirty="0"/>
          </a:p>
        </p:txBody>
      </p:sp>
      <p:sp>
        <p:nvSpPr>
          <p:cNvPr id="16" name="Text 14"/>
          <p:cNvSpPr txBox="1"/>
          <p:nvPr/>
        </p:nvSpPr>
        <p:spPr>
          <a:xfrm>
            <a:off x="1051560" y="4005072"/>
            <a:ext cx="9601200" cy="457200"/>
          </a:xfrm>
          <a:prstGeom prst="rect">
            <a:avLst/>
          </a:prstGeom>
          <a:noFill/>
          <a:ln/>
        </p:spPr>
        <p:txBody>
          <a:bodyPr wrap="square" lIns="0" tIns="0" rIns="0" bIns="0" rtlCol="0" anchor="ctr"/>
          <a:lstStyle/>
          <a:p>
            <a:pPr marL="0" indent="0">
              <a:buNone/>
            </a:pPr>
            <a:r>
              <a:rPr lang="en-US" sz="1300" dirty="0">
                <a:solidFill>
                  <a:srgbClr val="333F50"/>
                </a:solidFill>
                <a:latin typeface="Calibri" pitchFamily="34" charset="0"/>
                <a:ea typeface="Calibri" pitchFamily="34" charset="-122"/>
                <a:cs typeface="Calibri" pitchFamily="34" charset="-120"/>
              </a:rPr>
              <a:t>Merge the two sorted halves back into a single sorted array in </a:t>
            </a:r>
            <a:r>
              <a:rPr lang="en-US" sz="1300" b="1" dirty="0">
                <a:solidFill>
                  <a:schemeClr val="accent5">
                    <a:lumMod val="75000"/>
                  </a:schemeClr>
                </a:solidFill>
                <a:latin typeface="Calibri" pitchFamily="34" charset="0"/>
                <a:ea typeface="Calibri" pitchFamily="34" charset="-122"/>
                <a:cs typeface="Calibri" pitchFamily="34" charset="-120"/>
              </a:rPr>
              <a:t>Θ(n) time.</a:t>
            </a:r>
            <a:endParaRPr lang="en-US" sz="1300" b="1" dirty="0">
              <a:solidFill>
                <a:schemeClr val="accent5">
                  <a:lumMod val="75000"/>
                </a:schemeClr>
              </a:solidFill>
            </a:endParaRPr>
          </a:p>
        </p:txBody>
      </p:sp>
      <p:sp>
        <p:nvSpPr>
          <p:cNvPr id="17" name="Shape 15"/>
          <p:cNvSpPr/>
          <p:nvPr/>
        </p:nvSpPr>
        <p:spPr>
          <a:xfrm>
            <a:off x="502920" y="4709160"/>
            <a:ext cx="11185855" cy="1234440"/>
          </a:xfrm>
          <a:prstGeom prst="roundRect">
            <a:avLst>
              <a:gd name="adj" fmla="val 5926"/>
            </a:avLst>
          </a:prstGeom>
          <a:solidFill>
            <a:schemeClr val="accent1">
              <a:lumMod val="20000"/>
              <a:lumOff val="80000"/>
            </a:schemeClr>
          </a:solidFill>
          <a:ln/>
        </p:spPr>
        <p:txBody>
          <a:bodyPr/>
          <a:lstStyle/>
          <a:p>
            <a:endParaRPr lang="en-US">
              <a:solidFill>
                <a:schemeClr val="accent2"/>
              </a:solidFill>
            </a:endParaRPr>
          </a:p>
        </p:txBody>
      </p:sp>
      <p:sp>
        <p:nvSpPr>
          <p:cNvPr id="18" name="Text 16"/>
          <p:cNvSpPr txBox="1"/>
          <p:nvPr/>
        </p:nvSpPr>
        <p:spPr>
          <a:xfrm>
            <a:off x="777240" y="4846320"/>
            <a:ext cx="7315200" cy="274320"/>
          </a:xfrm>
          <a:prstGeom prst="rect">
            <a:avLst/>
          </a:prstGeom>
          <a:noFill/>
          <a:ln/>
        </p:spPr>
        <p:txBody>
          <a:bodyPr wrap="square" lIns="0" tIns="0" rIns="0" bIns="0" rtlCol="0" anchor="ctr"/>
          <a:lstStyle/>
          <a:p>
            <a:pPr marL="0" indent="0">
              <a:buNone/>
            </a:pPr>
            <a:r>
              <a:rPr lang="en-US" sz="1150" b="1" dirty="0">
                <a:solidFill>
                  <a:schemeClr val="tx1">
                    <a:lumMod val="65000"/>
                    <a:lumOff val="35000"/>
                  </a:schemeClr>
                </a:solidFill>
                <a:latin typeface="Calibri" pitchFamily="34" charset="0"/>
                <a:ea typeface="Calibri" pitchFamily="34" charset="-122"/>
                <a:cs typeface="Calibri" pitchFamily="34" charset="-120"/>
              </a:rPr>
              <a:t>General recurrence for Merge Sort</a:t>
            </a:r>
            <a:endParaRPr lang="en-US" sz="1150" dirty="0">
              <a:solidFill>
                <a:schemeClr val="tx1">
                  <a:lumMod val="65000"/>
                  <a:lumOff val="35000"/>
                </a:schemeClr>
              </a:solidFill>
            </a:endParaRPr>
          </a:p>
        </p:txBody>
      </p:sp>
      <p:sp>
        <p:nvSpPr>
          <p:cNvPr id="19" name="Text 17"/>
          <p:cNvSpPr txBox="1"/>
          <p:nvPr/>
        </p:nvSpPr>
        <p:spPr>
          <a:xfrm>
            <a:off x="777240" y="5120640"/>
            <a:ext cx="5486400" cy="502920"/>
          </a:xfrm>
          <a:prstGeom prst="rect">
            <a:avLst/>
          </a:prstGeom>
          <a:noFill/>
          <a:ln/>
        </p:spPr>
        <p:txBody>
          <a:bodyPr wrap="square" lIns="0" tIns="0" rIns="0" bIns="0" rtlCol="0" anchor="ctr"/>
          <a:lstStyle/>
          <a:p>
            <a:pPr marL="0" indent="0">
              <a:buNone/>
            </a:pPr>
            <a:r>
              <a:rPr lang="en-US" sz="2400" b="1" dirty="0">
                <a:solidFill>
                  <a:schemeClr val="accent2"/>
                </a:solidFill>
                <a:latin typeface="Courier New" pitchFamily="34" charset="0"/>
                <a:ea typeface="Courier New" pitchFamily="34" charset="-122"/>
                <a:cs typeface="Courier New" pitchFamily="34" charset="-120"/>
              </a:rPr>
              <a:t>T(n) = 2 · T(n/2) + Θ(n)</a:t>
            </a:r>
            <a:endParaRPr lang="en-US" sz="2400" dirty="0">
              <a:solidFill>
                <a:schemeClr val="accent2"/>
              </a:solidFill>
            </a:endParaRPr>
          </a:p>
        </p:txBody>
      </p:sp>
      <p:sp>
        <p:nvSpPr>
          <p:cNvPr id="20" name="Text 18"/>
          <p:cNvSpPr txBox="1"/>
          <p:nvPr/>
        </p:nvSpPr>
        <p:spPr>
          <a:xfrm>
            <a:off x="777240" y="5623560"/>
            <a:ext cx="10637215" cy="274320"/>
          </a:xfrm>
          <a:prstGeom prst="rect">
            <a:avLst/>
          </a:prstGeom>
          <a:noFill/>
          <a:ln/>
        </p:spPr>
        <p:txBody>
          <a:bodyPr wrap="square" lIns="0" tIns="0" rIns="0" bIns="0" rtlCol="0" anchor="ctr"/>
          <a:lstStyle/>
          <a:p>
            <a:pPr marL="0" indent="0">
              <a:buNone/>
            </a:pPr>
            <a:r>
              <a:rPr lang="en-US" sz="1150" dirty="0">
                <a:solidFill>
                  <a:schemeClr val="tx1">
                    <a:lumMod val="65000"/>
                    <a:lumOff val="35000"/>
                  </a:schemeClr>
                </a:solidFill>
                <a:latin typeface="Calibri" pitchFamily="34" charset="0"/>
                <a:ea typeface="Calibri" pitchFamily="34" charset="-122"/>
                <a:cs typeface="Calibri" pitchFamily="34" charset="-120"/>
              </a:rPr>
              <a:t>a = 2 subproblems  ·  b = 2 , n/b = size of each subproblem  ·   d =1 i.e. </a:t>
            </a:r>
            <a:r>
              <a:rPr lang="en-US" sz="1150" dirty="0" err="1">
                <a:solidFill>
                  <a:schemeClr val="tx1">
                    <a:lumMod val="65000"/>
                    <a:lumOff val="35000"/>
                  </a:schemeClr>
                </a:solidFill>
                <a:latin typeface="Calibri" pitchFamily="34" charset="0"/>
                <a:ea typeface="Calibri" pitchFamily="34" charset="-122"/>
                <a:cs typeface="Calibri" pitchFamily="34" charset="-120"/>
              </a:rPr>
              <a:t>Θ</a:t>
            </a:r>
            <a:r>
              <a:rPr lang="en-US" sz="1150" dirty="0">
                <a:solidFill>
                  <a:schemeClr val="tx1">
                    <a:lumMod val="65000"/>
                    <a:lumOff val="35000"/>
                  </a:schemeClr>
                </a:solidFill>
                <a:latin typeface="Calibri" pitchFamily="34" charset="0"/>
                <a:ea typeface="Calibri" pitchFamily="34" charset="-122"/>
                <a:cs typeface="Calibri" pitchFamily="34" charset="-120"/>
              </a:rPr>
              <a:t>(</a:t>
            </a:r>
            <a:r>
              <a:rPr lang="en-US" sz="1150" dirty="0" err="1">
                <a:solidFill>
                  <a:schemeClr val="tx1">
                    <a:lumMod val="65000"/>
                    <a:lumOff val="35000"/>
                  </a:schemeClr>
                </a:solidFill>
                <a:latin typeface="Calibri" pitchFamily="34" charset="0"/>
                <a:ea typeface="Calibri" pitchFamily="34" charset="-122"/>
                <a:cs typeface="Calibri" pitchFamily="34" charset="-120"/>
              </a:rPr>
              <a:t>n</a:t>
            </a:r>
            <a:r>
              <a:rPr lang="en-US" sz="1150" baseline="30000" dirty="0" err="1">
                <a:solidFill>
                  <a:schemeClr val="tx1">
                    <a:lumMod val="65000"/>
                    <a:lumOff val="35000"/>
                  </a:schemeClr>
                </a:solidFill>
                <a:latin typeface="Calibri" pitchFamily="34" charset="0"/>
                <a:ea typeface="Calibri" pitchFamily="34" charset="-122"/>
                <a:cs typeface="Calibri" pitchFamily="34" charset="-120"/>
              </a:rPr>
              <a:t>d</a:t>
            </a:r>
            <a:r>
              <a:rPr lang="en-US" sz="1150" dirty="0">
                <a:solidFill>
                  <a:schemeClr val="tx1">
                    <a:lumMod val="65000"/>
                    <a:lumOff val="35000"/>
                  </a:schemeClr>
                </a:solidFill>
                <a:latin typeface="Calibri" pitchFamily="34" charset="0"/>
                <a:ea typeface="Calibri" pitchFamily="34" charset="-122"/>
                <a:cs typeface="Calibri" pitchFamily="34" charset="-120"/>
              </a:rPr>
              <a:t>) = cost to merge</a:t>
            </a:r>
            <a:endParaRPr lang="en-US" sz="1150" dirty="0">
              <a:solidFill>
                <a:schemeClr val="tx1">
                  <a:lumMod val="65000"/>
                  <a:lumOff val="35000"/>
                </a:schemeClr>
              </a:solidFill>
            </a:endParaRPr>
          </a:p>
        </p:txBody>
      </p:sp>
      <p:sp>
        <p:nvSpPr>
          <p:cNvPr id="22" name="Text 20"/>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a:t>
            </a:r>
            <a:endParaRPr lang="en-US" sz="850" dirty="0"/>
          </a:p>
        </p:txBody>
      </p:sp>
      <p:sp>
        <p:nvSpPr>
          <p:cNvPr id="21" name="Text 21">
            <a:extLst>
              <a:ext uri="{FF2B5EF4-FFF2-40B4-BE49-F238E27FC236}">
                <a16:creationId xmlns:a16="http://schemas.microsoft.com/office/drawing/2014/main" id="{D487FC6E-01C6-ADF0-26AB-982895B56E7A}"/>
              </a:ext>
            </a:extLst>
          </p:cNvPr>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 ·  Sep 21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DIVIDE AND CONQUER</a:t>
            </a:r>
            <a:endParaRPr lang="en-US" sz="1200" dirty="0"/>
          </a:p>
        </p:txBody>
      </p:sp>
      <p:sp>
        <p:nvSpPr>
          <p:cNvPr id="3" name="Text 1"/>
          <p:cNvSpPr txBox="1"/>
          <p:nvPr/>
        </p:nvSpPr>
        <p:spPr>
          <a:xfrm>
            <a:off x="502920" y="603504"/>
            <a:ext cx="10789920" cy="566928"/>
          </a:xfrm>
          <a:prstGeom prst="rect">
            <a:avLst/>
          </a:prstGeom>
          <a:noFill/>
          <a:ln/>
        </p:spPr>
        <p:txBody>
          <a:bodyPr wrap="square" lIns="0" tIns="0" rIns="0" bIns="0" rtlCol="0" anchor="ctr"/>
          <a:lstStyle/>
          <a:p>
            <a:pPr marL="0" indent="0">
              <a:buNone/>
            </a:pPr>
            <a:r>
              <a:rPr lang="en-US" sz="3000" b="1" dirty="0">
                <a:solidFill>
                  <a:srgbClr val="1E2A44"/>
                </a:solidFill>
                <a:latin typeface="Calibri" pitchFamily="34" charset="0"/>
                <a:ea typeface="Calibri" pitchFamily="34" charset="-122"/>
                <a:cs typeface="Calibri" pitchFamily="34" charset="-120"/>
              </a:rPr>
              <a:t>Merge Sort: Algorithm</a:t>
            </a:r>
            <a:endParaRPr lang="en-US" sz="3000" dirty="0"/>
          </a:p>
        </p:txBody>
      </p:sp>
      <p:sp>
        <p:nvSpPr>
          <p:cNvPr id="4" name="Text 2"/>
          <p:cNvSpPr txBox="1"/>
          <p:nvPr/>
        </p:nvSpPr>
        <p:spPr>
          <a:xfrm>
            <a:off x="502920" y="1152144"/>
            <a:ext cx="10881360" cy="384048"/>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The recursive split, plus the linear-time merge step that does the real work.</a:t>
            </a:r>
            <a:endParaRPr lang="en-US" sz="1350" dirty="0"/>
          </a:p>
        </p:txBody>
      </p:sp>
      <p:sp>
        <p:nvSpPr>
          <p:cNvPr id="5" name="Text 3"/>
          <p:cNvSpPr txBox="1"/>
          <p:nvPr/>
        </p:nvSpPr>
        <p:spPr>
          <a:xfrm>
            <a:off x="502920" y="1828800"/>
            <a:ext cx="530352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Recursive split</a:t>
            </a:r>
            <a:endParaRPr lang="en-US" sz="1300" dirty="0"/>
          </a:p>
        </p:txBody>
      </p:sp>
      <p:sp>
        <p:nvSpPr>
          <p:cNvPr id="6" name="Shape 4"/>
          <p:cNvSpPr/>
          <p:nvPr/>
        </p:nvSpPr>
        <p:spPr>
          <a:xfrm>
            <a:off x="502920" y="2121408"/>
            <a:ext cx="5303520" cy="1874520"/>
          </a:xfrm>
          <a:prstGeom prst="roundRect">
            <a:avLst>
              <a:gd name="adj" fmla="val 2927"/>
            </a:avLst>
          </a:prstGeom>
          <a:solidFill>
            <a:srgbClr val="24304A"/>
          </a:solidFill>
          <a:ln/>
        </p:spPr>
        <p:txBody>
          <a:bodyPr/>
          <a:lstStyle/>
          <a:p>
            <a:endParaRPr lang="en-US"/>
          </a:p>
        </p:txBody>
      </p:sp>
      <p:sp>
        <p:nvSpPr>
          <p:cNvPr id="7" name="Text 5"/>
          <p:cNvSpPr txBox="1"/>
          <p:nvPr/>
        </p:nvSpPr>
        <p:spPr>
          <a:xfrm>
            <a:off x="704088" y="2267712"/>
            <a:ext cx="4901184" cy="1581912"/>
          </a:xfrm>
          <a:prstGeom prst="rect">
            <a:avLst/>
          </a:prstGeom>
          <a:noFill/>
          <a:ln/>
        </p:spPr>
        <p:txBody>
          <a:bodyPr wrap="square" lIns="0" tIns="0" rIns="0" bIns="0" rtlCol="0" anchor="t"/>
          <a:lstStyle/>
          <a:p>
            <a:pPr marL="0" indent="0">
              <a:lnSpc>
                <a:spcPct val="118000"/>
              </a:lnSpc>
              <a:buNone/>
            </a:pPr>
            <a:r>
              <a:rPr lang="en-US" sz="1250" b="1" dirty="0">
                <a:solidFill>
                  <a:srgbClr val="FFFFFF"/>
                </a:solidFill>
                <a:latin typeface="Courier New" pitchFamily="34" charset="0"/>
                <a:ea typeface="Courier New" pitchFamily="34" charset="-122"/>
                <a:cs typeface="Courier New" pitchFamily="34" charset="-120"/>
              </a:rPr>
              <a:t>MergeSort(A):</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if length(A) &lt;= 1: return A</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mid = length(A) / 2</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left = MergeSort(A[:mid])</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right = MergeSort(A[mid:])</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return Merge(left, right)</a:t>
            </a:r>
            <a:endParaRPr lang="en-US" sz="1250" dirty="0"/>
          </a:p>
        </p:txBody>
      </p:sp>
      <p:sp>
        <p:nvSpPr>
          <p:cNvPr id="8" name="Text 6"/>
          <p:cNvSpPr txBox="1"/>
          <p:nvPr/>
        </p:nvSpPr>
        <p:spPr>
          <a:xfrm>
            <a:off x="6263640" y="1828800"/>
            <a:ext cx="544068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Merge step — Θ(n) work</a:t>
            </a:r>
            <a:endParaRPr lang="en-US" sz="1300" dirty="0"/>
          </a:p>
        </p:txBody>
      </p:sp>
      <p:sp>
        <p:nvSpPr>
          <p:cNvPr id="9" name="Shape 7"/>
          <p:cNvSpPr/>
          <p:nvPr/>
        </p:nvSpPr>
        <p:spPr>
          <a:xfrm>
            <a:off x="6263640" y="2121408"/>
            <a:ext cx="5440680" cy="2423160"/>
          </a:xfrm>
          <a:prstGeom prst="roundRect">
            <a:avLst>
              <a:gd name="adj" fmla="val 2264"/>
            </a:avLst>
          </a:prstGeom>
          <a:solidFill>
            <a:srgbClr val="24304A"/>
          </a:solidFill>
          <a:ln/>
        </p:spPr>
        <p:txBody>
          <a:bodyPr/>
          <a:lstStyle/>
          <a:p>
            <a:endParaRPr lang="en-US"/>
          </a:p>
        </p:txBody>
      </p:sp>
      <p:sp>
        <p:nvSpPr>
          <p:cNvPr id="10" name="Text 8"/>
          <p:cNvSpPr txBox="1"/>
          <p:nvPr/>
        </p:nvSpPr>
        <p:spPr>
          <a:xfrm>
            <a:off x="6464808" y="2267712"/>
            <a:ext cx="5038344" cy="2130552"/>
          </a:xfrm>
          <a:prstGeom prst="rect">
            <a:avLst/>
          </a:prstGeom>
          <a:noFill/>
          <a:ln/>
        </p:spPr>
        <p:txBody>
          <a:bodyPr wrap="square" lIns="0" tIns="0" rIns="0" bIns="0" rtlCol="0" anchor="t"/>
          <a:lstStyle/>
          <a:p>
            <a:pPr marL="0" indent="0">
              <a:lnSpc>
                <a:spcPct val="118000"/>
              </a:lnSpc>
              <a:buNone/>
            </a:pPr>
            <a:r>
              <a:rPr lang="en-US" sz="1250" b="1" dirty="0">
                <a:solidFill>
                  <a:srgbClr val="FFFFFF"/>
                </a:solidFill>
                <a:latin typeface="Courier New" pitchFamily="34" charset="0"/>
                <a:ea typeface="Courier New" pitchFamily="34" charset="-122"/>
                <a:cs typeface="Courier New" pitchFamily="34" charset="-120"/>
              </a:rPr>
              <a:t>Merge(left, right):</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a:t>
            </a:r>
            <a:r>
              <a:rPr lang="en-US" sz="1250" b="1" dirty="0">
                <a:solidFill>
                  <a:schemeClr val="accent2"/>
                </a:solidFill>
                <a:latin typeface="Courier New" pitchFamily="34" charset="0"/>
                <a:ea typeface="Courier New" pitchFamily="34" charset="-122"/>
                <a:cs typeface="Courier New" pitchFamily="34" charset="-120"/>
              </a:rPr>
              <a:t>result = []</a:t>
            </a:r>
            <a:endParaRPr lang="en-US" sz="1250" b="1" dirty="0">
              <a:solidFill>
                <a:schemeClr val="accent2"/>
              </a:solidFill>
            </a:endParaRPr>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i = j = 0</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while i &lt; len(left) and j &lt; len(right):</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if left[i] &lt;= right[j]:</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result.append(left[i]); </a:t>
            </a:r>
            <a:r>
              <a:rPr lang="en-US" sz="1250" dirty="0" err="1">
                <a:solidFill>
                  <a:srgbClr val="FFFFFF"/>
                </a:solidFill>
                <a:latin typeface="Courier New" pitchFamily="34" charset="0"/>
                <a:ea typeface="Courier New" pitchFamily="34" charset="-122"/>
                <a:cs typeface="Courier New" pitchFamily="34" charset="-120"/>
              </a:rPr>
              <a:t>i</a:t>
            </a:r>
            <a:r>
              <a:rPr lang="en-US" sz="1250" dirty="0">
                <a:solidFill>
                  <a:srgbClr val="FFFFFF"/>
                </a:solidFill>
                <a:latin typeface="Courier New" pitchFamily="34" charset="0"/>
                <a:ea typeface="Courier New" pitchFamily="34" charset="-122"/>
                <a:cs typeface="Courier New" pitchFamily="34" charset="-120"/>
              </a:rPr>
              <a:t>++ </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else:</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result.append(right[j]); j++</a:t>
            </a:r>
            <a:endParaRPr lang="en-US" sz="1250" dirty="0"/>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append remaining left/right to result; </a:t>
            </a:r>
          </a:p>
          <a:p>
            <a:pPr marL="0" indent="0">
              <a:lnSpc>
                <a:spcPct val="118000"/>
              </a:lnSpc>
              <a:buNone/>
            </a:pPr>
            <a:r>
              <a:rPr lang="en-US" sz="1250" dirty="0">
                <a:solidFill>
                  <a:srgbClr val="FFFFFF"/>
                </a:solidFill>
                <a:latin typeface="Courier New" pitchFamily="34" charset="0"/>
                <a:ea typeface="Courier New" pitchFamily="34" charset="-122"/>
                <a:cs typeface="Courier New" pitchFamily="34" charset="-120"/>
              </a:rPr>
              <a:t>  return result</a:t>
            </a:r>
            <a:endParaRPr lang="en-US" sz="1250" dirty="0"/>
          </a:p>
        </p:txBody>
      </p:sp>
      <p:sp>
        <p:nvSpPr>
          <p:cNvPr id="11" name="Shape 9"/>
          <p:cNvSpPr/>
          <p:nvPr/>
        </p:nvSpPr>
        <p:spPr>
          <a:xfrm>
            <a:off x="502920" y="4709160"/>
            <a:ext cx="11185855" cy="1234440"/>
          </a:xfrm>
          <a:prstGeom prst="roundRect">
            <a:avLst>
              <a:gd name="adj" fmla="val 5926"/>
            </a:avLst>
          </a:prstGeom>
          <a:solidFill>
            <a:srgbClr val="F4F5F7"/>
          </a:solidFill>
          <a:ln/>
        </p:spPr>
        <p:txBody>
          <a:bodyPr/>
          <a:lstStyle/>
          <a:p>
            <a:endParaRPr lang="en-US"/>
          </a:p>
        </p:txBody>
      </p:sp>
      <p:sp>
        <p:nvSpPr>
          <p:cNvPr id="12" name="Text 10"/>
          <p:cNvSpPr txBox="1"/>
          <p:nvPr/>
        </p:nvSpPr>
        <p:spPr>
          <a:xfrm>
            <a:off x="731520" y="4846320"/>
            <a:ext cx="10728655" cy="1005840"/>
          </a:xfrm>
          <a:prstGeom prst="rect">
            <a:avLst/>
          </a:prstGeom>
          <a:noFill/>
          <a:ln/>
        </p:spPr>
        <p:txBody>
          <a:bodyPr wrap="square" lIns="0" tIns="0" rIns="0" bIns="0" rtlCol="0" anchor="t"/>
          <a:lstStyle/>
          <a:p>
            <a:pPr marL="0" indent="0">
              <a:lnSpc>
                <a:spcPct val="110000"/>
              </a:lnSpc>
              <a:buNone/>
            </a:pPr>
            <a:r>
              <a:rPr lang="en-US" sz="1200" b="1" dirty="0">
                <a:solidFill>
                  <a:srgbClr val="1E2A44"/>
                </a:solidFill>
                <a:latin typeface="Calibri" pitchFamily="34" charset="0"/>
                <a:ea typeface="Calibri" pitchFamily="34" charset="-122"/>
                <a:cs typeface="Calibri" pitchFamily="34" charset="-120"/>
              </a:rPr>
              <a:t>Base case  </a:t>
            </a:r>
            <a:endParaRPr lang="en-US" sz="1200" dirty="0"/>
          </a:p>
          <a:p>
            <a:pPr marL="0" indent="0">
              <a:lnSpc>
                <a:spcPct val="110000"/>
              </a:lnSpc>
              <a:buNone/>
            </a:pPr>
            <a:r>
              <a:rPr lang="en-US" sz="1200" dirty="0">
                <a:solidFill>
                  <a:srgbClr val="333F50"/>
                </a:solidFill>
                <a:latin typeface="Calibri" pitchFamily="34" charset="0"/>
                <a:ea typeface="Calibri" pitchFamily="34" charset="-122"/>
                <a:cs typeface="Calibri" pitchFamily="34" charset="-120"/>
              </a:rPr>
              <a:t>When length(A) &lt;= 1, the array already has zero or one elements and is trivially sorted — return it immediately, no recursion needed.</a:t>
            </a:r>
            <a:endParaRPr lang="en-US" sz="1200" dirty="0"/>
          </a:p>
          <a:p>
            <a:pPr marL="0" indent="0">
              <a:lnSpc>
                <a:spcPct val="110000"/>
              </a:lnSpc>
              <a:buNone/>
            </a:pPr>
            <a:endParaRPr lang="en-US" sz="1200" dirty="0"/>
          </a:p>
          <a:p>
            <a:pPr marL="0" indent="0">
              <a:lnSpc>
                <a:spcPct val="110000"/>
              </a:lnSpc>
              <a:buNone/>
            </a:pPr>
            <a:r>
              <a:rPr lang="en-US" sz="1200" b="1" dirty="0">
                <a:solidFill>
                  <a:srgbClr val="1E2A44"/>
                </a:solidFill>
                <a:latin typeface="Calibri" pitchFamily="34" charset="0"/>
                <a:ea typeface="Calibri" pitchFamily="34" charset="-122"/>
                <a:cs typeface="Calibri" pitchFamily="34" charset="-120"/>
              </a:rPr>
              <a:t>Key insight  </a:t>
            </a:r>
            <a:endParaRPr lang="en-US" sz="1200" dirty="0"/>
          </a:p>
          <a:p>
            <a:pPr marL="0" indent="0">
              <a:lnSpc>
                <a:spcPct val="110000"/>
              </a:lnSpc>
              <a:buNone/>
            </a:pPr>
            <a:r>
              <a:rPr lang="en-US" sz="1200" dirty="0">
                <a:solidFill>
                  <a:srgbClr val="333F50"/>
                </a:solidFill>
                <a:latin typeface="Calibri" pitchFamily="34" charset="0"/>
                <a:ea typeface="Calibri" pitchFamily="34" charset="-122"/>
                <a:cs typeface="Calibri" pitchFamily="34" charset="-120"/>
              </a:rPr>
              <a:t>Merge only works because both halves arrive already sorted — it never re-compares elements within a half.</a:t>
            </a:r>
            <a:endParaRPr lang="en-US" sz="1200" dirty="0"/>
          </a:p>
        </p:txBody>
      </p:sp>
      <p:sp>
        <p:nvSpPr>
          <p:cNvPr id="14" name="Text 12"/>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2</a:t>
            </a:r>
            <a:endParaRPr lang="en-US" sz="850" dirty="0"/>
          </a:p>
        </p:txBody>
      </p:sp>
      <p:sp>
        <p:nvSpPr>
          <p:cNvPr id="13" name="TextBox 12">
            <a:extLst>
              <a:ext uri="{FF2B5EF4-FFF2-40B4-BE49-F238E27FC236}">
                <a16:creationId xmlns:a16="http://schemas.microsoft.com/office/drawing/2014/main" id="{6223CF09-AE6F-F930-2906-A68AC70DB2FC}"/>
              </a:ext>
            </a:extLst>
          </p:cNvPr>
          <p:cNvSpPr txBox="1"/>
          <p:nvPr/>
        </p:nvSpPr>
        <p:spPr>
          <a:xfrm>
            <a:off x="3514476" y="2275069"/>
            <a:ext cx="1388009" cy="461665"/>
          </a:xfrm>
          <a:prstGeom prst="rect">
            <a:avLst/>
          </a:prstGeom>
          <a:noFill/>
        </p:spPr>
        <p:txBody>
          <a:bodyPr wrap="none" rtlCol="0">
            <a:spAutoFit/>
          </a:bodyPr>
          <a:lstStyle/>
          <a:p>
            <a:r>
              <a:rPr lang="en-US" sz="1200" dirty="0">
                <a:solidFill>
                  <a:srgbClr val="FFFF00"/>
                </a:solidFill>
              </a:rPr>
              <a:t>If A has length 1,</a:t>
            </a:r>
          </a:p>
          <a:p>
            <a:r>
              <a:rPr lang="en-US" sz="1200" dirty="0">
                <a:solidFill>
                  <a:srgbClr val="FFFF00"/>
                </a:solidFill>
              </a:rPr>
              <a:t>It is already sorted!</a:t>
            </a:r>
          </a:p>
        </p:txBody>
      </p:sp>
      <p:sp>
        <p:nvSpPr>
          <p:cNvPr id="16" name="TextBox 15">
            <a:extLst>
              <a:ext uri="{FF2B5EF4-FFF2-40B4-BE49-F238E27FC236}">
                <a16:creationId xmlns:a16="http://schemas.microsoft.com/office/drawing/2014/main" id="{C9B9BF1D-984C-6817-8DC3-697C210471EC}"/>
              </a:ext>
            </a:extLst>
          </p:cNvPr>
          <p:cNvSpPr txBox="1"/>
          <p:nvPr/>
        </p:nvSpPr>
        <p:spPr>
          <a:xfrm>
            <a:off x="3514476" y="2934438"/>
            <a:ext cx="2246243" cy="276999"/>
          </a:xfrm>
          <a:prstGeom prst="rect">
            <a:avLst/>
          </a:prstGeom>
          <a:noFill/>
        </p:spPr>
        <p:txBody>
          <a:bodyPr wrap="square" rtlCol="0">
            <a:spAutoFit/>
          </a:bodyPr>
          <a:lstStyle/>
          <a:p>
            <a:r>
              <a:rPr lang="en-US" sz="1200" dirty="0">
                <a:solidFill>
                  <a:srgbClr val="FFFF00"/>
                </a:solidFill>
              </a:rPr>
              <a:t>Sort the left half</a:t>
            </a:r>
          </a:p>
        </p:txBody>
      </p:sp>
      <p:sp>
        <p:nvSpPr>
          <p:cNvPr id="17" name="TextBox 16">
            <a:extLst>
              <a:ext uri="{FF2B5EF4-FFF2-40B4-BE49-F238E27FC236}">
                <a16:creationId xmlns:a16="http://schemas.microsoft.com/office/drawing/2014/main" id="{6C04ACD4-07F9-79CC-7635-21295207B154}"/>
              </a:ext>
            </a:extLst>
          </p:cNvPr>
          <p:cNvSpPr txBox="1"/>
          <p:nvPr/>
        </p:nvSpPr>
        <p:spPr>
          <a:xfrm>
            <a:off x="3514477" y="3155233"/>
            <a:ext cx="2246243" cy="276999"/>
          </a:xfrm>
          <a:prstGeom prst="rect">
            <a:avLst/>
          </a:prstGeom>
          <a:noFill/>
        </p:spPr>
        <p:txBody>
          <a:bodyPr wrap="square" rtlCol="0">
            <a:spAutoFit/>
          </a:bodyPr>
          <a:lstStyle/>
          <a:p>
            <a:r>
              <a:rPr lang="en-US" sz="1200" dirty="0">
                <a:solidFill>
                  <a:srgbClr val="FFFF00"/>
                </a:solidFill>
              </a:rPr>
              <a:t>Sort the right half</a:t>
            </a:r>
          </a:p>
        </p:txBody>
      </p:sp>
      <p:sp>
        <p:nvSpPr>
          <p:cNvPr id="18" name="TextBox 17">
            <a:extLst>
              <a:ext uri="{FF2B5EF4-FFF2-40B4-BE49-F238E27FC236}">
                <a16:creationId xmlns:a16="http://schemas.microsoft.com/office/drawing/2014/main" id="{052BD42A-4452-3FF7-837C-AE9388B1498A}"/>
              </a:ext>
            </a:extLst>
          </p:cNvPr>
          <p:cNvSpPr txBox="1"/>
          <p:nvPr/>
        </p:nvSpPr>
        <p:spPr>
          <a:xfrm>
            <a:off x="3500562" y="3422850"/>
            <a:ext cx="2763078" cy="276999"/>
          </a:xfrm>
          <a:prstGeom prst="rect">
            <a:avLst/>
          </a:prstGeom>
          <a:noFill/>
        </p:spPr>
        <p:txBody>
          <a:bodyPr wrap="square" rtlCol="0">
            <a:spAutoFit/>
          </a:bodyPr>
          <a:lstStyle/>
          <a:p>
            <a:r>
              <a:rPr lang="en-US" sz="1200" dirty="0">
                <a:solidFill>
                  <a:srgbClr val="FFFF00"/>
                </a:solidFill>
              </a:rPr>
              <a:t>Merge the two halves</a:t>
            </a:r>
          </a:p>
        </p:txBody>
      </p:sp>
      <p:sp>
        <p:nvSpPr>
          <p:cNvPr id="19" name="Text 21">
            <a:extLst>
              <a:ext uri="{FF2B5EF4-FFF2-40B4-BE49-F238E27FC236}">
                <a16:creationId xmlns:a16="http://schemas.microsoft.com/office/drawing/2014/main" id="{26AAF7CA-FBE4-AF25-FD61-32A7B1D720A2}"/>
              </a:ext>
            </a:extLst>
          </p:cNvPr>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 ·  Sep 21</a:t>
            </a:r>
            <a:endParaRPr lang="en-US" sz="850" dirty="0"/>
          </a:p>
        </p:txBody>
      </p:sp>
      <p:sp>
        <p:nvSpPr>
          <p:cNvPr id="15" name="TextBox 14">
            <a:extLst>
              <a:ext uri="{FF2B5EF4-FFF2-40B4-BE49-F238E27FC236}">
                <a16:creationId xmlns:a16="http://schemas.microsoft.com/office/drawing/2014/main" id="{3DB944C7-531D-5293-FD97-7DF9EA63161D}"/>
              </a:ext>
            </a:extLst>
          </p:cNvPr>
          <p:cNvSpPr txBox="1"/>
          <p:nvPr/>
        </p:nvSpPr>
        <p:spPr>
          <a:xfrm>
            <a:off x="8234372" y="2657439"/>
            <a:ext cx="2246243" cy="276999"/>
          </a:xfrm>
          <a:prstGeom prst="rect">
            <a:avLst/>
          </a:prstGeom>
          <a:noFill/>
        </p:spPr>
        <p:txBody>
          <a:bodyPr wrap="square" rtlCol="0">
            <a:spAutoFit/>
          </a:bodyPr>
          <a:lstStyle/>
          <a:p>
            <a:r>
              <a:rPr lang="en-US" sz="1200" dirty="0">
                <a:solidFill>
                  <a:srgbClr val="FFFF00"/>
                </a:solidFill>
              </a:rPr>
              <a:t>2 initializations</a:t>
            </a:r>
          </a:p>
        </p:txBody>
      </p:sp>
      <p:sp>
        <p:nvSpPr>
          <p:cNvPr id="20" name="TextBox 19">
            <a:extLst>
              <a:ext uri="{FF2B5EF4-FFF2-40B4-BE49-F238E27FC236}">
                <a16:creationId xmlns:a16="http://schemas.microsoft.com/office/drawing/2014/main" id="{D8C37F8F-5BE0-F52D-EC84-12A5125D34FF}"/>
              </a:ext>
            </a:extLst>
          </p:cNvPr>
          <p:cNvSpPr txBox="1"/>
          <p:nvPr/>
        </p:nvSpPr>
        <p:spPr>
          <a:xfrm>
            <a:off x="9839811" y="3155233"/>
            <a:ext cx="2246243" cy="276999"/>
          </a:xfrm>
          <a:prstGeom prst="rect">
            <a:avLst/>
          </a:prstGeom>
          <a:noFill/>
        </p:spPr>
        <p:txBody>
          <a:bodyPr wrap="square" rtlCol="0">
            <a:spAutoFit/>
          </a:bodyPr>
          <a:lstStyle/>
          <a:p>
            <a:r>
              <a:rPr lang="en-US" sz="1200" dirty="0">
                <a:solidFill>
                  <a:srgbClr val="FFFF00"/>
                </a:solidFill>
              </a:rPr>
              <a:t>1 comparison</a:t>
            </a:r>
          </a:p>
        </p:txBody>
      </p:sp>
      <p:sp>
        <p:nvSpPr>
          <p:cNvPr id="21" name="TextBox 20">
            <a:extLst>
              <a:ext uri="{FF2B5EF4-FFF2-40B4-BE49-F238E27FC236}">
                <a16:creationId xmlns:a16="http://schemas.microsoft.com/office/drawing/2014/main" id="{2306D429-2485-0092-9280-62D4CFEC1F95}"/>
              </a:ext>
            </a:extLst>
          </p:cNvPr>
          <p:cNvSpPr txBox="1"/>
          <p:nvPr/>
        </p:nvSpPr>
        <p:spPr>
          <a:xfrm>
            <a:off x="9839810" y="3399442"/>
            <a:ext cx="2246243" cy="276999"/>
          </a:xfrm>
          <a:prstGeom prst="rect">
            <a:avLst/>
          </a:prstGeom>
          <a:noFill/>
        </p:spPr>
        <p:txBody>
          <a:bodyPr wrap="square" rtlCol="0">
            <a:spAutoFit/>
          </a:bodyPr>
          <a:lstStyle/>
          <a:p>
            <a:r>
              <a:rPr lang="en-US" sz="1200" dirty="0">
                <a:solidFill>
                  <a:srgbClr val="FFFF00"/>
                </a:solidFill>
              </a:rPr>
              <a:t>1 increment, 1 assignment</a:t>
            </a:r>
          </a:p>
        </p:txBody>
      </p:sp>
      <p:sp>
        <p:nvSpPr>
          <p:cNvPr id="22" name="TextBox 21">
            <a:extLst>
              <a:ext uri="{FF2B5EF4-FFF2-40B4-BE49-F238E27FC236}">
                <a16:creationId xmlns:a16="http://schemas.microsoft.com/office/drawing/2014/main" id="{6DA22DDD-3CE2-029B-AB9C-E4720CB8D15F}"/>
              </a:ext>
            </a:extLst>
          </p:cNvPr>
          <p:cNvSpPr txBox="1"/>
          <p:nvPr/>
        </p:nvSpPr>
        <p:spPr>
          <a:xfrm>
            <a:off x="9839809" y="3813601"/>
            <a:ext cx="2246243" cy="276999"/>
          </a:xfrm>
          <a:prstGeom prst="rect">
            <a:avLst/>
          </a:prstGeom>
          <a:noFill/>
        </p:spPr>
        <p:txBody>
          <a:bodyPr wrap="square" rtlCol="0">
            <a:spAutoFit/>
          </a:bodyPr>
          <a:lstStyle/>
          <a:p>
            <a:r>
              <a:rPr lang="en-US" sz="1200" dirty="0">
                <a:solidFill>
                  <a:srgbClr val="FFFF00"/>
                </a:solidFill>
              </a:rPr>
              <a:t>1 increment, 1 assignment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5" grpId="0"/>
      <p:bldP spid="20" grpId="0"/>
      <p:bldP spid="21"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DIVIDE AND CONQUER</a:t>
            </a:r>
            <a:endParaRPr lang="en-US" sz="1200" dirty="0"/>
          </a:p>
        </p:txBody>
      </p:sp>
      <p:sp>
        <p:nvSpPr>
          <p:cNvPr id="3" name="Text 1"/>
          <p:cNvSpPr txBox="1"/>
          <p:nvPr/>
        </p:nvSpPr>
        <p:spPr>
          <a:xfrm>
            <a:off x="502920" y="603504"/>
            <a:ext cx="10789920" cy="566928"/>
          </a:xfrm>
          <a:prstGeom prst="rect">
            <a:avLst/>
          </a:prstGeom>
          <a:noFill/>
          <a:ln/>
        </p:spPr>
        <p:txBody>
          <a:bodyPr wrap="square" lIns="0" tIns="0" rIns="0" bIns="0" rtlCol="0" anchor="ctr"/>
          <a:lstStyle/>
          <a:p>
            <a:pPr marL="0" indent="0">
              <a:buNone/>
            </a:pPr>
            <a:r>
              <a:rPr lang="en-US" sz="3000" b="1" dirty="0">
                <a:solidFill>
                  <a:srgbClr val="1E2A44"/>
                </a:solidFill>
                <a:latin typeface="Calibri" pitchFamily="34" charset="0"/>
                <a:ea typeface="Calibri" pitchFamily="34" charset="-122"/>
                <a:cs typeface="Calibri" pitchFamily="34" charset="-120"/>
              </a:rPr>
              <a:t>Merge Sort: Complexity Analysis</a:t>
            </a:r>
            <a:endParaRPr lang="en-US" sz="3000" dirty="0"/>
          </a:p>
        </p:txBody>
      </p:sp>
      <p:sp>
        <p:nvSpPr>
          <p:cNvPr id="4" name="Text 2"/>
          <p:cNvSpPr txBox="1"/>
          <p:nvPr/>
        </p:nvSpPr>
        <p:spPr>
          <a:xfrm>
            <a:off x="502920" y="1152144"/>
            <a:ext cx="10881360" cy="384048"/>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Applying the master method to T(n) ≤ 2·T(n/2) + O(n).</a:t>
            </a:r>
            <a:endParaRPr lang="en-US" sz="1350" dirty="0"/>
          </a:p>
        </p:txBody>
      </p:sp>
      <p:sp>
        <p:nvSpPr>
          <p:cNvPr id="5" name="Shape 3"/>
          <p:cNvSpPr/>
          <p:nvPr/>
        </p:nvSpPr>
        <p:spPr>
          <a:xfrm>
            <a:off x="502920" y="1828800"/>
            <a:ext cx="5212080" cy="731520"/>
          </a:xfrm>
          <a:prstGeom prst="roundRect">
            <a:avLst>
              <a:gd name="adj" fmla="val 7500"/>
            </a:avLst>
          </a:prstGeom>
          <a:solidFill>
            <a:srgbClr val="EEF3FC"/>
          </a:solidFill>
          <a:ln/>
        </p:spPr>
        <p:txBody>
          <a:bodyPr/>
          <a:lstStyle/>
          <a:p>
            <a:endParaRPr lang="en-US"/>
          </a:p>
        </p:txBody>
      </p:sp>
      <p:sp>
        <p:nvSpPr>
          <p:cNvPr id="6" name="Text 4"/>
          <p:cNvSpPr txBox="1"/>
          <p:nvPr/>
        </p:nvSpPr>
        <p:spPr>
          <a:xfrm>
            <a:off x="667512" y="1892808"/>
            <a:ext cx="4882896" cy="292608"/>
          </a:xfrm>
          <a:prstGeom prst="rect">
            <a:avLst/>
          </a:prstGeom>
          <a:noFill/>
          <a:ln/>
        </p:spPr>
        <p:txBody>
          <a:bodyPr wrap="square" lIns="0" tIns="0" rIns="0" bIns="0" rtlCol="0" anchor="ctr"/>
          <a:lstStyle/>
          <a:p>
            <a:pPr marL="0" indent="0">
              <a:buNone/>
            </a:pPr>
            <a:r>
              <a:rPr lang="en-US" sz="1300" b="1" dirty="0">
                <a:solidFill>
                  <a:srgbClr val="4472C4"/>
                </a:solidFill>
                <a:latin typeface="Courier New" pitchFamily="34" charset="0"/>
                <a:ea typeface="Courier New" pitchFamily="34" charset="-122"/>
                <a:cs typeface="Courier New" pitchFamily="34" charset="-120"/>
              </a:rPr>
              <a:t>a = 2, b = 2, d = 1</a:t>
            </a:r>
            <a:endParaRPr lang="en-US" sz="1300" dirty="0"/>
          </a:p>
        </p:txBody>
      </p:sp>
      <p:sp>
        <p:nvSpPr>
          <p:cNvPr id="7" name="Text 5"/>
          <p:cNvSpPr txBox="1"/>
          <p:nvPr/>
        </p:nvSpPr>
        <p:spPr>
          <a:xfrm>
            <a:off x="667512" y="2203704"/>
            <a:ext cx="4882896" cy="301752"/>
          </a:xfrm>
          <a:prstGeom prst="rect">
            <a:avLst/>
          </a:prstGeom>
          <a:noFill/>
          <a:ln/>
        </p:spPr>
        <p:txBody>
          <a:bodyPr wrap="square" lIns="0" tIns="0" rIns="0" bIns="0" rtlCol="0" anchor="ctr"/>
          <a:lstStyle/>
          <a:p>
            <a:pPr marL="0" indent="0">
              <a:buNone/>
            </a:pPr>
            <a:r>
              <a:rPr lang="en-US" sz="1050" dirty="0">
                <a:solidFill>
                  <a:srgbClr val="333F50"/>
                </a:solidFill>
                <a:latin typeface="Calibri" pitchFamily="34" charset="0"/>
                <a:ea typeface="Calibri" pitchFamily="34" charset="-122"/>
                <a:cs typeface="Calibri" pitchFamily="34" charset="-120"/>
              </a:rPr>
              <a:t>two subproblems, half the size each, linear-time merge: O(n) = O(n^1)</a:t>
            </a:r>
            <a:endParaRPr lang="en-US" sz="1050" dirty="0"/>
          </a:p>
        </p:txBody>
      </p:sp>
      <p:sp>
        <p:nvSpPr>
          <p:cNvPr id="8" name="Shape 6"/>
          <p:cNvSpPr/>
          <p:nvPr/>
        </p:nvSpPr>
        <p:spPr>
          <a:xfrm>
            <a:off x="502920" y="2670048"/>
            <a:ext cx="5212080" cy="731520"/>
          </a:xfrm>
          <a:prstGeom prst="roundRect">
            <a:avLst>
              <a:gd name="adj" fmla="val 7500"/>
            </a:avLst>
          </a:prstGeom>
          <a:solidFill>
            <a:srgbClr val="EEF3FC"/>
          </a:solidFill>
          <a:ln/>
        </p:spPr>
        <p:txBody>
          <a:bodyPr/>
          <a:lstStyle/>
          <a:p>
            <a:endParaRPr lang="en-US"/>
          </a:p>
        </p:txBody>
      </p:sp>
      <p:sp>
        <p:nvSpPr>
          <p:cNvPr id="9" name="Text 7"/>
          <p:cNvSpPr txBox="1"/>
          <p:nvPr/>
        </p:nvSpPr>
        <p:spPr>
          <a:xfrm>
            <a:off x="667512" y="2734056"/>
            <a:ext cx="4882896" cy="292608"/>
          </a:xfrm>
          <a:prstGeom prst="rect">
            <a:avLst/>
          </a:prstGeom>
          <a:noFill/>
          <a:ln/>
        </p:spPr>
        <p:txBody>
          <a:bodyPr wrap="square" lIns="0" tIns="0" rIns="0" bIns="0" rtlCol="0" anchor="ctr"/>
          <a:lstStyle/>
          <a:p>
            <a:pPr marL="0" indent="0">
              <a:buNone/>
            </a:pPr>
            <a:r>
              <a:rPr lang="en-US" sz="1300" b="1" dirty="0">
                <a:solidFill>
                  <a:srgbClr val="4472C4"/>
                </a:solidFill>
                <a:latin typeface="Courier New" pitchFamily="34" charset="0"/>
                <a:ea typeface="Courier New" pitchFamily="34" charset="-122"/>
                <a:cs typeface="Courier New" pitchFamily="34" charset="-120"/>
              </a:rPr>
              <a:t>b^d = 2^1 = 2</a:t>
            </a:r>
            <a:endParaRPr lang="en-US" sz="1300" dirty="0"/>
          </a:p>
        </p:txBody>
      </p:sp>
      <p:sp>
        <p:nvSpPr>
          <p:cNvPr id="10" name="Text 8"/>
          <p:cNvSpPr txBox="1"/>
          <p:nvPr/>
        </p:nvSpPr>
        <p:spPr>
          <a:xfrm>
            <a:off x="667512" y="3044952"/>
            <a:ext cx="4882896" cy="301752"/>
          </a:xfrm>
          <a:prstGeom prst="rect">
            <a:avLst/>
          </a:prstGeom>
          <a:noFill/>
          <a:ln/>
        </p:spPr>
        <p:txBody>
          <a:bodyPr wrap="square" lIns="0" tIns="0" rIns="0" bIns="0" rtlCol="0" anchor="ctr"/>
          <a:lstStyle/>
          <a:p>
            <a:pPr marL="0" indent="0">
              <a:buNone/>
            </a:pPr>
            <a:r>
              <a:rPr lang="en-US" sz="1050" dirty="0">
                <a:solidFill>
                  <a:srgbClr val="333F50"/>
                </a:solidFill>
                <a:latin typeface="Calibri" pitchFamily="34" charset="0"/>
                <a:ea typeface="Calibri" pitchFamily="34" charset="-122"/>
                <a:cs typeface="Calibri" pitchFamily="34" charset="-120"/>
              </a:rPr>
              <a:t>compare to a = 2</a:t>
            </a:r>
            <a:endParaRPr lang="en-US" sz="1050" dirty="0"/>
          </a:p>
        </p:txBody>
      </p:sp>
      <p:sp>
        <p:nvSpPr>
          <p:cNvPr id="11" name="Shape 9"/>
          <p:cNvSpPr/>
          <p:nvPr/>
        </p:nvSpPr>
        <p:spPr>
          <a:xfrm>
            <a:off x="502920" y="3511296"/>
            <a:ext cx="5212080" cy="731520"/>
          </a:xfrm>
          <a:prstGeom prst="roundRect">
            <a:avLst>
              <a:gd name="adj" fmla="val 7500"/>
            </a:avLst>
          </a:prstGeom>
          <a:solidFill>
            <a:srgbClr val="EEF3FC"/>
          </a:solidFill>
          <a:ln/>
        </p:spPr>
        <p:txBody>
          <a:bodyPr/>
          <a:lstStyle/>
          <a:p>
            <a:endParaRPr lang="en-US"/>
          </a:p>
        </p:txBody>
      </p:sp>
      <p:sp>
        <p:nvSpPr>
          <p:cNvPr id="12" name="Text 10"/>
          <p:cNvSpPr txBox="1"/>
          <p:nvPr/>
        </p:nvSpPr>
        <p:spPr>
          <a:xfrm>
            <a:off x="667512" y="3575304"/>
            <a:ext cx="4882896" cy="292608"/>
          </a:xfrm>
          <a:prstGeom prst="rect">
            <a:avLst/>
          </a:prstGeom>
          <a:noFill/>
          <a:ln/>
        </p:spPr>
        <p:txBody>
          <a:bodyPr wrap="square" lIns="0" tIns="0" rIns="0" bIns="0" rtlCol="0" anchor="ctr"/>
          <a:lstStyle/>
          <a:p>
            <a:pPr marL="0" indent="0">
              <a:buNone/>
            </a:pPr>
            <a:r>
              <a:rPr lang="en-US" sz="1300" b="1" dirty="0">
                <a:solidFill>
                  <a:srgbClr val="4472C4"/>
                </a:solidFill>
                <a:latin typeface="Courier New" pitchFamily="34" charset="0"/>
                <a:ea typeface="Courier New" pitchFamily="34" charset="-122"/>
                <a:cs typeface="Courier New" pitchFamily="34" charset="-120"/>
              </a:rPr>
              <a:t>a = b^d   (2 = 2)</a:t>
            </a:r>
            <a:endParaRPr lang="en-US" sz="1300" dirty="0"/>
          </a:p>
        </p:txBody>
      </p:sp>
      <p:sp>
        <p:nvSpPr>
          <p:cNvPr id="13" name="Text 11"/>
          <p:cNvSpPr txBox="1"/>
          <p:nvPr/>
        </p:nvSpPr>
        <p:spPr>
          <a:xfrm>
            <a:off x="667512" y="3886200"/>
            <a:ext cx="4882896" cy="301752"/>
          </a:xfrm>
          <a:prstGeom prst="rect">
            <a:avLst/>
          </a:prstGeom>
          <a:noFill/>
          <a:ln/>
        </p:spPr>
        <p:txBody>
          <a:bodyPr wrap="square" lIns="0" tIns="0" rIns="0" bIns="0" rtlCol="0" anchor="ctr"/>
          <a:lstStyle/>
          <a:p>
            <a:pPr marL="0" indent="0">
              <a:buNone/>
            </a:pPr>
            <a:r>
              <a:rPr lang="en-US" sz="1050" dirty="0">
                <a:solidFill>
                  <a:srgbClr val="333F50"/>
                </a:solidFill>
                <a:latin typeface="Calibri" pitchFamily="34" charset="0"/>
                <a:ea typeface="Calibri" pitchFamily="34" charset="-122"/>
                <a:cs typeface="Calibri" pitchFamily="34" charset="-120"/>
              </a:rPr>
              <a:t>the two match exactly — Master Method Case 1 applies</a:t>
            </a:r>
            <a:endParaRPr lang="en-US" sz="1050" dirty="0"/>
          </a:p>
        </p:txBody>
      </p:sp>
      <p:sp>
        <p:nvSpPr>
          <p:cNvPr id="14" name="Shape 12"/>
          <p:cNvSpPr/>
          <p:nvPr/>
        </p:nvSpPr>
        <p:spPr>
          <a:xfrm>
            <a:off x="502920" y="4407408"/>
            <a:ext cx="5212080" cy="658368"/>
          </a:xfrm>
          <a:prstGeom prst="roundRect">
            <a:avLst>
              <a:gd name="adj" fmla="val 11111"/>
            </a:avLst>
          </a:prstGeom>
          <a:solidFill>
            <a:srgbClr val="1E2A44"/>
          </a:solidFill>
          <a:ln/>
        </p:spPr>
        <p:txBody>
          <a:bodyPr/>
          <a:lstStyle/>
          <a:p>
            <a:endParaRPr lang="en-US"/>
          </a:p>
        </p:txBody>
      </p:sp>
      <p:sp>
        <p:nvSpPr>
          <p:cNvPr id="15" name="Text 13"/>
          <p:cNvSpPr txBox="1"/>
          <p:nvPr/>
        </p:nvSpPr>
        <p:spPr>
          <a:xfrm>
            <a:off x="502920" y="4407408"/>
            <a:ext cx="5212080" cy="658368"/>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Result:  O(</a:t>
            </a:r>
            <a:r>
              <a:rPr lang="en-US" sz="1900" b="1" dirty="0" err="1">
                <a:solidFill>
                  <a:srgbClr val="FFFFFF"/>
                </a:solidFill>
                <a:latin typeface="Calibri" pitchFamily="34" charset="0"/>
                <a:ea typeface="Calibri" pitchFamily="34" charset="-122"/>
                <a:cs typeface="Calibri" pitchFamily="34" charset="-120"/>
              </a:rPr>
              <a:t>n</a:t>
            </a:r>
            <a:r>
              <a:rPr lang="en-US" sz="1900" b="1" baseline="30000" dirty="0" err="1">
                <a:solidFill>
                  <a:srgbClr val="FFFFFF"/>
                </a:solidFill>
                <a:latin typeface="Calibri" pitchFamily="34" charset="0"/>
                <a:ea typeface="Calibri" pitchFamily="34" charset="-122"/>
                <a:cs typeface="Calibri" pitchFamily="34" charset="-120"/>
              </a:rPr>
              <a:t>d</a:t>
            </a:r>
            <a:r>
              <a:rPr lang="en-US" sz="1900" b="1" dirty="0">
                <a:solidFill>
                  <a:srgbClr val="FFFFFF"/>
                </a:solidFill>
                <a:latin typeface="Calibri" pitchFamily="34" charset="0"/>
                <a:ea typeface="Calibri" pitchFamily="34" charset="-122"/>
                <a:cs typeface="Calibri" pitchFamily="34" charset="-120"/>
              </a:rPr>
              <a:t> log n) = O(n log n)</a:t>
            </a:r>
            <a:endParaRPr lang="en-US" sz="1900" dirty="0"/>
          </a:p>
        </p:txBody>
      </p:sp>
      <p:sp>
        <p:nvSpPr>
          <p:cNvPr id="16" name="Text 14"/>
          <p:cNvSpPr txBox="1"/>
          <p:nvPr/>
        </p:nvSpPr>
        <p:spPr>
          <a:xfrm>
            <a:off x="6400800" y="1828800"/>
            <a:ext cx="5287975" cy="274320"/>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Recursion tree — same total work per level</a:t>
            </a:r>
            <a:endParaRPr lang="en-US" sz="1200" dirty="0"/>
          </a:p>
        </p:txBody>
      </p:sp>
      <p:sp>
        <p:nvSpPr>
          <p:cNvPr id="17" name="Shape 15"/>
          <p:cNvSpPr/>
          <p:nvPr/>
        </p:nvSpPr>
        <p:spPr>
          <a:xfrm>
            <a:off x="8503920" y="2194560"/>
            <a:ext cx="502920" cy="292608"/>
          </a:xfrm>
          <a:prstGeom prst="roundRect">
            <a:avLst>
              <a:gd name="adj" fmla="val 9375"/>
            </a:avLst>
          </a:prstGeom>
          <a:solidFill>
            <a:srgbClr val="4472C4"/>
          </a:solidFill>
          <a:ln/>
        </p:spPr>
        <p:txBody>
          <a:bodyPr/>
          <a:lstStyle/>
          <a:p>
            <a:endParaRPr lang="en-US"/>
          </a:p>
        </p:txBody>
      </p:sp>
      <p:sp>
        <p:nvSpPr>
          <p:cNvPr id="18" name="Text 16"/>
          <p:cNvSpPr txBox="1"/>
          <p:nvPr/>
        </p:nvSpPr>
        <p:spPr>
          <a:xfrm>
            <a:off x="6400800" y="2176272"/>
            <a:ext cx="1965960" cy="329184"/>
          </a:xfrm>
          <a:prstGeom prst="rect">
            <a:avLst/>
          </a:prstGeom>
          <a:noFill/>
          <a:ln/>
        </p:spPr>
        <p:txBody>
          <a:bodyPr wrap="square" lIns="0" tIns="0" rIns="0" bIns="0" rtlCol="0" anchor="ctr"/>
          <a:lstStyle/>
          <a:p>
            <a:pPr marL="0" indent="0" algn="r">
              <a:buNone/>
            </a:pPr>
            <a:r>
              <a:rPr lang="en-US" sz="1150" dirty="0">
                <a:solidFill>
                  <a:srgbClr val="333F50"/>
                </a:solidFill>
                <a:latin typeface="Courier New" pitchFamily="34" charset="0"/>
                <a:ea typeface="Courier New" pitchFamily="34" charset="-122"/>
                <a:cs typeface="Courier New" pitchFamily="34" charset="-120"/>
              </a:rPr>
              <a:t>n</a:t>
            </a:r>
            <a:endParaRPr lang="en-US" sz="1150" dirty="0"/>
          </a:p>
        </p:txBody>
      </p:sp>
      <p:sp>
        <p:nvSpPr>
          <p:cNvPr id="19" name="Shape 17"/>
          <p:cNvSpPr/>
          <p:nvPr/>
        </p:nvSpPr>
        <p:spPr>
          <a:xfrm>
            <a:off x="8503920" y="2697480"/>
            <a:ext cx="502920" cy="292608"/>
          </a:xfrm>
          <a:prstGeom prst="roundRect">
            <a:avLst>
              <a:gd name="adj" fmla="val 9375"/>
            </a:avLst>
          </a:prstGeom>
          <a:solidFill>
            <a:srgbClr val="4472C4"/>
          </a:solidFill>
          <a:ln/>
        </p:spPr>
        <p:txBody>
          <a:bodyPr/>
          <a:lstStyle/>
          <a:p>
            <a:endParaRPr lang="en-US"/>
          </a:p>
        </p:txBody>
      </p:sp>
      <p:sp>
        <p:nvSpPr>
          <p:cNvPr id="20" name="Shape 18"/>
          <p:cNvSpPr/>
          <p:nvPr/>
        </p:nvSpPr>
        <p:spPr>
          <a:xfrm>
            <a:off x="9061704" y="2697480"/>
            <a:ext cx="502920" cy="292608"/>
          </a:xfrm>
          <a:prstGeom prst="roundRect">
            <a:avLst>
              <a:gd name="adj" fmla="val 9375"/>
            </a:avLst>
          </a:prstGeom>
          <a:solidFill>
            <a:srgbClr val="4472C4"/>
          </a:solidFill>
          <a:ln/>
        </p:spPr>
        <p:txBody>
          <a:bodyPr/>
          <a:lstStyle/>
          <a:p>
            <a:endParaRPr lang="en-US"/>
          </a:p>
        </p:txBody>
      </p:sp>
      <p:sp>
        <p:nvSpPr>
          <p:cNvPr id="21" name="Text 19"/>
          <p:cNvSpPr txBox="1"/>
          <p:nvPr/>
        </p:nvSpPr>
        <p:spPr>
          <a:xfrm>
            <a:off x="6400800" y="2679192"/>
            <a:ext cx="1965960" cy="329184"/>
          </a:xfrm>
          <a:prstGeom prst="rect">
            <a:avLst/>
          </a:prstGeom>
          <a:noFill/>
          <a:ln/>
        </p:spPr>
        <p:txBody>
          <a:bodyPr wrap="square" lIns="0" tIns="0" rIns="0" bIns="0" rtlCol="0" anchor="ctr"/>
          <a:lstStyle/>
          <a:p>
            <a:pPr marL="0" indent="0" algn="r">
              <a:buNone/>
            </a:pPr>
            <a:r>
              <a:rPr lang="en-US" sz="1150" dirty="0">
                <a:solidFill>
                  <a:srgbClr val="333F50"/>
                </a:solidFill>
                <a:latin typeface="Courier New" pitchFamily="34" charset="0"/>
                <a:ea typeface="Courier New" pitchFamily="34" charset="-122"/>
                <a:cs typeface="Courier New" pitchFamily="34" charset="-120"/>
              </a:rPr>
              <a:t>n/2 + n/2 = n</a:t>
            </a:r>
            <a:endParaRPr lang="en-US" sz="1150" dirty="0"/>
          </a:p>
        </p:txBody>
      </p:sp>
      <p:sp>
        <p:nvSpPr>
          <p:cNvPr id="22" name="Shape 20"/>
          <p:cNvSpPr/>
          <p:nvPr/>
        </p:nvSpPr>
        <p:spPr>
          <a:xfrm>
            <a:off x="8503920" y="3200400"/>
            <a:ext cx="502920" cy="292608"/>
          </a:xfrm>
          <a:prstGeom prst="roundRect">
            <a:avLst>
              <a:gd name="adj" fmla="val 9375"/>
            </a:avLst>
          </a:prstGeom>
          <a:solidFill>
            <a:srgbClr val="4472C4"/>
          </a:solidFill>
          <a:ln/>
        </p:spPr>
        <p:txBody>
          <a:bodyPr/>
          <a:lstStyle/>
          <a:p>
            <a:endParaRPr lang="en-US"/>
          </a:p>
        </p:txBody>
      </p:sp>
      <p:sp>
        <p:nvSpPr>
          <p:cNvPr id="23" name="Shape 21"/>
          <p:cNvSpPr/>
          <p:nvPr/>
        </p:nvSpPr>
        <p:spPr>
          <a:xfrm>
            <a:off x="9061704" y="3200400"/>
            <a:ext cx="502920" cy="292608"/>
          </a:xfrm>
          <a:prstGeom prst="roundRect">
            <a:avLst>
              <a:gd name="adj" fmla="val 9375"/>
            </a:avLst>
          </a:prstGeom>
          <a:solidFill>
            <a:srgbClr val="4472C4"/>
          </a:solidFill>
          <a:ln/>
        </p:spPr>
        <p:txBody>
          <a:bodyPr/>
          <a:lstStyle/>
          <a:p>
            <a:endParaRPr lang="en-US"/>
          </a:p>
        </p:txBody>
      </p:sp>
      <p:sp>
        <p:nvSpPr>
          <p:cNvPr id="24" name="Shape 22"/>
          <p:cNvSpPr/>
          <p:nvPr/>
        </p:nvSpPr>
        <p:spPr>
          <a:xfrm>
            <a:off x="9619488" y="3200400"/>
            <a:ext cx="502920" cy="292608"/>
          </a:xfrm>
          <a:prstGeom prst="roundRect">
            <a:avLst>
              <a:gd name="adj" fmla="val 9375"/>
            </a:avLst>
          </a:prstGeom>
          <a:solidFill>
            <a:srgbClr val="4472C4"/>
          </a:solidFill>
          <a:ln/>
        </p:spPr>
        <p:txBody>
          <a:bodyPr/>
          <a:lstStyle/>
          <a:p>
            <a:endParaRPr lang="en-US"/>
          </a:p>
        </p:txBody>
      </p:sp>
      <p:sp>
        <p:nvSpPr>
          <p:cNvPr id="25" name="Shape 23"/>
          <p:cNvSpPr/>
          <p:nvPr/>
        </p:nvSpPr>
        <p:spPr>
          <a:xfrm>
            <a:off x="10177272" y="3200400"/>
            <a:ext cx="502920" cy="292608"/>
          </a:xfrm>
          <a:prstGeom prst="roundRect">
            <a:avLst>
              <a:gd name="adj" fmla="val 9375"/>
            </a:avLst>
          </a:prstGeom>
          <a:solidFill>
            <a:srgbClr val="4472C4"/>
          </a:solidFill>
          <a:ln/>
        </p:spPr>
        <p:txBody>
          <a:bodyPr/>
          <a:lstStyle/>
          <a:p>
            <a:endParaRPr lang="en-US"/>
          </a:p>
        </p:txBody>
      </p:sp>
      <p:sp>
        <p:nvSpPr>
          <p:cNvPr id="26" name="Text 24"/>
          <p:cNvSpPr txBox="1"/>
          <p:nvPr/>
        </p:nvSpPr>
        <p:spPr>
          <a:xfrm>
            <a:off x="6400800" y="3182112"/>
            <a:ext cx="1965960" cy="329184"/>
          </a:xfrm>
          <a:prstGeom prst="rect">
            <a:avLst/>
          </a:prstGeom>
          <a:noFill/>
          <a:ln/>
        </p:spPr>
        <p:txBody>
          <a:bodyPr wrap="square" lIns="0" tIns="0" rIns="0" bIns="0" rtlCol="0" anchor="ctr"/>
          <a:lstStyle/>
          <a:p>
            <a:pPr marL="0" indent="0" algn="r">
              <a:buNone/>
            </a:pPr>
            <a:r>
              <a:rPr lang="en-US" sz="1150" dirty="0">
                <a:solidFill>
                  <a:srgbClr val="333F50"/>
                </a:solidFill>
                <a:latin typeface="Courier New" pitchFamily="34" charset="0"/>
                <a:ea typeface="Courier New" pitchFamily="34" charset="-122"/>
                <a:cs typeface="Courier New" pitchFamily="34" charset="-120"/>
              </a:rPr>
              <a:t>4 × n/4 = n</a:t>
            </a:r>
            <a:endParaRPr lang="en-US" sz="1150" dirty="0"/>
          </a:p>
        </p:txBody>
      </p:sp>
      <p:sp>
        <p:nvSpPr>
          <p:cNvPr id="27" name="Text 25"/>
          <p:cNvSpPr txBox="1"/>
          <p:nvPr/>
        </p:nvSpPr>
        <p:spPr>
          <a:xfrm>
            <a:off x="6400800" y="3657600"/>
            <a:ext cx="1965960" cy="329184"/>
          </a:xfrm>
          <a:prstGeom prst="rect">
            <a:avLst/>
          </a:prstGeom>
          <a:noFill/>
          <a:ln/>
        </p:spPr>
        <p:txBody>
          <a:bodyPr wrap="square" lIns="0" tIns="0" rIns="0" bIns="0" rtlCol="0" anchor="ctr"/>
          <a:lstStyle/>
          <a:p>
            <a:pPr marL="0" indent="0" algn="r">
              <a:buNone/>
            </a:pPr>
            <a:r>
              <a:rPr lang="en-US" sz="1150" dirty="0">
                <a:solidFill>
                  <a:srgbClr val="333F50"/>
                </a:solidFill>
                <a:latin typeface="Courier New" pitchFamily="34" charset="0"/>
                <a:ea typeface="Courier New" pitchFamily="34" charset="-122"/>
                <a:cs typeface="Courier New" pitchFamily="34" charset="-120"/>
              </a:rPr>
              <a:t>⋮</a:t>
            </a:r>
            <a:endParaRPr lang="en-US" sz="1150" dirty="0"/>
          </a:p>
        </p:txBody>
      </p:sp>
      <p:sp>
        <p:nvSpPr>
          <p:cNvPr id="28" name="Shape 26"/>
          <p:cNvSpPr/>
          <p:nvPr/>
        </p:nvSpPr>
        <p:spPr>
          <a:xfrm>
            <a:off x="8503920" y="4114800"/>
            <a:ext cx="354673" cy="292608"/>
          </a:xfrm>
          <a:prstGeom prst="roundRect">
            <a:avLst>
              <a:gd name="adj" fmla="val 9375"/>
            </a:avLst>
          </a:prstGeom>
          <a:solidFill>
            <a:srgbClr val="4472C4"/>
          </a:solidFill>
          <a:ln/>
        </p:spPr>
        <p:txBody>
          <a:bodyPr/>
          <a:lstStyle/>
          <a:p>
            <a:endParaRPr lang="en-US"/>
          </a:p>
        </p:txBody>
      </p:sp>
      <p:sp>
        <p:nvSpPr>
          <p:cNvPr id="29" name="Shape 27"/>
          <p:cNvSpPr/>
          <p:nvPr/>
        </p:nvSpPr>
        <p:spPr>
          <a:xfrm>
            <a:off x="8913457" y="4114800"/>
            <a:ext cx="354673" cy="292608"/>
          </a:xfrm>
          <a:prstGeom prst="roundRect">
            <a:avLst>
              <a:gd name="adj" fmla="val 9375"/>
            </a:avLst>
          </a:prstGeom>
          <a:solidFill>
            <a:srgbClr val="4472C4"/>
          </a:solidFill>
          <a:ln/>
        </p:spPr>
        <p:txBody>
          <a:bodyPr/>
          <a:lstStyle/>
          <a:p>
            <a:endParaRPr lang="en-US"/>
          </a:p>
        </p:txBody>
      </p:sp>
      <p:sp>
        <p:nvSpPr>
          <p:cNvPr id="30" name="Shape 28"/>
          <p:cNvSpPr/>
          <p:nvPr/>
        </p:nvSpPr>
        <p:spPr>
          <a:xfrm>
            <a:off x="9322994" y="4114800"/>
            <a:ext cx="354673" cy="292608"/>
          </a:xfrm>
          <a:prstGeom prst="roundRect">
            <a:avLst>
              <a:gd name="adj" fmla="val 9375"/>
            </a:avLst>
          </a:prstGeom>
          <a:solidFill>
            <a:srgbClr val="4472C4"/>
          </a:solidFill>
          <a:ln/>
        </p:spPr>
        <p:txBody>
          <a:bodyPr/>
          <a:lstStyle/>
          <a:p>
            <a:endParaRPr lang="en-US"/>
          </a:p>
        </p:txBody>
      </p:sp>
      <p:sp>
        <p:nvSpPr>
          <p:cNvPr id="31" name="Shape 29"/>
          <p:cNvSpPr/>
          <p:nvPr/>
        </p:nvSpPr>
        <p:spPr>
          <a:xfrm>
            <a:off x="9732531" y="4114800"/>
            <a:ext cx="354673" cy="292608"/>
          </a:xfrm>
          <a:prstGeom prst="roundRect">
            <a:avLst>
              <a:gd name="adj" fmla="val 9375"/>
            </a:avLst>
          </a:prstGeom>
          <a:solidFill>
            <a:srgbClr val="4472C4"/>
          </a:solidFill>
          <a:ln/>
        </p:spPr>
        <p:txBody>
          <a:bodyPr/>
          <a:lstStyle/>
          <a:p>
            <a:endParaRPr lang="en-US"/>
          </a:p>
        </p:txBody>
      </p:sp>
      <p:sp>
        <p:nvSpPr>
          <p:cNvPr id="32" name="Shape 30"/>
          <p:cNvSpPr/>
          <p:nvPr/>
        </p:nvSpPr>
        <p:spPr>
          <a:xfrm>
            <a:off x="10142068" y="4114800"/>
            <a:ext cx="354673" cy="292608"/>
          </a:xfrm>
          <a:prstGeom prst="roundRect">
            <a:avLst>
              <a:gd name="adj" fmla="val 9375"/>
            </a:avLst>
          </a:prstGeom>
          <a:solidFill>
            <a:srgbClr val="4472C4"/>
          </a:solidFill>
          <a:ln/>
        </p:spPr>
        <p:txBody>
          <a:bodyPr/>
          <a:lstStyle/>
          <a:p>
            <a:endParaRPr lang="en-US"/>
          </a:p>
        </p:txBody>
      </p:sp>
      <p:sp>
        <p:nvSpPr>
          <p:cNvPr id="33" name="Shape 31"/>
          <p:cNvSpPr/>
          <p:nvPr/>
        </p:nvSpPr>
        <p:spPr>
          <a:xfrm>
            <a:off x="10551605" y="4114800"/>
            <a:ext cx="354673" cy="292608"/>
          </a:xfrm>
          <a:prstGeom prst="roundRect">
            <a:avLst>
              <a:gd name="adj" fmla="val 9375"/>
            </a:avLst>
          </a:prstGeom>
          <a:solidFill>
            <a:srgbClr val="4472C4"/>
          </a:solidFill>
          <a:ln/>
        </p:spPr>
        <p:txBody>
          <a:bodyPr/>
          <a:lstStyle/>
          <a:p>
            <a:endParaRPr lang="en-US"/>
          </a:p>
        </p:txBody>
      </p:sp>
      <p:sp>
        <p:nvSpPr>
          <p:cNvPr id="34" name="Shape 32"/>
          <p:cNvSpPr/>
          <p:nvPr/>
        </p:nvSpPr>
        <p:spPr>
          <a:xfrm>
            <a:off x="10961141" y="4114800"/>
            <a:ext cx="354673" cy="292608"/>
          </a:xfrm>
          <a:prstGeom prst="roundRect">
            <a:avLst>
              <a:gd name="adj" fmla="val 9375"/>
            </a:avLst>
          </a:prstGeom>
          <a:solidFill>
            <a:srgbClr val="4472C4"/>
          </a:solidFill>
          <a:ln/>
        </p:spPr>
        <p:txBody>
          <a:bodyPr/>
          <a:lstStyle/>
          <a:p>
            <a:endParaRPr lang="en-US"/>
          </a:p>
        </p:txBody>
      </p:sp>
      <p:sp>
        <p:nvSpPr>
          <p:cNvPr id="35" name="Shape 33"/>
          <p:cNvSpPr/>
          <p:nvPr/>
        </p:nvSpPr>
        <p:spPr>
          <a:xfrm>
            <a:off x="11370678" y="4114800"/>
            <a:ext cx="354673" cy="292608"/>
          </a:xfrm>
          <a:prstGeom prst="roundRect">
            <a:avLst>
              <a:gd name="adj" fmla="val 9375"/>
            </a:avLst>
          </a:prstGeom>
          <a:solidFill>
            <a:srgbClr val="4472C4"/>
          </a:solidFill>
          <a:ln/>
        </p:spPr>
        <p:txBody>
          <a:bodyPr/>
          <a:lstStyle/>
          <a:p>
            <a:endParaRPr lang="en-US"/>
          </a:p>
        </p:txBody>
      </p:sp>
      <p:sp>
        <p:nvSpPr>
          <p:cNvPr id="36" name="Text 34"/>
          <p:cNvSpPr txBox="1"/>
          <p:nvPr/>
        </p:nvSpPr>
        <p:spPr>
          <a:xfrm>
            <a:off x="6400800" y="4096512"/>
            <a:ext cx="1965960" cy="329184"/>
          </a:xfrm>
          <a:prstGeom prst="rect">
            <a:avLst/>
          </a:prstGeom>
          <a:noFill/>
          <a:ln/>
        </p:spPr>
        <p:txBody>
          <a:bodyPr wrap="square" lIns="0" tIns="0" rIns="0" bIns="0" rtlCol="0" anchor="ctr"/>
          <a:lstStyle/>
          <a:p>
            <a:pPr marL="0" indent="0" algn="r">
              <a:buNone/>
            </a:pPr>
            <a:r>
              <a:rPr lang="en-US" sz="1150" dirty="0">
                <a:solidFill>
                  <a:srgbClr val="333F50"/>
                </a:solidFill>
                <a:latin typeface="Courier New" pitchFamily="34" charset="0"/>
                <a:ea typeface="Courier New" pitchFamily="34" charset="-122"/>
                <a:cs typeface="Courier New" pitchFamily="34" charset="-120"/>
              </a:rPr>
              <a:t>n × 1 = n</a:t>
            </a:r>
            <a:endParaRPr lang="en-US" sz="1150" dirty="0"/>
          </a:p>
        </p:txBody>
      </p:sp>
      <p:sp>
        <p:nvSpPr>
          <p:cNvPr id="37" name="Text 35"/>
          <p:cNvSpPr txBox="1"/>
          <p:nvPr/>
        </p:nvSpPr>
        <p:spPr>
          <a:xfrm>
            <a:off x="6400800" y="4572000"/>
            <a:ext cx="5287975" cy="502920"/>
          </a:xfrm>
          <a:prstGeom prst="rect">
            <a:avLst/>
          </a:prstGeom>
          <a:noFill/>
          <a:ln/>
        </p:spPr>
        <p:txBody>
          <a:bodyPr wrap="square" lIns="0" tIns="0" rIns="0" bIns="0" rtlCol="0" anchor="ctr"/>
          <a:lstStyle/>
          <a:p>
            <a:pPr marL="0" indent="0">
              <a:buNone/>
            </a:pPr>
            <a:r>
              <a:rPr lang="en-US" sz="1100" i="1" dirty="0">
                <a:solidFill>
                  <a:srgbClr val="595959"/>
                </a:solidFill>
                <a:latin typeface="Calibri" pitchFamily="34" charset="0"/>
                <a:ea typeface="Calibri" pitchFamily="34" charset="-122"/>
                <a:cs typeface="Calibri" pitchFamily="34" charset="-120"/>
              </a:rPr>
              <a:t>log n + 1 levels, each doing O(n) total work → O(n log n) overall — matching Case 1 of the master method.</a:t>
            </a:r>
            <a:endParaRPr lang="en-US" sz="1100" dirty="0"/>
          </a:p>
        </p:txBody>
      </p:sp>
      <p:sp>
        <p:nvSpPr>
          <p:cNvPr id="38" name="Shape 36"/>
          <p:cNvSpPr/>
          <p:nvPr/>
        </p:nvSpPr>
        <p:spPr>
          <a:xfrm>
            <a:off x="502920" y="5349240"/>
            <a:ext cx="11185855" cy="621792"/>
          </a:xfrm>
          <a:prstGeom prst="roundRect">
            <a:avLst>
              <a:gd name="adj" fmla="val 11765"/>
            </a:avLst>
          </a:prstGeom>
          <a:solidFill>
            <a:srgbClr val="FBE4D5"/>
          </a:solidFill>
          <a:ln/>
        </p:spPr>
        <p:txBody>
          <a:bodyPr/>
          <a:lstStyle/>
          <a:p>
            <a:endParaRPr lang="en-US"/>
          </a:p>
        </p:txBody>
      </p:sp>
      <p:sp>
        <p:nvSpPr>
          <p:cNvPr id="39" name="Text 37"/>
          <p:cNvSpPr txBox="1"/>
          <p:nvPr/>
        </p:nvSpPr>
        <p:spPr>
          <a:xfrm>
            <a:off x="731520" y="5349240"/>
            <a:ext cx="10728655" cy="621792"/>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Unlike bubble/insertion/selection sort's O(n²), merge sort's divide-and-conquer structure reaches O(n log n) — the “linearithmic” growth rate.</a:t>
            </a:r>
            <a:endParaRPr lang="en-US" sz="1250" dirty="0"/>
          </a:p>
        </p:txBody>
      </p:sp>
      <p:sp>
        <p:nvSpPr>
          <p:cNvPr id="41" name="Text 39"/>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cs typeface="Calibri" pitchFamily="34" charset="-120"/>
              </a:rPr>
              <a:t>3</a:t>
            </a:r>
            <a:endParaRPr lang="en-US" sz="850" dirty="0"/>
          </a:p>
        </p:txBody>
      </p:sp>
      <p:sp>
        <p:nvSpPr>
          <p:cNvPr id="40" name="Text 21">
            <a:extLst>
              <a:ext uri="{FF2B5EF4-FFF2-40B4-BE49-F238E27FC236}">
                <a16:creationId xmlns:a16="http://schemas.microsoft.com/office/drawing/2014/main" id="{E2BE1A6D-4A8D-015E-CD6B-64EF2F8A1C26}"/>
              </a:ext>
            </a:extLst>
          </p:cNvPr>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 ·  Sep 21</a:t>
            </a:r>
            <a:endParaRPr lang="en-US" sz="850" dirty="0"/>
          </a:p>
        </p:txBody>
      </p:sp>
      <p:sp>
        <p:nvSpPr>
          <p:cNvPr id="42" name="TextBox 41">
            <a:extLst>
              <a:ext uri="{FF2B5EF4-FFF2-40B4-BE49-F238E27FC236}">
                <a16:creationId xmlns:a16="http://schemas.microsoft.com/office/drawing/2014/main" id="{BB461005-BAA5-772F-2EF4-5F5AFABC0490}"/>
              </a:ext>
            </a:extLst>
          </p:cNvPr>
          <p:cNvSpPr txBox="1"/>
          <p:nvPr/>
        </p:nvSpPr>
        <p:spPr>
          <a:xfrm>
            <a:off x="9615110" y="1984248"/>
            <a:ext cx="2227661" cy="461665"/>
          </a:xfrm>
          <a:prstGeom prst="rect">
            <a:avLst/>
          </a:prstGeom>
          <a:noFill/>
        </p:spPr>
        <p:txBody>
          <a:bodyPr wrap="none" rtlCol="0">
            <a:spAutoFit/>
          </a:bodyPr>
          <a:lstStyle/>
          <a:p>
            <a:r>
              <a:rPr lang="en-US" sz="1200" dirty="0">
                <a:solidFill>
                  <a:schemeClr val="accent2"/>
                </a:solidFill>
              </a:rPr>
              <a:t>We will see exact #operations in </a:t>
            </a:r>
          </a:p>
          <a:p>
            <a:r>
              <a:rPr lang="en-US" sz="1200" dirty="0">
                <a:solidFill>
                  <a:schemeClr val="accent2"/>
                </a:solidFill>
              </a:rPr>
              <a:t>next few slides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blinds(horizontal)">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02920" y="347472"/>
            <a:ext cx="10515600" cy="274320"/>
          </a:xfrm>
          <a:prstGeom prst="rect">
            <a:avLst/>
          </a:prstGeom>
          <a:noFill/>
          <a:ln/>
        </p:spPr>
        <p:txBody>
          <a:bodyPr wrap="square" lIns="0" tIns="0" rIns="0" bIns="0" rtlCol="0" anchor="ctr"/>
          <a:lstStyle/>
          <a:p>
            <a:pPr marL="0" indent="0" algn="l">
              <a:buNone/>
            </a:pPr>
            <a:r>
              <a:rPr lang="en-US" sz="1200" b="1" dirty="0">
                <a:solidFill>
                  <a:srgbClr val="C55A11"/>
                </a:solidFill>
                <a:latin typeface="Calibri" pitchFamily="34" charset="0"/>
                <a:ea typeface="Calibri" pitchFamily="34" charset="-122"/>
                <a:cs typeface="Calibri" pitchFamily="34" charset="-120"/>
              </a:rPr>
              <a:t>DIVIDE AND CONQUER</a:t>
            </a:r>
            <a:endParaRPr lang="en-US" sz="1200" dirty="0"/>
          </a:p>
        </p:txBody>
      </p:sp>
      <p:sp>
        <p:nvSpPr>
          <p:cNvPr id="3" name="Text 3"/>
          <p:cNvSpPr txBox="1"/>
          <p:nvPr/>
        </p:nvSpPr>
        <p:spPr>
          <a:xfrm>
            <a:off x="502920" y="603504"/>
            <a:ext cx="10789920" cy="566928"/>
          </a:xfrm>
          <a:prstGeom prst="rect">
            <a:avLst/>
          </a:prstGeom>
          <a:noFill/>
          <a:ln/>
        </p:spPr>
        <p:txBody>
          <a:bodyPr wrap="square" lIns="0" tIns="0" rIns="0" bIns="0" rtlCol="0" anchor="ctr"/>
          <a:lstStyle/>
          <a:p>
            <a:pPr marL="0" indent="0" algn="l">
              <a:buNone/>
            </a:pPr>
            <a:r>
              <a:rPr lang="en-US" sz="3000" b="1" dirty="0">
                <a:solidFill>
                  <a:srgbClr val="1E2A44"/>
                </a:solidFill>
                <a:latin typeface="Calibri" pitchFamily="34" charset="0"/>
                <a:ea typeface="Calibri" pitchFamily="34" charset="-122"/>
                <a:cs typeface="Calibri" pitchFamily="34" charset="-120"/>
              </a:rPr>
              <a:t>Merge Sort: Best, Average &amp; Worst Case</a:t>
            </a:r>
            <a:endParaRPr lang="en-US" sz="3000" dirty="0"/>
          </a:p>
        </p:txBody>
      </p:sp>
      <p:sp>
        <p:nvSpPr>
          <p:cNvPr id="4" name="Text 4"/>
          <p:cNvSpPr txBox="1"/>
          <p:nvPr/>
        </p:nvSpPr>
        <p:spPr>
          <a:xfrm>
            <a:off x="502920" y="1152144"/>
            <a:ext cx="10881360" cy="384048"/>
          </a:xfrm>
          <a:prstGeom prst="rect">
            <a:avLst/>
          </a:prstGeom>
          <a:noFill/>
          <a:ln/>
        </p:spPr>
        <p:txBody>
          <a:bodyPr wrap="square" lIns="0" tIns="0" rIns="0" bIns="0" rtlCol="0" anchor="ctr"/>
          <a:lstStyle/>
          <a:p>
            <a:pPr marL="0" indent="0" algn="l">
              <a:buNone/>
            </a:pPr>
            <a:r>
              <a:rPr lang="en-US" sz="1350" dirty="0">
                <a:solidFill>
                  <a:srgbClr val="595959"/>
                </a:solidFill>
                <a:latin typeface="Calibri" pitchFamily="34" charset="0"/>
                <a:ea typeface="Calibri" pitchFamily="34" charset="-122"/>
                <a:cs typeface="Calibri" pitchFamily="34" charset="-120"/>
              </a:rPr>
              <a:t>Why the running time never depends on how the input starts out.</a:t>
            </a:r>
            <a:endParaRPr lang="en-US" sz="1350" dirty="0"/>
          </a:p>
        </p:txBody>
      </p:sp>
      <p:sp>
        <p:nvSpPr>
          <p:cNvPr id="5" name="Shape 5"/>
          <p:cNvSpPr/>
          <p:nvPr/>
        </p:nvSpPr>
        <p:spPr>
          <a:xfrm>
            <a:off x="502920" y="1828800"/>
            <a:ext cx="5212080" cy="731520"/>
          </a:xfrm>
          <a:prstGeom prst="roundRect">
            <a:avLst>
              <a:gd name="adj" fmla="val 7500"/>
            </a:avLst>
          </a:prstGeom>
          <a:solidFill>
            <a:srgbClr val="EEF3FC"/>
          </a:solidFill>
          <a:ln/>
        </p:spPr>
        <p:txBody>
          <a:bodyPr/>
          <a:lstStyle/>
          <a:p>
            <a:endParaRPr lang="en-US"/>
          </a:p>
        </p:txBody>
      </p:sp>
      <p:sp>
        <p:nvSpPr>
          <p:cNvPr id="6" name="Text 6"/>
          <p:cNvSpPr txBox="1"/>
          <p:nvPr/>
        </p:nvSpPr>
        <p:spPr>
          <a:xfrm>
            <a:off x="667512" y="1892808"/>
            <a:ext cx="4882896" cy="292608"/>
          </a:xfrm>
          <a:prstGeom prst="rect">
            <a:avLst/>
          </a:prstGeom>
          <a:noFill/>
          <a:ln/>
        </p:spPr>
        <p:txBody>
          <a:bodyPr wrap="square" lIns="0" tIns="0" rIns="0" bIns="0" rtlCol="0" anchor="ctr"/>
          <a:lstStyle/>
          <a:p>
            <a:pPr marL="0" indent="0" algn="l">
              <a:buNone/>
            </a:pPr>
            <a:r>
              <a:rPr lang="en-US" sz="1300" b="1" dirty="0">
                <a:solidFill>
                  <a:srgbClr val="4472C4"/>
                </a:solidFill>
                <a:latin typeface="Courier New" pitchFamily="34" charset="0"/>
                <a:ea typeface="Courier New" pitchFamily="34" charset="-122"/>
                <a:cs typeface="Courier New" pitchFamily="34" charset="-120"/>
              </a:rPr>
              <a:t>BEST CASE  →  Θ(n log n)</a:t>
            </a:r>
            <a:endParaRPr lang="en-US" sz="1300" dirty="0"/>
          </a:p>
        </p:txBody>
      </p:sp>
      <p:sp>
        <p:nvSpPr>
          <p:cNvPr id="7" name="Text 7"/>
          <p:cNvSpPr txBox="1"/>
          <p:nvPr/>
        </p:nvSpPr>
        <p:spPr>
          <a:xfrm>
            <a:off x="667512" y="2212848"/>
            <a:ext cx="4882896" cy="301752"/>
          </a:xfrm>
          <a:prstGeom prst="rect">
            <a:avLst/>
          </a:prstGeom>
          <a:noFill/>
          <a:ln/>
        </p:spPr>
        <p:txBody>
          <a:bodyPr wrap="square" lIns="0" tIns="0" rIns="0" bIns="0" rtlCol="0" anchor="ctr"/>
          <a:lstStyle/>
          <a:p>
            <a:pPr marL="0" indent="0" algn="l">
              <a:buNone/>
            </a:pPr>
            <a:r>
              <a:rPr lang="en-US" sz="1050" dirty="0">
                <a:solidFill>
                  <a:srgbClr val="333F50"/>
                </a:solidFill>
                <a:latin typeface="Calibri" pitchFamily="34" charset="0"/>
                <a:ea typeface="Calibri" pitchFamily="34" charset="-122"/>
                <a:cs typeface="Calibri" pitchFamily="34" charset="-120"/>
              </a:rPr>
              <a:t>Even a pre-sorted array still splits all the way down and merges every level.</a:t>
            </a:r>
            <a:endParaRPr lang="en-US" sz="1050" dirty="0"/>
          </a:p>
        </p:txBody>
      </p:sp>
      <p:sp>
        <p:nvSpPr>
          <p:cNvPr id="8" name="Shape 8"/>
          <p:cNvSpPr/>
          <p:nvPr/>
        </p:nvSpPr>
        <p:spPr>
          <a:xfrm>
            <a:off x="502920" y="2670048"/>
            <a:ext cx="5212080" cy="731520"/>
          </a:xfrm>
          <a:prstGeom prst="roundRect">
            <a:avLst>
              <a:gd name="adj" fmla="val 7500"/>
            </a:avLst>
          </a:prstGeom>
          <a:solidFill>
            <a:srgbClr val="EEF3FC"/>
          </a:solidFill>
          <a:ln/>
        </p:spPr>
        <p:txBody>
          <a:bodyPr/>
          <a:lstStyle/>
          <a:p>
            <a:endParaRPr lang="en-US"/>
          </a:p>
        </p:txBody>
      </p:sp>
      <p:sp>
        <p:nvSpPr>
          <p:cNvPr id="9" name="Text 9"/>
          <p:cNvSpPr txBox="1"/>
          <p:nvPr/>
        </p:nvSpPr>
        <p:spPr>
          <a:xfrm>
            <a:off x="667512" y="2734056"/>
            <a:ext cx="4882896" cy="292608"/>
          </a:xfrm>
          <a:prstGeom prst="rect">
            <a:avLst/>
          </a:prstGeom>
          <a:noFill/>
          <a:ln/>
        </p:spPr>
        <p:txBody>
          <a:bodyPr wrap="square" lIns="0" tIns="0" rIns="0" bIns="0" rtlCol="0" anchor="ctr"/>
          <a:lstStyle/>
          <a:p>
            <a:pPr marL="0" indent="0" algn="l">
              <a:buNone/>
            </a:pPr>
            <a:r>
              <a:rPr lang="en-US" sz="1300" b="1" dirty="0">
                <a:solidFill>
                  <a:srgbClr val="4472C4"/>
                </a:solidFill>
                <a:latin typeface="Courier New" pitchFamily="34" charset="0"/>
                <a:ea typeface="Courier New" pitchFamily="34" charset="-122"/>
                <a:cs typeface="Courier New" pitchFamily="34" charset="-120"/>
              </a:rPr>
              <a:t>AVERAGE CASE  →  Θ(n log n)</a:t>
            </a:r>
            <a:endParaRPr lang="en-US" sz="1300" dirty="0"/>
          </a:p>
        </p:txBody>
      </p:sp>
      <p:sp>
        <p:nvSpPr>
          <p:cNvPr id="10" name="Text 10"/>
          <p:cNvSpPr txBox="1"/>
          <p:nvPr/>
        </p:nvSpPr>
        <p:spPr>
          <a:xfrm>
            <a:off x="667512" y="3054096"/>
            <a:ext cx="4882896" cy="301752"/>
          </a:xfrm>
          <a:prstGeom prst="rect">
            <a:avLst/>
          </a:prstGeom>
          <a:noFill/>
          <a:ln/>
        </p:spPr>
        <p:txBody>
          <a:bodyPr wrap="square" lIns="0" tIns="0" rIns="0" bIns="0" rtlCol="0" anchor="ctr"/>
          <a:lstStyle/>
          <a:p>
            <a:pPr marL="0" indent="0" algn="l">
              <a:buNone/>
            </a:pPr>
            <a:r>
              <a:rPr lang="en-US" sz="1050" dirty="0">
                <a:solidFill>
                  <a:srgbClr val="333F50"/>
                </a:solidFill>
                <a:latin typeface="Calibri" pitchFamily="34" charset="0"/>
                <a:ea typeface="Calibri" pitchFamily="34" charset="-122"/>
                <a:cs typeface="Calibri" pitchFamily="34" charset="-120"/>
              </a:rPr>
              <a:t>The expected cost over a random ordering of the input — no better, no worse.</a:t>
            </a:r>
            <a:endParaRPr lang="en-US" sz="1050" dirty="0"/>
          </a:p>
        </p:txBody>
      </p:sp>
      <p:sp>
        <p:nvSpPr>
          <p:cNvPr id="11" name="Shape 11"/>
          <p:cNvSpPr/>
          <p:nvPr/>
        </p:nvSpPr>
        <p:spPr>
          <a:xfrm>
            <a:off x="502920" y="3511296"/>
            <a:ext cx="5212080" cy="731520"/>
          </a:xfrm>
          <a:prstGeom prst="roundRect">
            <a:avLst>
              <a:gd name="adj" fmla="val 7500"/>
            </a:avLst>
          </a:prstGeom>
          <a:solidFill>
            <a:srgbClr val="EEF3FC"/>
          </a:solidFill>
          <a:ln/>
        </p:spPr>
        <p:txBody>
          <a:bodyPr/>
          <a:lstStyle/>
          <a:p>
            <a:endParaRPr lang="en-US"/>
          </a:p>
        </p:txBody>
      </p:sp>
      <p:sp>
        <p:nvSpPr>
          <p:cNvPr id="12" name="Text 12"/>
          <p:cNvSpPr txBox="1"/>
          <p:nvPr/>
        </p:nvSpPr>
        <p:spPr>
          <a:xfrm>
            <a:off x="667512" y="3575304"/>
            <a:ext cx="4882896" cy="292608"/>
          </a:xfrm>
          <a:prstGeom prst="rect">
            <a:avLst/>
          </a:prstGeom>
          <a:noFill/>
          <a:ln/>
        </p:spPr>
        <p:txBody>
          <a:bodyPr wrap="square" lIns="0" tIns="0" rIns="0" bIns="0" rtlCol="0" anchor="ctr"/>
          <a:lstStyle/>
          <a:p>
            <a:pPr marL="0" indent="0" algn="l">
              <a:buNone/>
            </a:pPr>
            <a:r>
              <a:rPr lang="en-US" sz="1300" b="1" dirty="0">
                <a:solidFill>
                  <a:srgbClr val="4472C4"/>
                </a:solidFill>
                <a:latin typeface="Courier New" pitchFamily="34" charset="0"/>
                <a:ea typeface="Courier New" pitchFamily="34" charset="-122"/>
                <a:cs typeface="Courier New" pitchFamily="34" charset="-120"/>
              </a:rPr>
              <a:t>WORST CASE  →  Θ(n log n)</a:t>
            </a:r>
            <a:endParaRPr lang="en-US" sz="1300" dirty="0"/>
          </a:p>
        </p:txBody>
      </p:sp>
      <p:sp>
        <p:nvSpPr>
          <p:cNvPr id="13" name="Text 13"/>
          <p:cNvSpPr txBox="1"/>
          <p:nvPr/>
        </p:nvSpPr>
        <p:spPr>
          <a:xfrm>
            <a:off x="667512" y="3895344"/>
            <a:ext cx="4882896" cy="301752"/>
          </a:xfrm>
          <a:prstGeom prst="rect">
            <a:avLst/>
          </a:prstGeom>
          <a:noFill/>
          <a:ln/>
        </p:spPr>
        <p:txBody>
          <a:bodyPr wrap="square" lIns="0" tIns="0" rIns="0" bIns="0" rtlCol="0" anchor="ctr"/>
          <a:lstStyle/>
          <a:p>
            <a:pPr marL="0" indent="0" algn="l">
              <a:buNone/>
            </a:pPr>
            <a:r>
              <a:rPr lang="en-US" sz="1050" dirty="0">
                <a:solidFill>
                  <a:srgbClr val="333F50"/>
                </a:solidFill>
                <a:latin typeface="Calibri" pitchFamily="34" charset="0"/>
                <a:ea typeface="Calibri" pitchFamily="34" charset="-122"/>
                <a:cs typeface="Calibri" pitchFamily="34" charset="-120"/>
              </a:rPr>
              <a:t>Even a reverse-sorted array costs exactly the same — there is no extra work to do.</a:t>
            </a:r>
            <a:endParaRPr lang="en-US" sz="1050" dirty="0"/>
          </a:p>
        </p:txBody>
      </p:sp>
      <p:sp>
        <p:nvSpPr>
          <p:cNvPr id="14" name="Shape 14"/>
          <p:cNvSpPr/>
          <p:nvPr/>
        </p:nvSpPr>
        <p:spPr>
          <a:xfrm>
            <a:off x="502920" y="4407408"/>
            <a:ext cx="5212080" cy="658368"/>
          </a:xfrm>
          <a:prstGeom prst="roundRect">
            <a:avLst>
              <a:gd name="adj" fmla="val 11111"/>
            </a:avLst>
          </a:prstGeom>
          <a:solidFill>
            <a:srgbClr val="1E2A44"/>
          </a:solidFill>
          <a:ln/>
        </p:spPr>
        <p:txBody>
          <a:bodyPr/>
          <a:lstStyle/>
          <a:p>
            <a:endParaRPr lang="en-US"/>
          </a:p>
        </p:txBody>
      </p:sp>
      <p:sp>
        <p:nvSpPr>
          <p:cNvPr id="15" name="Text 15"/>
          <p:cNvSpPr txBox="1"/>
          <p:nvPr/>
        </p:nvSpPr>
        <p:spPr>
          <a:xfrm>
            <a:off x="502920" y="4407408"/>
            <a:ext cx="5212080" cy="65836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No lucky inputs — all three cases match</a:t>
            </a:r>
            <a:endParaRPr lang="en-US" sz="1700" dirty="0"/>
          </a:p>
        </p:txBody>
      </p:sp>
      <p:sp>
        <p:nvSpPr>
          <p:cNvPr id="16" name="Text 16"/>
          <p:cNvSpPr txBox="1"/>
          <p:nvPr/>
        </p:nvSpPr>
        <p:spPr>
          <a:xfrm>
            <a:off x="6400800" y="1828800"/>
            <a:ext cx="5287975" cy="274320"/>
          </a:xfrm>
          <a:prstGeom prst="rect">
            <a:avLst/>
          </a:prstGeom>
          <a:noFill/>
          <a:ln/>
        </p:spPr>
        <p:txBody>
          <a:bodyPr wrap="square" lIns="0" tIns="0" rIns="0" bIns="0" rtlCol="0" anchor="ctr"/>
          <a:lstStyle/>
          <a:p>
            <a:pPr marL="0" indent="0" algn="l">
              <a:buNone/>
            </a:pPr>
            <a:r>
              <a:rPr lang="en-US" sz="1200" b="1" dirty="0">
                <a:solidFill>
                  <a:srgbClr val="1E2A44"/>
                </a:solidFill>
                <a:latin typeface="Calibri" pitchFamily="34" charset="0"/>
                <a:ea typeface="Calibri" pitchFamily="34" charset="-122"/>
                <a:cs typeface="Calibri" pitchFamily="34" charset="-120"/>
              </a:rPr>
              <a:t>Why There's No Shortcut</a:t>
            </a:r>
            <a:endParaRPr lang="en-US" sz="1200" dirty="0"/>
          </a:p>
        </p:txBody>
      </p:sp>
      <p:sp>
        <p:nvSpPr>
          <p:cNvPr id="17" name="Shape 17"/>
          <p:cNvSpPr/>
          <p:nvPr/>
        </p:nvSpPr>
        <p:spPr>
          <a:xfrm>
            <a:off x="6400800" y="2149000"/>
            <a:ext cx="5287975" cy="1550000"/>
          </a:xfrm>
          <a:prstGeom prst="roundRect">
            <a:avLst>
              <a:gd name="adj" fmla="val 7500"/>
            </a:avLst>
          </a:prstGeom>
          <a:solidFill>
            <a:srgbClr val="FBE4D5"/>
          </a:solidFill>
          <a:ln/>
        </p:spPr>
        <p:txBody>
          <a:bodyPr wrap="square" lIns="182880" tIns="91440" rIns="182880" bIns="91440" anchor="ctr"/>
          <a:lstStyle/>
          <a:p>
            <a:pPr marL="0" indent="0" algn="l">
              <a:buNone/>
            </a:pPr>
            <a:r>
              <a:rPr lang="en-US" sz="1150" dirty="0">
                <a:solidFill>
                  <a:srgbClr val="333F50"/>
                </a:solidFill>
                <a:latin typeface="Calibri" pitchFamily="34" charset="0"/>
                <a:ea typeface="Calibri" pitchFamily="34" charset="-122"/>
                <a:cs typeface="Calibri" pitchFamily="34" charset="-120"/>
              </a:rPr>
              <a:t>The merge step always walks both halves start to finish — one comparison per pair, one copy per element. There's no way to notice a subarray is already sorted and skip ahead, so this Θ(n) cost is fixed, not just typical.</a:t>
            </a:r>
            <a:endParaRPr lang="en-US" sz="1150" dirty="0"/>
          </a:p>
        </p:txBody>
      </p:sp>
      <p:sp>
        <p:nvSpPr>
          <p:cNvPr id="18" name="Text 18"/>
          <p:cNvSpPr txBox="1"/>
          <p:nvPr/>
        </p:nvSpPr>
        <p:spPr>
          <a:xfrm>
            <a:off x="6400800" y="3880000"/>
            <a:ext cx="5287975" cy="274320"/>
          </a:xfrm>
          <a:prstGeom prst="rect">
            <a:avLst/>
          </a:prstGeom>
          <a:noFill/>
          <a:ln/>
        </p:spPr>
        <p:txBody>
          <a:bodyPr wrap="square" lIns="0" tIns="0" rIns="0" bIns="0" rtlCol="0" anchor="ctr"/>
          <a:lstStyle/>
          <a:p>
            <a:pPr marL="0" indent="0" algn="l">
              <a:buNone/>
            </a:pPr>
            <a:r>
              <a:rPr lang="en-US" sz="1200" b="1" dirty="0">
                <a:solidFill>
                  <a:srgbClr val="1E2A44"/>
                </a:solidFill>
                <a:latin typeface="Calibri" pitchFamily="34" charset="0"/>
                <a:ea typeface="Calibri" pitchFamily="34" charset="-122"/>
                <a:cs typeface="Calibri" pitchFamily="34" charset="-120"/>
              </a:rPr>
              <a:t>Contrast: Insertion Sort Is Order-Sensitive</a:t>
            </a:r>
            <a:endParaRPr lang="en-US" sz="1200" dirty="0"/>
          </a:p>
        </p:txBody>
      </p:sp>
      <p:sp>
        <p:nvSpPr>
          <p:cNvPr id="19" name="Shape 19"/>
          <p:cNvSpPr/>
          <p:nvPr/>
        </p:nvSpPr>
        <p:spPr>
          <a:xfrm>
            <a:off x="6400800" y="4200000"/>
            <a:ext cx="5287975" cy="900000"/>
          </a:xfrm>
          <a:prstGeom prst="roundRect">
            <a:avLst>
              <a:gd name="adj" fmla="val 7500"/>
            </a:avLst>
          </a:prstGeom>
          <a:solidFill>
            <a:srgbClr val="EEF3FC"/>
          </a:solidFill>
          <a:ln/>
        </p:spPr>
        <p:txBody>
          <a:bodyPr wrap="square" lIns="182880" tIns="91440" rIns="182880" bIns="91440" anchor="ctr"/>
          <a:lstStyle/>
          <a:p>
            <a:pPr marL="0" indent="0" algn="l">
              <a:buNone/>
            </a:pPr>
            <a:r>
              <a:rPr lang="en-US" sz="1150" dirty="0">
                <a:solidFill>
                  <a:srgbClr val="333F50"/>
                </a:solidFill>
                <a:latin typeface="Calibri" pitchFamily="34" charset="0"/>
                <a:ea typeface="Calibri" pitchFamily="34" charset="-122"/>
                <a:cs typeface="Calibri" pitchFamily="34" charset="-120"/>
              </a:rPr>
              <a:t>Best case (nearly sorted):  </a:t>
            </a:r>
            <a:r>
              <a:rPr lang="en-US" sz="1150" b="1" dirty="0">
                <a:solidFill>
                  <a:srgbClr val="4472C4"/>
                </a:solidFill>
                <a:latin typeface="Courier New" pitchFamily="34" charset="0"/>
                <a:ea typeface="Courier New" pitchFamily="34" charset="-122"/>
                <a:cs typeface="Courier New" pitchFamily="34" charset="-120"/>
              </a:rPr>
              <a:t>Θ(n)</a:t>
            </a:r>
            <a:endParaRPr lang="en-US" sz="1150" dirty="0"/>
          </a:p>
          <a:p>
            <a:pPr marL="0" indent="0" algn="l">
              <a:buNone/>
            </a:pPr>
            <a:r>
              <a:rPr lang="en-US" sz="1150" dirty="0">
                <a:solidFill>
                  <a:srgbClr val="333F50"/>
                </a:solidFill>
                <a:latin typeface="Calibri" pitchFamily="34" charset="0"/>
                <a:ea typeface="Calibri" pitchFamily="34" charset="-122"/>
                <a:cs typeface="Calibri" pitchFamily="34" charset="-120"/>
              </a:rPr>
              <a:t>Worst case (reverse sorted):  </a:t>
            </a:r>
            <a:r>
              <a:rPr lang="en-US" sz="1150" b="1" dirty="0">
                <a:solidFill>
                  <a:srgbClr val="4472C4"/>
                </a:solidFill>
                <a:latin typeface="Courier New" pitchFamily="34" charset="0"/>
                <a:ea typeface="Courier New" pitchFamily="34" charset="-122"/>
                <a:cs typeface="Courier New" pitchFamily="34" charset="-120"/>
              </a:rPr>
              <a:t>Θ(n²)</a:t>
            </a:r>
            <a:endParaRPr lang="en-US" sz="1150" dirty="0"/>
          </a:p>
          <a:p>
            <a:pPr marL="0" indent="0" algn="l">
              <a:buNone/>
            </a:pPr>
            <a:r>
              <a:rPr lang="en-US" sz="1150" dirty="0">
                <a:solidFill>
                  <a:srgbClr val="333F50"/>
                </a:solidFill>
                <a:latin typeface="Calibri" pitchFamily="34" charset="0"/>
                <a:ea typeface="Calibri" pitchFamily="34" charset="-122"/>
                <a:cs typeface="Calibri" pitchFamily="34" charset="-120"/>
              </a:rPr>
              <a:t>A factor-of-n swing that merge sort's Θ(n log n) never has.</a:t>
            </a:r>
            <a:endParaRPr lang="en-US" sz="1150" dirty="0"/>
          </a:p>
        </p:txBody>
      </p:sp>
      <p:sp>
        <p:nvSpPr>
          <p:cNvPr id="20" name="Shape 20"/>
          <p:cNvSpPr/>
          <p:nvPr/>
        </p:nvSpPr>
        <p:spPr>
          <a:xfrm>
            <a:off x="502920" y="5349240"/>
            <a:ext cx="11185855" cy="621792"/>
          </a:xfrm>
          <a:prstGeom prst="roundRect">
            <a:avLst>
              <a:gd name="adj" fmla="val 7500"/>
            </a:avLst>
          </a:prstGeom>
          <a:solidFill>
            <a:srgbClr val="FBE4D5"/>
          </a:solidFill>
          <a:ln/>
        </p:spPr>
        <p:txBody>
          <a:bodyPr wrap="square" lIns="182880" tIns="91440" rIns="182880" bIns="91440" anchor="ctr"/>
          <a:lstStyle/>
          <a:p>
            <a:pPr marL="0" indent="0" algn="ctr">
              <a:buNone/>
            </a:pPr>
            <a:r>
              <a:rPr lang="en-US" sz="1100" dirty="0">
                <a:solidFill>
                  <a:srgbClr val="333F50"/>
                </a:solidFill>
                <a:latin typeface="Calibri" pitchFamily="34" charset="0"/>
                <a:ea typeface="Calibri" pitchFamily="34" charset="-122"/>
                <a:cs typeface="Calibri" pitchFamily="34" charset="-120"/>
              </a:rPr>
              <a:t>This guarantee is exactly why merge sort is favored when worst-case performance matters — real-time systems, external sorting — unlike quicksort, whose worst case is Θ(n²).</a:t>
            </a:r>
            <a:endParaRPr lang="en-US" sz="1100" dirty="0"/>
          </a:p>
        </p:txBody>
      </p:sp>
      <p:sp>
        <p:nvSpPr>
          <p:cNvPr id="22" name="Text 22"/>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4</a:t>
            </a:r>
            <a:endParaRPr lang="en-US" sz="850" dirty="0"/>
          </a:p>
        </p:txBody>
      </p:sp>
      <p:sp>
        <p:nvSpPr>
          <p:cNvPr id="23" name="Text 21">
            <a:extLst>
              <a:ext uri="{FF2B5EF4-FFF2-40B4-BE49-F238E27FC236}">
                <a16:creationId xmlns:a16="http://schemas.microsoft.com/office/drawing/2014/main" id="{55F45486-5E27-A1D7-DD8A-247A549C2F6E}"/>
              </a:ext>
            </a:extLst>
          </p:cNvPr>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 ·  Sep 21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02920" y="347472"/>
            <a:ext cx="10515600" cy="274320"/>
          </a:xfrm>
          <a:prstGeom prst="rect">
            <a:avLst/>
          </a:prstGeom>
          <a:noFill/>
          <a:ln/>
        </p:spPr>
        <p:txBody>
          <a:bodyPr wrap="square" lIns="0" tIns="0" rIns="0" bIns="0" rtlCol="0" anchor="ctr"/>
          <a:lstStyle/>
          <a:p>
            <a:pPr marL="0" indent="0" algn="l">
              <a:buNone/>
            </a:pPr>
            <a:r>
              <a:rPr lang="en-US" sz="1200" b="1" dirty="0">
                <a:solidFill>
                  <a:srgbClr val="C55A11"/>
                </a:solidFill>
                <a:latin typeface="Calibri" pitchFamily="34" charset="0"/>
                <a:ea typeface="Calibri" pitchFamily="34" charset="-122"/>
                <a:cs typeface="Calibri" pitchFamily="34" charset="-120"/>
              </a:rPr>
              <a:t>DIVIDE AND CONQUER</a:t>
            </a:r>
            <a:endParaRPr lang="en-US" sz="1200" dirty="0"/>
          </a:p>
        </p:txBody>
      </p:sp>
      <p:sp>
        <p:nvSpPr>
          <p:cNvPr id="3" name="Text 3"/>
          <p:cNvSpPr txBox="1"/>
          <p:nvPr/>
        </p:nvSpPr>
        <p:spPr>
          <a:xfrm>
            <a:off x="502920" y="603504"/>
            <a:ext cx="10789920" cy="566928"/>
          </a:xfrm>
          <a:prstGeom prst="rect">
            <a:avLst/>
          </a:prstGeom>
          <a:noFill/>
          <a:ln/>
        </p:spPr>
        <p:txBody>
          <a:bodyPr wrap="square" lIns="0" tIns="0" rIns="0" bIns="0" rtlCol="0" anchor="ctr"/>
          <a:lstStyle/>
          <a:p>
            <a:pPr marL="0" indent="0" algn="l">
              <a:buNone/>
            </a:pPr>
            <a:r>
              <a:rPr lang="en-US" sz="3000" b="1" dirty="0">
                <a:solidFill>
                  <a:srgbClr val="1E2A44"/>
                </a:solidFill>
                <a:latin typeface="Calibri" pitchFamily="34" charset="0"/>
                <a:ea typeface="Calibri" pitchFamily="34" charset="-122"/>
                <a:cs typeface="Calibri" pitchFamily="34" charset="-120"/>
              </a:rPr>
              <a:t>Merge Sort: Space Complexity</a:t>
            </a:r>
            <a:endParaRPr lang="en-US" sz="3000" dirty="0"/>
          </a:p>
        </p:txBody>
      </p:sp>
      <p:sp>
        <p:nvSpPr>
          <p:cNvPr id="4" name="Text 4"/>
          <p:cNvSpPr txBox="1"/>
          <p:nvPr/>
        </p:nvSpPr>
        <p:spPr>
          <a:xfrm>
            <a:off x="502920" y="1152144"/>
            <a:ext cx="10881360" cy="384048"/>
          </a:xfrm>
          <a:prstGeom prst="rect">
            <a:avLst/>
          </a:prstGeom>
          <a:noFill/>
          <a:ln/>
        </p:spPr>
        <p:txBody>
          <a:bodyPr wrap="square" lIns="0" tIns="0" rIns="0" bIns="0" rtlCol="0" anchor="ctr"/>
          <a:lstStyle/>
          <a:p>
            <a:pPr marL="0" indent="0" algn="l">
              <a:buNone/>
            </a:pPr>
            <a:r>
              <a:rPr lang="en-US" sz="1350" dirty="0">
                <a:solidFill>
                  <a:srgbClr val="595959"/>
                </a:solidFill>
                <a:latin typeface="Calibri" pitchFamily="34" charset="0"/>
                <a:ea typeface="Calibri" pitchFamily="34" charset="-122"/>
                <a:cs typeface="Calibri" pitchFamily="34" charset="-120"/>
              </a:rPr>
              <a:t>Tracking every byte: the auxiliary array and the recursion stack.</a:t>
            </a:r>
            <a:endParaRPr lang="en-US" sz="1350" dirty="0"/>
          </a:p>
        </p:txBody>
      </p:sp>
      <p:sp>
        <p:nvSpPr>
          <p:cNvPr id="5" name="Text 5"/>
          <p:cNvSpPr txBox="1"/>
          <p:nvPr/>
        </p:nvSpPr>
        <p:spPr>
          <a:xfrm>
            <a:off x="502920" y="1828800"/>
            <a:ext cx="5212080" cy="274320"/>
          </a:xfrm>
          <a:prstGeom prst="rect">
            <a:avLst/>
          </a:prstGeom>
          <a:noFill/>
          <a:ln/>
        </p:spPr>
        <p:txBody>
          <a:bodyPr wrap="square" lIns="0" tIns="0" rIns="0" bIns="0" rtlCol="0" anchor="ctr"/>
          <a:lstStyle/>
          <a:p>
            <a:pPr marL="0" indent="0" algn="l">
              <a:buNone/>
            </a:pPr>
            <a:r>
              <a:rPr lang="en-US" sz="1200" b="1" dirty="0">
                <a:solidFill>
                  <a:srgbClr val="1E2A44"/>
                </a:solidFill>
                <a:latin typeface="Calibri" pitchFamily="34" charset="0"/>
                <a:ea typeface="Calibri" pitchFamily="34" charset="-122"/>
                <a:cs typeface="Calibri" pitchFamily="34" charset="-120"/>
              </a:rPr>
              <a:t>Auxiliary Array  →  Θ(n)</a:t>
            </a:r>
            <a:endParaRPr lang="en-US" sz="1200" dirty="0"/>
          </a:p>
        </p:txBody>
      </p:sp>
      <p:sp>
        <p:nvSpPr>
          <p:cNvPr id="6" name="Shape 6"/>
          <p:cNvSpPr/>
          <p:nvPr/>
        </p:nvSpPr>
        <p:spPr>
          <a:xfrm>
            <a:off x="502920" y="2149000"/>
            <a:ext cx="5212080" cy="1550000"/>
          </a:xfrm>
          <a:prstGeom prst="roundRect">
            <a:avLst>
              <a:gd name="adj" fmla="val 7500"/>
            </a:avLst>
          </a:prstGeom>
          <a:solidFill>
            <a:srgbClr val="EEF3FC"/>
          </a:solidFill>
          <a:ln/>
        </p:spPr>
        <p:txBody>
          <a:bodyPr wrap="square" lIns="182880" tIns="91440" rIns="182880" bIns="91440" anchor="ctr"/>
          <a:lstStyle/>
          <a:p>
            <a:pPr marL="0" indent="0" algn="l">
              <a:buNone/>
            </a:pPr>
            <a:r>
              <a:rPr lang="en-US" sz="1150" dirty="0">
                <a:solidFill>
                  <a:srgbClr val="333F50"/>
                </a:solidFill>
                <a:latin typeface="Calibri" pitchFamily="34" charset="0"/>
                <a:ea typeface="Calibri" pitchFamily="34" charset="-122"/>
                <a:cs typeface="Calibri" pitchFamily="34" charset="-120"/>
              </a:rPr>
              <a:t>Merging two sorted halves back into the same array would overwrite elements not yet read. Merge sort copies both halves into a temporary buffer first, then writes the merged result back — a buffer as large as the input.</a:t>
            </a:r>
            <a:endParaRPr lang="en-US" sz="1150" dirty="0"/>
          </a:p>
        </p:txBody>
      </p:sp>
      <p:sp>
        <p:nvSpPr>
          <p:cNvPr id="7" name="Text 7"/>
          <p:cNvSpPr txBox="1"/>
          <p:nvPr/>
        </p:nvSpPr>
        <p:spPr>
          <a:xfrm>
            <a:off x="502920" y="3880000"/>
            <a:ext cx="5212080" cy="274320"/>
          </a:xfrm>
          <a:prstGeom prst="rect">
            <a:avLst/>
          </a:prstGeom>
          <a:noFill/>
          <a:ln/>
        </p:spPr>
        <p:txBody>
          <a:bodyPr wrap="square" lIns="0" tIns="0" rIns="0" bIns="0" rtlCol="0" anchor="ctr"/>
          <a:lstStyle/>
          <a:p>
            <a:pPr marL="0" indent="0" algn="l">
              <a:buNone/>
            </a:pPr>
            <a:r>
              <a:rPr lang="en-US" sz="1200" b="1" dirty="0">
                <a:solidFill>
                  <a:srgbClr val="1E2A44"/>
                </a:solidFill>
                <a:latin typeface="Calibri" pitchFamily="34" charset="0"/>
                <a:ea typeface="Calibri" pitchFamily="34" charset="-122"/>
                <a:cs typeface="Calibri" pitchFamily="34" charset="-120"/>
              </a:rPr>
              <a:t>What's Live at Once</a:t>
            </a:r>
            <a:endParaRPr lang="en-US" sz="1200" dirty="0"/>
          </a:p>
        </p:txBody>
      </p:sp>
      <p:sp>
        <p:nvSpPr>
          <p:cNvPr id="8" name="Shape 8"/>
          <p:cNvSpPr/>
          <p:nvPr/>
        </p:nvSpPr>
        <p:spPr>
          <a:xfrm>
            <a:off x="502920" y="4200000"/>
            <a:ext cx="5212080" cy="900000"/>
          </a:xfrm>
          <a:prstGeom prst="roundRect">
            <a:avLst>
              <a:gd name="adj" fmla="val 7500"/>
            </a:avLst>
          </a:prstGeom>
          <a:solidFill>
            <a:srgbClr val="EEF3FC"/>
          </a:solidFill>
          <a:ln/>
        </p:spPr>
        <p:txBody>
          <a:bodyPr wrap="square" lIns="182880" tIns="91440" rIns="182880" bIns="91440" anchor="ctr"/>
          <a:lstStyle/>
          <a:p>
            <a:pPr marL="0" indent="0" algn="l">
              <a:buNone/>
            </a:pPr>
            <a:r>
              <a:rPr lang="en-US" sz="1150" b="1" dirty="0">
                <a:solidFill>
                  <a:srgbClr val="4472C4"/>
                </a:solidFill>
                <a:latin typeface="Courier New" pitchFamily="34" charset="0"/>
                <a:ea typeface="Courier New" pitchFamily="34" charset="-122"/>
                <a:cs typeface="Courier New" pitchFamily="34" charset="-120"/>
              </a:rPr>
              <a:t>Merge(left, right):</a:t>
            </a:r>
            <a:endParaRPr lang="en-US" sz="1150" dirty="0"/>
          </a:p>
          <a:p>
            <a:pPr marL="0" indent="0" algn="l">
              <a:buNone/>
            </a:pPr>
            <a:r>
              <a:rPr lang="en-US" sz="1000" dirty="0">
                <a:solidFill>
                  <a:srgbClr val="333F50"/>
                </a:solidFill>
                <a:latin typeface="Courier New" pitchFamily="34" charset="0"/>
                <a:ea typeface="Courier New" pitchFamily="34" charset="-122"/>
                <a:cs typeface="Courier New" pitchFamily="34" charset="-120"/>
              </a:rPr>
              <a:t>  copy left and right into temp[ ]</a:t>
            </a:r>
            <a:endParaRPr lang="en-US" sz="1000" dirty="0"/>
          </a:p>
          <a:p>
            <a:pPr marL="0" indent="0" algn="l">
              <a:buNone/>
            </a:pPr>
            <a:r>
              <a:rPr lang="en-US" sz="1000" dirty="0">
                <a:solidFill>
                  <a:srgbClr val="333F50"/>
                </a:solidFill>
                <a:latin typeface="Courier New" pitchFamily="34" charset="0"/>
                <a:ea typeface="Courier New" pitchFamily="34" charset="-122"/>
                <a:cs typeface="Courier New" pitchFamily="34" charset="-120"/>
              </a:rPr>
              <a:t>  return temp[ ] as the merged result</a:t>
            </a:r>
            <a:endParaRPr lang="en-US" sz="1000" dirty="0"/>
          </a:p>
        </p:txBody>
      </p:sp>
      <p:sp>
        <p:nvSpPr>
          <p:cNvPr id="9" name="Text 9"/>
          <p:cNvSpPr txBox="1"/>
          <p:nvPr/>
        </p:nvSpPr>
        <p:spPr>
          <a:xfrm>
            <a:off x="6400800" y="1828800"/>
            <a:ext cx="5287975" cy="274320"/>
          </a:xfrm>
          <a:prstGeom prst="rect">
            <a:avLst/>
          </a:prstGeom>
          <a:noFill/>
          <a:ln/>
        </p:spPr>
        <p:txBody>
          <a:bodyPr wrap="square" lIns="0" tIns="0" rIns="0" bIns="0" rtlCol="0" anchor="ctr"/>
          <a:lstStyle/>
          <a:p>
            <a:pPr marL="0" indent="0" algn="l">
              <a:buNone/>
            </a:pPr>
            <a:r>
              <a:rPr lang="en-US" sz="1200" b="1" dirty="0">
                <a:solidFill>
                  <a:srgbClr val="1E2A44"/>
                </a:solidFill>
                <a:latin typeface="Calibri" pitchFamily="34" charset="0"/>
                <a:ea typeface="Calibri" pitchFamily="34" charset="-122"/>
                <a:cs typeface="Calibri" pitchFamily="34" charset="-120"/>
              </a:rPr>
              <a:t>Recursion Call Stack  →  Θ(log n)</a:t>
            </a:r>
            <a:endParaRPr lang="en-US" sz="1200" dirty="0"/>
          </a:p>
        </p:txBody>
      </p:sp>
      <p:sp>
        <p:nvSpPr>
          <p:cNvPr id="10" name="Shape 10"/>
          <p:cNvSpPr/>
          <p:nvPr/>
        </p:nvSpPr>
        <p:spPr>
          <a:xfrm>
            <a:off x="6400800" y="2149000"/>
            <a:ext cx="5287975" cy="1550000"/>
          </a:xfrm>
          <a:prstGeom prst="roundRect">
            <a:avLst>
              <a:gd name="adj" fmla="val 7500"/>
            </a:avLst>
          </a:prstGeom>
          <a:solidFill>
            <a:srgbClr val="FBE4D5"/>
          </a:solidFill>
          <a:ln/>
        </p:spPr>
        <p:txBody>
          <a:bodyPr wrap="square" lIns="182880" tIns="91440" rIns="182880" bIns="91440" anchor="ctr"/>
          <a:lstStyle/>
          <a:p>
            <a:pPr marL="0" indent="0" algn="l">
              <a:buNone/>
            </a:pPr>
            <a:r>
              <a:rPr lang="en-US" sz="1150" dirty="0">
                <a:solidFill>
                  <a:srgbClr val="333F50"/>
                </a:solidFill>
                <a:latin typeface="Calibri" pitchFamily="34" charset="0"/>
                <a:ea typeface="Calibri" pitchFamily="34" charset="-122"/>
                <a:cs typeface="Calibri" pitchFamily="34" charset="-120"/>
              </a:rPr>
              <a:t>Each call halves the array, so the recursion tree has ⌈log₂ n⌉ + 1 levels. Because calls run depth-first, only one root-to-leaf chain of frames sits on the stack at any moment — a stack depth of Θ(log n).</a:t>
            </a:r>
            <a:endParaRPr lang="en-US" sz="1150" dirty="0"/>
          </a:p>
        </p:txBody>
      </p:sp>
      <p:sp>
        <p:nvSpPr>
          <p:cNvPr id="11" name="Text 11"/>
          <p:cNvSpPr txBox="1"/>
          <p:nvPr/>
        </p:nvSpPr>
        <p:spPr>
          <a:xfrm>
            <a:off x="6400800" y="3880000"/>
            <a:ext cx="5287975" cy="274320"/>
          </a:xfrm>
          <a:prstGeom prst="rect">
            <a:avLst/>
          </a:prstGeom>
          <a:noFill/>
          <a:ln/>
        </p:spPr>
        <p:txBody>
          <a:bodyPr wrap="square" lIns="0" tIns="0" rIns="0" bIns="0" rtlCol="0" anchor="ctr"/>
          <a:lstStyle/>
          <a:p>
            <a:pPr marL="0" indent="0" algn="l">
              <a:buNone/>
            </a:pPr>
            <a:r>
              <a:rPr lang="en-US" sz="1200" b="1" dirty="0">
                <a:solidFill>
                  <a:srgbClr val="1E2A44"/>
                </a:solidFill>
                <a:latin typeface="Calibri" pitchFamily="34" charset="0"/>
                <a:ea typeface="Calibri" pitchFamily="34" charset="-122"/>
                <a:cs typeface="Calibri" pitchFamily="34" charset="-120"/>
              </a:rPr>
              <a:t>Worked Example</a:t>
            </a:r>
            <a:endParaRPr lang="en-US" sz="1200" dirty="0"/>
          </a:p>
        </p:txBody>
      </p:sp>
      <p:sp>
        <p:nvSpPr>
          <p:cNvPr id="12" name="Shape 12"/>
          <p:cNvSpPr/>
          <p:nvPr/>
        </p:nvSpPr>
        <p:spPr>
          <a:xfrm>
            <a:off x="6400800" y="4200000"/>
            <a:ext cx="5287975" cy="900000"/>
          </a:xfrm>
          <a:prstGeom prst="roundRect">
            <a:avLst>
              <a:gd name="adj" fmla="val 7500"/>
            </a:avLst>
          </a:prstGeom>
          <a:solidFill>
            <a:srgbClr val="FBE4D5"/>
          </a:solidFill>
          <a:ln/>
        </p:spPr>
        <p:txBody>
          <a:bodyPr wrap="square" lIns="182880" tIns="91440" rIns="182880" bIns="91440" anchor="ctr"/>
          <a:lstStyle/>
          <a:p>
            <a:pPr marL="0" indent="0" algn="ctr">
              <a:buNone/>
            </a:pPr>
            <a:r>
              <a:rPr lang="en-US" sz="1150" b="1" dirty="0">
                <a:solidFill>
                  <a:srgbClr val="4472C4"/>
                </a:solidFill>
                <a:latin typeface="Courier New" pitchFamily="34" charset="0"/>
                <a:ea typeface="Courier New" pitchFamily="34" charset="-122"/>
                <a:cs typeface="Courier New" pitchFamily="34" charset="-120"/>
              </a:rPr>
              <a:t>n = 8  →  depth = log₂ 8 + 1</a:t>
            </a:r>
            <a:endParaRPr lang="en-US" sz="1150" dirty="0"/>
          </a:p>
          <a:p>
            <a:pPr marL="0" indent="0" algn="ctr">
              <a:buNone/>
            </a:pPr>
            <a:r>
              <a:rPr lang="en-US" sz="1150" b="1" dirty="0">
                <a:solidFill>
                  <a:srgbClr val="4472C4"/>
                </a:solidFill>
                <a:latin typeface="Courier New" pitchFamily="34" charset="0"/>
                <a:ea typeface="Courier New" pitchFamily="34" charset="-122"/>
                <a:cs typeface="Courier New" pitchFamily="34" charset="-120"/>
              </a:rPr>
              <a:t>= 4 stack frames</a:t>
            </a:r>
            <a:endParaRPr lang="en-US" sz="1150" dirty="0"/>
          </a:p>
        </p:txBody>
      </p:sp>
      <p:sp>
        <p:nvSpPr>
          <p:cNvPr id="13" name="Shape 13"/>
          <p:cNvSpPr/>
          <p:nvPr/>
        </p:nvSpPr>
        <p:spPr>
          <a:xfrm>
            <a:off x="502920" y="5280000"/>
            <a:ext cx="11185855" cy="620000"/>
          </a:xfrm>
          <a:prstGeom prst="roundRect">
            <a:avLst>
              <a:gd name="adj" fmla="val 11111"/>
            </a:avLst>
          </a:prstGeom>
          <a:solidFill>
            <a:srgbClr val="1E2A44"/>
          </a:solidFill>
          <a:ln/>
        </p:spPr>
        <p:txBody>
          <a:bodyPr/>
          <a:lstStyle/>
          <a:p>
            <a:endParaRPr lang="en-US"/>
          </a:p>
        </p:txBody>
      </p:sp>
      <p:sp>
        <p:nvSpPr>
          <p:cNvPr id="14" name="Text 14"/>
          <p:cNvSpPr txBox="1"/>
          <p:nvPr/>
        </p:nvSpPr>
        <p:spPr>
          <a:xfrm>
            <a:off x="502920" y="5280000"/>
            <a:ext cx="11185855" cy="6200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Total space:  Θ(n) + Θ(log n) = Θ(n)  — the auxiliary array dominates</a:t>
            </a:r>
            <a:endParaRPr lang="en-US" sz="1700" dirty="0"/>
          </a:p>
        </p:txBody>
      </p:sp>
      <p:sp>
        <p:nvSpPr>
          <p:cNvPr id="15" name="Text 15"/>
          <p:cNvSpPr txBox="1"/>
          <p:nvPr/>
        </p:nvSpPr>
        <p:spPr>
          <a:xfrm>
            <a:off x="502920" y="6000000"/>
            <a:ext cx="11185855" cy="330000"/>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Unlike bubble, insertion, and selection sort's Θ(1) space, merge sort trades memory for its guaranteed Θ(n log n) runtime — a classic time–space tradeoff.</a:t>
            </a:r>
            <a:endParaRPr lang="en-US" sz="1100" dirty="0"/>
          </a:p>
        </p:txBody>
      </p:sp>
      <p:sp>
        <p:nvSpPr>
          <p:cNvPr id="17" name="Text 17"/>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a:t>
            </a:r>
            <a:endParaRPr lang="en-US" sz="850" dirty="0"/>
          </a:p>
        </p:txBody>
      </p:sp>
      <p:sp>
        <p:nvSpPr>
          <p:cNvPr id="18" name="Text 21">
            <a:extLst>
              <a:ext uri="{FF2B5EF4-FFF2-40B4-BE49-F238E27FC236}">
                <a16:creationId xmlns:a16="http://schemas.microsoft.com/office/drawing/2014/main" id="{A8FFE4EC-C2F5-A058-2007-CF606AFF4D72}"/>
              </a:ext>
            </a:extLst>
          </p:cNvPr>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 ·  Sep 21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COMING UP</a:t>
            </a:r>
            <a:endParaRPr lang="en-US" sz="1200" dirty="0"/>
          </a:p>
        </p:txBody>
      </p:sp>
      <p:sp>
        <p:nvSpPr>
          <p:cNvPr id="3" name="Text 1"/>
          <p:cNvSpPr txBox="1"/>
          <p:nvPr/>
        </p:nvSpPr>
        <p:spPr>
          <a:xfrm>
            <a:off x="502920" y="603504"/>
            <a:ext cx="10789920" cy="566928"/>
          </a:xfrm>
          <a:prstGeom prst="rect">
            <a:avLst/>
          </a:prstGeom>
          <a:noFill/>
          <a:ln/>
        </p:spPr>
        <p:txBody>
          <a:bodyPr wrap="square" lIns="0" tIns="0" rIns="0" bIns="0" rtlCol="0" anchor="ctr"/>
          <a:lstStyle/>
          <a:p>
            <a:pPr marL="0" indent="0">
              <a:buNone/>
            </a:pPr>
            <a:r>
              <a:rPr lang="en-US" sz="3000" b="1" dirty="0">
                <a:solidFill>
                  <a:srgbClr val="1E2A44"/>
                </a:solidFill>
                <a:latin typeface="Calibri" pitchFamily="34" charset="0"/>
                <a:ea typeface="Calibri" pitchFamily="34" charset="-122"/>
                <a:cs typeface="Calibri" pitchFamily="34" charset="-120"/>
              </a:rPr>
              <a:t>From Theory to Practice: Tracing Merge Sort by Hand</a:t>
            </a:r>
            <a:endParaRPr lang="en-US" sz="3000" dirty="0"/>
          </a:p>
        </p:txBody>
      </p:sp>
      <p:sp>
        <p:nvSpPr>
          <p:cNvPr id="4" name="Text 2"/>
          <p:cNvSpPr txBox="1"/>
          <p:nvPr/>
        </p:nvSpPr>
        <p:spPr>
          <a:xfrm>
            <a:off x="502920" y="1152144"/>
            <a:ext cx="10881360" cy="384048"/>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A quick recap before we work through a full example together.</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4212443388"/>
              </p:ext>
            </p:extLst>
          </p:nvPr>
        </p:nvGraphicFramePr>
        <p:xfrm>
          <a:off x="502920" y="1828800"/>
          <a:ext cx="11091672" cy="2249423"/>
        </p:xfrm>
        <a:graphic>
          <a:graphicData uri="http://schemas.openxmlformats.org/drawingml/2006/table">
            <a:tbl>
              <a:tblPr/>
              <a:tblGrid>
                <a:gridCol w="25603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418035">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Algorithm</a:t>
                      </a:r>
                      <a:endParaRPr lang="en-US" sz="12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Recurrence</a:t>
                      </a:r>
                      <a:endParaRPr lang="en-US" sz="12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Worst Case</a:t>
                      </a:r>
                      <a:endParaRPr lang="en-US" sz="12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Space</a:t>
                      </a:r>
                      <a:endParaRPr lang="en-US" sz="125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extLst>
                  <a:ext uri="{0D108BD9-81ED-4DB2-BD59-A6C34878D82A}">
                    <a16:rowId xmlns:a16="http://schemas.microsoft.com/office/drawing/2014/main" val="10000"/>
                  </a:ext>
                </a:extLst>
              </a:tr>
              <a:tr h="457847">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Bubble Sort</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 (iterative, nested loops)</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b="1" dirty="0">
                          <a:solidFill>
                            <a:srgbClr val="333F50"/>
                          </a:solidFill>
                          <a:latin typeface="Calibri" pitchFamily="34" charset="0"/>
                          <a:ea typeface="Calibri" pitchFamily="34" charset="-122"/>
                          <a:cs typeface="Calibri" pitchFamily="34" charset="-120"/>
                        </a:rPr>
                        <a:t>Θ(n²)</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57847">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Insertion Sort</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 (iterative, nested loops)</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b="1" dirty="0">
                          <a:solidFill>
                            <a:srgbClr val="333F50"/>
                          </a:solidFill>
                          <a:latin typeface="Calibri" pitchFamily="34" charset="0"/>
                          <a:ea typeface="Calibri" pitchFamily="34" charset="-122"/>
                          <a:cs typeface="Calibri" pitchFamily="34" charset="-120"/>
                        </a:rPr>
                        <a:t>Θ(n²)</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57847">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Selection Sort</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 (iterative, nested loops)</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b="1" dirty="0">
                          <a:solidFill>
                            <a:srgbClr val="333F50"/>
                          </a:solidFill>
                          <a:latin typeface="Calibri" pitchFamily="34" charset="0"/>
                          <a:ea typeface="Calibri" pitchFamily="34" charset="-122"/>
                          <a:cs typeface="Calibri" pitchFamily="34" charset="-120"/>
                        </a:rPr>
                        <a:t>Θ(n²)</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57847">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Merge Sort</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T(n) = 2T(n/2) + Θ(n)</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b="1" dirty="0">
                          <a:solidFill>
                            <a:srgbClr val="4472C4"/>
                          </a:solidFill>
                          <a:latin typeface="Calibri" pitchFamily="34" charset="0"/>
                          <a:ea typeface="Calibri" pitchFamily="34" charset="-122"/>
                          <a:cs typeface="Calibri" pitchFamily="34" charset="-120"/>
                        </a:rPr>
                        <a:t>Θ(n log n)</a:t>
                      </a:r>
                      <a:endParaRPr lang="en-US" sz="1200" dirty="0">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200" b="1" dirty="0">
                          <a:solidFill>
                            <a:schemeClr val="accent1"/>
                          </a:solidFill>
                          <a:latin typeface="Calibri" pitchFamily="34" charset="0"/>
                          <a:ea typeface="Calibri" pitchFamily="34" charset="-122"/>
                          <a:cs typeface="Calibri" pitchFamily="34" charset="-120"/>
                        </a:rPr>
                        <a:t>O(n)</a:t>
                      </a:r>
                      <a:endParaRPr lang="en-US" sz="1200" b="1" dirty="0">
                        <a:solidFill>
                          <a:schemeClr val="accent1"/>
                        </a:solidFill>
                        <a:latin typeface="Calibri" charset="0"/>
                        <a:ea typeface="Calibri" charset="0"/>
                        <a:cs typeface="Calibri"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502920" y="4512563"/>
            <a:ext cx="11185855" cy="1600200"/>
          </a:xfrm>
          <a:prstGeom prst="roundRect">
            <a:avLst>
              <a:gd name="adj" fmla="val 5714"/>
            </a:avLst>
          </a:prstGeom>
          <a:solidFill>
            <a:schemeClr val="accent1">
              <a:lumMod val="20000"/>
              <a:lumOff val="80000"/>
            </a:schemeClr>
          </a:solidFill>
          <a:ln/>
        </p:spPr>
        <p:txBody>
          <a:bodyPr/>
          <a:lstStyle/>
          <a:p>
            <a:endParaRPr lang="en-US"/>
          </a:p>
        </p:txBody>
      </p:sp>
      <p:sp>
        <p:nvSpPr>
          <p:cNvPr id="7" name="Text 4"/>
          <p:cNvSpPr txBox="1"/>
          <p:nvPr/>
        </p:nvSpPr>
        <p:spPr>
          <a:xfrm>
            <a:off x="777240" y="4567427"/>
            <a:ext cx="5486400" cy="27432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Calibri" pitchFamily="34" charset="0"/>
                <a:ea typeface="Calibri" pitchFamily="34" charset="-122"/>
                <a:cs typeface="Calibri" pitchFamily="34" charset="-120"/>
              </a:rPr>
              <a:t>UP NEXT</a:t>
            </a:r>
            <a:endParaRPr lang="en-US" sz="1100" dirty="0">
              <a:solidFill>
                <a:schemeClr val="accent2"/>
              </a:solidFill>
            </a:endParaRPr>
          </a:p>
        </p:txBody>
      </p:sp>
      <p:sp>
        <p:nvSpPr>
          <p:cNvPr id="8" name="Text 5"/>
          <p:cNvSpPr txBox="1"/>
          <p:nvPr/>
        </p:nvSpPr>
        <p:spPr>
          <a:xfrm>
            <a:off x="777240" y="4872556"/>
            <a:ext cx="10637215" cy="548640"/>
          </a:xfrm>
          <a:prstGeom prst="rect">
            <a:avLst/>
          </a:prstGeom>
          <a:noFill/>
          <a:ln/>
        </p:spPr>
        <p:txBody>
          <a:bodyPr wrap="square" lIns="0" tIns="0" rIns="0" bIns="0" rtlCol="0" anchor="ctr"/>
          <a:lstStyle/>
          <a:p>
            <a:pPr marL="0" indent="0">
              <a:buNone/>
            </a:pPr>
            <a:r>
              <a:rPr lang="en-US" sz="1400" dirty="0">
                <a:solidFill>
                  <a:schemeClr val="tx1">
                    <a:lumMod val="75000"/>
                    <a:lumOff val="25000"/>
                  </a:schemeClr>
                </a:solidFill>
                <a:latin typeface="Calibri" pitchFamily="34" charset="0"/>
                <a:ea typeface="Calibri" pitchFamily="34" charset="-122"/>
                <a:cs typeface="Calibri" pitchFamily="34" charset="-120"/>
              </a:rPr>
              <a:t>Pick an unsorted array and trace every divide, conquer, and merge step by hand — connecting each recursive call back to today's recurrence.</a:t>
            </a:r>
            <a:endParaRPr lang="en-US" sz="1400" dirty="0">
              <a:solidFill>
                <a:schemeClr val="tx1">
                  <a:lumMod val="75000"/>
                  <a:lumOff val="25000"/>
                </a:schemeClr>
              </a:solidFill>
            </a:endParaRPr>
          </a:p>
        </p:txBody>
      </p:sp>
      <p:sp>
        <p:nvSpPr>
          <p:cNvPr id="10" name="Text 7"/>
          <p:cNvSpPr txBox="1"/>
          <p:nvPr/>
        </p:nvSpPr>
        <p:spPr>
          <a:xfrm>
            <a:off x="777240" y="5488686"/>
            <a:ext cx="4754880" cy="502920"/>
          </a:xfrm>
          <a:prstGeom prst="rect">
            <a:avLst/>
          </a:prstGeom>
          <a:solidFill>
            <a:schemeClr val="accent1">
              <a:lumMod val="40000"/>
              <a:lumOff val="60000"/>
            </a:schemeClr>
          </a:solidFill>
          <a:ln/>
        </p:spPr>
        <p:txBody>
          <a:bodyPr wrap="square" lIns="0" tIns="0" rIns="0" bIns="0" rtlCol="0" anchor="ctr"/>
          <a:lstStyle/>
          <a:p>
            <a:pPr marL="0" indent="0" algn="ctr">
              <a:buNone/>
            </a:pPr>
            <a:r>
              <a:rPr lang="en-US" sz="1300" b="1" dirty="0">
                <a:latin typeface="Courier New" pitchFamily="34" charset="0"/>
                <a:ea typeface="Courier New" pitchFamily="34" charset="-122"/>
                <a:cs typeface="Courier New" pitchFamily="34" charset="-120"/>
              </a:rPr>
              <a:t>Example array:  [ 6, 4, 3, 8, 1, 5, 2, 7]</a:t>
            </a:r>
            <a:endParaRPr lang="en-US" sz="1300" dirty="0"/>
          </a:p>
        </p:txBody>
      </p:sp>
      <p:sp>
        <p:nvSpPr>
          <p:cNvPr id="12" name="Text 9"/>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6</a:t>
            </a:r>
            <a:endParaRPr lang="en-US" sz="850" dirty="0"/>
          </a:p>
        </p:txBody>
      </p:sp>
      <p:grpSp>
        <p:nvGrpSpPr>
          <p:cNvPr id="22" name="Group 21">
            <a:extLst>
              <a:ext uri="{FF2B5EF4-FFF2-40B4-BE49-F238E27FC236}">
                <a16:creationId xmlns:a16="http://schemas.microsoft.com/office/drawing/2014/main" id="{14F24D07-7FDE-164C-6D18-CF178F93194A}"/>
              </a:ext>
            </a:extLst>
          </p:cNvPr>
          <p:cNvGrpSpPr/>
          <p:nvPr/>
        </p:nvGrpSpPr>
        <p:grpSpPr>
          <a:xfrm>
            <a:off x="9575515" y="2128034"/>
            <a:ext cx="2616485" cy="1519291"/>
            <a:chOff x="9575515" y="2128034"/>
            <a:chExt cx="2616485" cy="1519291"/>
          </a:xfrm>
        </p:grpSpPr>
        <p:sp>
          <p:nvSpPr>
            <p:cNvPr id="5" name="Cloud 4">
              <a:extLst>
                <a:ext uri="{FF2B5EF4-FFF2-40B4-BE49-F238E27FC236}">
                  <a16:creationId xmlns:a16="http://schemas.microsoft.com/office/drawing/2014/main" id="{CF400CD2-6EF8-46A1-7258-255013B21027}"/>
                </a:ext>
              </a:extLst>
            </p:cNvPr>
            <p:cNvSpPr/>
            <p:nvPr/>
          </p:nvSpPr>
          <p:spPr>
            <a:xfrm>
              <a:off x="9945384" y="2128034"/>
              <a:ext cx="2246616" cy="1519291"/>
            </a:xfrm>
            <a:prstGeom prst="cloud">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Performs sorting </a:t>
              </a:r>
              <a:r>
                <a:rPr lang="en-US" sz="1200" b="1" i="1" dirty="0">
                  <a:solidFill>
                    <a:schemeClr val="accent2"/>
                  </a:solidFill>
                </a:rPr>
                <a:t>In place</a:t>
              </a:r>
              <a:r>
                <a:rPr lang="en-US" sz="1200" dirty="0">
                  <a:solidFill>
                    <a:schemeClr val="tx1"/>
                  </a:solidFill>
                </a:rPr>
                <a:t> - additional constant space needed is independent of input size n</a:t>
              </a:r>
            </a:p>
          </p:txBody>
        </p:sp>
        <p:cxnSp>
          <p:nvCxnSpPr>
            <p:cNvPr id="16" name="Straight Arrow Connector 15">
              <a:extLst>
                <a:ext uri="{FF2B5EF4-FFF2-40B4-BE49-F238E27FC236}">
                  <a16:creationId xmlns:a16="http://schemas.microsoft.com/office/drawing/2014/main" id="{EAB942D1-1F95-D64B-4963-00194F6EFE33}"/>
                </a:ext>
              </a:extLst>
            </p:cNvPr>
            <p:cNvCxnSpPr>
              <a:cxnSpLocks/>
            </p:cNvCxnSpPr>
            <p:nvPr/>
          </p:nvCxnSpPr>
          <p:spPr>
            <a:xfrm flipH="1" flipV="1">
              <a:off x="9575515" y="2578813"/>
              <a:ext cx="369869" cy="241377"/>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BB8AD1-2653-2978-7424-974808E01A24}"/>
                </a:ext>
              </a:extLst>
            </p:cNvPr>
            <p:cNvCxnSpPr>
              <a:cxnSpLocks/>
              <a:stCxn id="5" idx="2"/>
            </p:cNvCxnSpPr>
            <p:nvPr/>
          </p:nvCxnSpPr>
          <p:spPr>
            <a:xfrm flipH="1">
              <a:off x="9606338" y="2887680"/>
              <a:ext cx="346015" cy="135747"/>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5FD9FB8-0B56-BF84-6B27-69EA77F1CA73}"/>
                </a:ext>
              </a:extLst>
            </p:cNvPr>
            <p:cNvCxnSpPr>
              <a:cxnSpLocks/>
              <a:stCxn id="5" idx="2"/>
            </p:cNvCxnSpPr>
            <p:nvPr/>
          </p:nvCxnSpPr>
          <p:spPr>
            <a:xfrm flipH="1">
              <a:off x="9606337" y="2887680"/>
              <a:ext cx="346016" cy="527781"/>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 21">
            <a:extLst>
              <a:ext uri="{FF2B5EF4-FFF2-40B4-BE49-F238E27FC236}">
                <a16:creationId xmlns:a16="http://schemas.microsoft.com/office/drawing/2014/main" id="{81098D2E-A138-4EE1-1B0D-5F062B056C5F}"/>
              </a:ext>
            </a:extLst>
          </p:cNvPr>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 ·  Sep 21</a:t>
            </a:r>
            <a:endParaRPr lang="en-US" sz="8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02920" y="320000"/>
            <a:ext cx="11185855" cy="480000"/>
          </a:xfrm>
          <a:prstGeom prst="rect">
            <a:avLst/>
          </a:prstGeom>
          <a:noFill/>
          <a:ln/>
        </p:spPr>
        <p:txBody>
          <a:bodyPr wrap="square" lIns="0" tIns="0" rIns="0" bIns="0" rtlCol="0" anchor="ctr"/>
          <a:lstStyle/>
          <a:p>
            <a:pPr marL="0" indent="0" algn="ctr">
              <a:buNone/>
            </a:pPr>
            <a:r>
              <a:rPr lang="en-US" sz="2600" b="1" dirty="0">
                <a:solidFill>
                  <a:srgbClr val="1E2A44"/>
                </a:solidFill>
                <a:latin typeface="Calibri" pitchFamily="34" charset="0"/>
                <a:ea typeface="Calibri" pitchFamily="34" charset="-122"/>
                <a:cs typeface="Calibri" pitchFamily="34" charset="-120"/>
              </a:rPr>
              <a:t>Tracing MergeSort: Divide Down, Then Merge Back Up</a:t>
            </a:r>
            <a:endParaRPr lang="en-US" sz="2600" dirty="0"/>
          </a:p>
        </p:txBody>
      </p:sp>
      <p:sp>
        <p:nvSpPr>
          <p:cNvPr id="3" name="Text 3"/>
          <p:cNvSpPr txBox="1"/>
          <p:nvPr/>
        </p:nvSpPr>
        <p:spPr>
          <a:xfrm>
            <a:off x="502920" y="850000"/>
            <a:ext cx="11185855" cy="320000"/>
          </a:xfrm>
          <a:prstGeom prst="rect">
            <a:avLst/>
          </a:prstGeom>
          <a:noFill/>
          <a:ln/>
        </p:spPr>
        <p:txBody>
          <a:bodyPr wrap="square" lIns="0" tIns="0" rIns="0" bIns="0" rtlCol="0" anchor="ctr"/>
          <a:lstStyle/>
          <a:p>
            <a:pPr marL="0" indent="0" algn="ctr">
              <a:buNone/>
            </a:pPr>
            <a:r>
              <a:rPr lang="en-US" sz="1250" dirty="0">
                <a:solidFill>
                  <a:srgbClr val="595959"/>
                </a:solidFill>
                <a:latin typeface="Calibri" pitchFamily="34" charset="0"/>
                <a:ea typeface="Calibri" pitchFamily="34" charset="-122"/>
                <a:cs typeface="Calibri" pitchFamily="34" charset="-120"/>
              </a:rPr>
              <a:t>Same array as before:  </a:t>
            </a:r>
            <a:r>
              <a:rPr lang="en-US" sz="1250" b="1" dirty="0">
                <a:solidFill>
                  <a:srgbClr val="4472C4"/>
                </a:solidFill>
                <a:latin typeface="Courier New" pitchFamily="34" charset="0"/>
                <a:ea typeface="Courier New" pitchFamily="34" charset="-122"/>
                <a:cs typeface="Courier New" pitchFamily="34" charset="-120"/>
              </a:rPr>
              <a:t>[6, 4, 3, 8, 1, 5, 2, 7]</a:t>
            </a:r>
            <a:endParaRPr lang="en-US" sz="1250" dirty="0"/>
          </a:p>
        </p:txBody>
      </p:sp>
      <p:sp>
        <p:nvSpPr>
          <p:cNvPr id="4" name="Text 4"/>
          <p:cNvSpPr txBox="1"/>
          <p:nvPr/>
        </p:nvSpPr>
        <p:spPr>
          <a:xfrm>
            <a:off x="502920" y="1500000"/>
            <a:ext cx="5212080" cy="300000"/>
          </a:xfrm>
          <a:prstGeom prst="rect">
            <a:avLst/>
          </a:prstGeom>
          <a:noFill/>
          <a:ln/>
        </p:spPr>
        <p:txBody>
          <a:bodyPr wrap="square" lIns="0" tIns="0" rIns="0" bIns="0" rtlCol="0" anchor="ctr"/>
          <a:lstStyle/>
          <a:p>
            <a:pPr marL="0" indent="0" algn="l">
              <a:buNone/>
            </a:pPr>
            <a:r>
              <a:rPr lang="en-US" sz="1300" b="1" dirty="0">
                <a:solidFill>
                  <a:srgbClr val="1E2A44"/>
                </a:solidFill>
                <a:latin typeface="Calibri" pitchFamily="34" charset="0"/>
                <a:ea typeface="Calibri" pitchFamily="34" charset="-122"/>
                <a:cs typeface="Calibri" pitchFamily="34" charset="-120"/>
              </a:rPr>
              <a:t>Phase 1 : Divide - Going Down The Call Stack</a:t>
            </a:r>
            <a:endParaRPr lang="en-US" sz="1300" dirty="0"/>
          </a:p>
        </p:txBody>
      </p:sp>
      <p:sp>
        <p:nvSpPr>
          <p:cNvPr id="5" name="Shape 5"/>
          <p:cNvSpPr/>
          <p:nvPr/>
        </p:nvSpPr>
        <p:spPr>
          <a:xfrm>
            <a:off x="502920" y="1870000"/>
            <a:ext cx="5212080" cy="480000"/>
          </a:xfrm>
          <a:prstGeom prst="roundRect">
            <a:avLst>
              <a:gd name="adj" fmla="val 7500"/>
            </a:avLst>
          </a:prstGeom>
          <a:solidFill>
            <a:srgbClr val="EEF3FC"/>
          </a:solidFill>
          <a:ln/>
        </p:spPr>
        <p:txBody>
          <a:bodyPr wrap="square" lIns="182880" tIns="91440" rIns="182880" bIns="91440" anchor="ctr"/>
          <a:lstStyle/>
          <a:p>
            <a:pPr marL="0" indent="0" algn="ctr">
              <a:buNone/>
            </a:pPr>
            <a:r>
              <a:rPr lang="en-US" sz="1150" b="1" dirty="0">
                <a:solidFill>
                  <a:srgbClr val="4472C4"/>
                </a:solidFill>
                <a:latin typeface="Courier New" pitchFamily="34" charset="0"/>
                <a:ea typeface="Courier New" pitchFamily="34" charset="-122"/>
                <a:cs typeface="Courier New" pitchFamily="34" charset="-120"/>
              </a:rPr>
              <a:t>MergeSort([6,4,3,8,1,5,2,7])</a:t>
            </a:r>
            <a:endParaRPr lang="en-US" sz="1150" dirty="0"/>
          </a:p>
        </p:txBody>
      </p:sp>
      <p:sp>
        <p:nvSpPr>
          <p:cNvPr id="6" name="Text 6"/>
          <p:cNvSpPr txBox="1"/>
          <p:nvPr/>
        </p:nvSpPr>
        <p:spPr>
          <a:xfrm>
            <a:off x="502920" y="2350000"/>
            <a:ext cx="5212080" cy="190000"/>
          </a:xfrm>
          <a:prstGeom prst="rect">
            <a:avLst/>
          </a:prstGeom>
          <a:noFill/>
          <a:ln/>
        </p:spPr>
        <p:txBody>
          <a:bodyPr wrap="square" lIns="0" tIns="0" rIns="0" bIns="0" rtlCol="0" anchor="ctr"/>
          <a:lstStyle/>
          <a:p>
            <a:pPr marL="0" indent="0" algn="ctr">
              <a:buNone/>
            </a:pPr>
            <a:r>
              <a:rPr lang="en-US" sz="1000" dirty="0">
                <a:solidFill>
                  <a:srgbClr val="595959"/>
                </a:solidFill>
                <a:latin typeface="Calibri" pitchFamily="34" charset="0"/>
                <a:ea typeface="Calibri" pitchFamily="34" charset="-122"/>
                <a:cs typeface="Calibri" pitchFamily="34" charset="-120"/>
              </a:rPr>
              <a:t>↓  calls</a:t>
            </a:r>
            <a:endParaRPr lang="en-US" sz="1000" dirty="0"/>
          </a:p>
        </p:txBody>
      </p:sp>
      <p:sp>
        <p:nvSpPr>
          <p:cNvPr id="7" name="Shape 7"/>
          <p:cNvSpPr/>
          <p:nvPr/>
        </p:nvSpPr>
        <p:spPr>
          <a:xfrm>
            <a:off x="502920" y="2540000"/>
            <a:ext cx="5212080" cy="480000"/>
          </a:xfrm>
          <a:prstGeom prst="roundRect">
            <a:avLst>
              <a:gd name="adj" fmla="val 7500"/>
            </a:avLst>
          </a:prstGeom>
          <a:solidFill>
            <a:srgbClr val="EEF3FC"/>
          </a:solidFill>
          <a:ln/>
        </p:spPr>
        <p:txBody>
          <a:bodyPr wrap="square" lIns="182880" tIns="91440" rIns="182880" bIns="91440" anchor="ctr"/>
          <a:lstStyle/>
          <a:p>
            <a:pPr marL="0" indent="0" algn="ctr">
              <a:buNone/>
            </a:pPr>
            <a:r>
              <a:rPr lang="en-US" sz="1150" b="1" dirty="0">
                <a:solidFill>
                  <a:srgbClr val="4472C4"/>
                </a:solidFill>
                <a:latin typeface="Courier New" pitchFamily="34" charset="0"/>
                <a:ea typeface="Courier New" pitchFamily="34" charset="-122"/>
                <a:cs typeface="Courier New" pitchFamily="34" charset="-120"/>
              </a:rPr>
              <a:t>MergeSort([6,4,3,8])</a:t>
            </a:r>
            <a:endParaRPr lang="en-US" sz="1150" dirty="0"/>
          </a:p>
        </p:txBody>
      </p:sp>
      <p:sp>
        <p:nvSpPr>
          <p:cNvPr id="8" name="Text 8"/>
          <p:cNvSpPr txBox="1"/>
          <p:nvPr/>
        </p:nvSpPr>
        <p:spPr>
          <a:xfrm>
            <a:off x="502920" y="3020000"/>
            <a:ext cx="5212080" cy="190000"/>
          </a:xfrm>
          <a:prstGeom prst="rect">
            <a:avLst/>
          </a:prstGeom>
          <a:noFill/>
          <a:ln/>
        </p:spPr>
        <p:txBody>
          <a:bodyPr wrap="square" lIns="0" tIns="0" rIns="0" bIns="0" rtlCol="0" anchor="ctr"/>
          <a:lstStyle/>
          <a:p>
            <a:pPr marL="0" indent="0" algn="ctr">
              <a:buNone/>
            </a:pPr>
            <a:r>
              <a:rPr lang="en-US" sz="1000" dirty="0">
                <a:solidFill>
                  <a:srgbClr val="595959"/>
                </a:solidFill>
                <a:latin typeface="Calibri" pitchFamily="34" charset="0"/>
                <a:ea typeface="Calibri" pitchFamily="34" charset="-122"/>
                <a:cs typeface="Calibri" pitchFamily="34" charset="-120"/>
              </a:rPr>
              <a:t>↓  calls</a:t>
            </a:r>
            <a:endParaRPr lang="en-US" sz="1000" dirty="0"/>
          </a:p>
        </p:txBody>
      </p:sp>
      <p:sp>
        <p:nvSpPr>
          <p:cNvPr id="9" name="Shape 9"/>
          <p:cNvSpPr/>
          <p:nvPr/>
        </p:nvSpPr>
        <p:spPr>
          <a:xfrm>
            <a:off x="502920" y="3210000"/>
            <a:ext cx="5212080" cy="480000"/>
          </a:xfrm>
          <a:prstGeom prst="roundRect">
            <a:avLst>
              <a:gd name="adj" fmla="val 7500"/>
            </a:avLst>
          </a:prstGeom>
          <a:solidFill>
            <a:srgbClr val="EEF3FC"/>
          </a:solidFill>
          <a:ln/>
        </p:spPr>
        <p:txBody>
          <a:bodyPr wrap="square" lIns="182880" tIns="91440" rIns="182880" bIns="91440" anchor="ctr"/>
          <a:lstStyle/>
          <a:p>
            <a:pPr marL="0" indent="0" algn="ctr">
              <a:buNone/>
            </a:pPr>
            <a:r>
              <a:rPr lang="en-US" sz="1150" b="1" dirty="0">
                <a:solidFill>
                  <a:srgbClr val="4472C4"/>
                </a:solidFill>
                <a:latin typeface="Courier New" pitchFamily="34" charset="0"/>
                <a:ea typeface="Courier New" pitchFamily="34" charset="-122"/>
                <a:cs typeface="Courier New" pitchFamily="34" charset="-120"/>
              </a:rPr>
              <a:t>MergeSort([6,4])</a:t>
            </a:r>
            <a:endParaRPr lang="en-US" sz="1150" dirty="0"/>
          </a:p>
        </p:txBody>
      </p:sp>
      <p:sp>
        <p:nvSpPr>
          <p:cNvPr id="10" name="Text 10"/>
          <p:cNvSpPr txBox="1"/>
          <p:nvPr/>
        </p:nvSpPr>
        <p:spPr>
          <a:xfrm>
            <a:off x="502920" y="3690000"/>
            <a:ext cx="5212080" cy="190000"/>
          </a:xfrm>
          <a:prstGeom prst="rect">
            <a:avLst/>
          </a:prstGeom>
          <a:noFill/>
          <a:ln/>
        </p:spPr>
        <p:txBody>
          <a:bodyPr wrap="square" lIns="0" tIns="0" rIns="0" bIns="0" rtlCol="0" anchor="ctr"/>
          <a:lstStyle/>
          <a:p>
            <a:pPr marL="0" indent="0" algn="ctr">
              <a:buNone/>
            </a:pPr>
            <a:r>
              <a:rPr lang="en-US" sz="1000" dirty="0">
                <a:solidFill>
                  <a:srgbClr val="595959"/>
                </a:solidFill>
                <a:latin typeface="Calibri" pitchFamily="34" charset="0"/>
                <a:ea typeface="Calibri" pitchFamily="34" charset="-122"/>
                <a:cs typeface="Calibri" pitchFamily="34" charset="-120"/>
              </a:rPr>
              <a:t>↓  calls</a:t>
            </a:r>
            <a:endParaRPr lang="en-US" sz="1000" dirty="0"/>
          </a:p>
        </p:txBody>
      </p:sp>
      <p:sp>
        <p:nvSpPr>
          <p:cNvPr id="11" name="Shape 11"/>
          <p:cNvSpPr/>
          <p:nvPr/>
        </p:nvSpPr>
        <p:spPr>
          <a:xfrm>
            <a:off x="502920" y="3880000"/>
            <a:ext cx="5212080" cy="480000"/>
          </a:xfrm>
          <a:prstGeom prst="roundRect">
            <a:avLst>
              <a:gd name="adj" fmla="val 7500"/>
            </a:avLst>
          </a:prstGeom>
          <a:solidFill>
            <a:srgbClr val="FBE4D5"/>
          </a:solidFill>
          <a:ln/>
        </p:spPr>
        <p:txBody>
          <a:bodyPr wrap="square" lIns="182880" tIns="91440" rIns="182880" bIns="91440" anchor="ctr"/>
          <a:lstStyle/>
          <a:p>
            <a:pPr marL="0" indent="0" algn="ctr">
              <a:buNone/>
            </a:pPr>
            <a:r>
              <a:rPr lang="en-US" sz="1150" b="1" dirty="0">
                <a:solidFill>
                  <a:srgbClr val="4472C4"/>
                </a:solidFill>
                <a:latin typeface="Courier New" pitchFamily="34" charset="0"/>
                <a:ea typeface="Courier New" pitchFamily="34" charset="-122"/>
                <a:cs typeface="Courier New" pitchFamily="34" charset="-120"/>
              </a:rPr>
              <a:t>MergeSort([6])</a:t>
            </a:r>
            <a:endParaRPr lang="en-US" sz="1150" dirty="0"/>
          </a:p>
        </p:txBody>
      </p:sp>
      <p:sp>
        <p:nvSpPr>
          <p:cNvPr id="12" name="Text 12"/>
          <p:cNvSpPr txBox="1"/>
          <p:nvPr/>
        </p:nvSpPr>
        <p:spPr>
          <a:xfrm>
            <a:off x="502920" y="4360000"/>
            <a:ext cx="5212080" cy="300000"/>
          </a:xfrm>
          <a:prstGeom prst="rect">
            <a:avLst/>
          </a:prstGeom>
          <a:noFill/>
          <a:ln/>
        </p:spPr>
        <p:txBody>
          <a:bodyPr wrap="square" lIns="0" tIns="0" rIns="0" bIns="0" rtlCol="0" anchor="ctr"/>
          <a:lstStyle/>
          <a:p>
            <a:pPr marL="0" indent="0" algn="ctr">
              <a:buNone/>
            </a:pPr>
            <a:r>
              <a:rPr lang="en-US" sz="1050" b="1" dirty="0">
                <a:solidFill>
                  <a:srgbClr val="333F50"/>
                </a:solidFill>
                <a:latin typeface="Calibri" pitchFamily="34" charset="0"/>
                <a:ea typeface="Calibri" pitchFamily="34" charset="-122"/>
                <a:cs typeface="Calibri" pitchFamily="34" charset="-120"/>
              </a:rPr>
              <a:t>length = 1  →  return [6]</a:t>
            </a:r>
            <a:endParaRPr lang="en-US" sz="1050" dirty="0"/>
          </a:p>
        </p:txBody>
      </p:sp>
      <p:sp>
        <p:nvSpPr>
          <p:cNvPr id="13" name="Shape 13"/>
          <p:cNvSpPr/>
          <p:nvPr/>
        </p:nvSpPr>
        <p:spPr>
          <a:xfrm>
            <a:off x="502920" y="4648511"/>
            <a:ext cx="5212080" cy="700000"/>
          </a:xfrm>
          <a:prstGeom prst="roundRect">
            <a:avLst>
              <a:gd name="adj" fmla="val 7500"/>
            </a:avLst>
          </a:prstGeom>
          <a:solidFill>
            <a:srgbClr val="EEF3FC"/>
          </a:solidFill>
          <a:ln/>
        </p:spPr>
        <p:txBody>
          <a:bodyPr wrap="square" lIns="182880" tIns="91440" rIns="182880" bIns="91440" anchor="ctr"/>
          <a:lstStyle/>
          <a:p>
            <a:pPr marL="0" indent="0" algn="ctr">
              <a:buNone/>
            </a:pPr>
            <a:r>
              <a:rPr lang="en-US" sz="1050" dirty="0">
                <a:solidFill>
                  <a:srgbClr val="333F50"/>
                </a:solidFill>
                <a:latin typeface="Calibri" pitchFamily="34" charset="0"/>
                <a:ea typeface="Calibri" pitchFamily="34" charset="-122"/>
                <a:cs typeface="Calibri" pitchFamily="34" charset="-120"/>
              </a:rPr>
              <a:t>The other branches (not shown) wait on the stack too — depth never exceeds log₂n.</a:t>
            </a:r>
            <a:endParaRPr lang="en-US" sz="1050" dirty="0"/>
          </a:p>
        </p:txBody>
      </p:sp>
      <p:sp>
        <p:nvSpPr>
          <p:cNvPr id="14" name="Text 14"/>
          <p:cNvSpPr txBox="1"/>
          <p:nvPr/>
        </p:nvSpPr>
        <p:spPr>
          <a:xfrm>
            <a:off x="6400800" y="1500000"/>
            <a:ext cx="5287975" cy="300000"/>
          </a:xfrm>
          <a:prstGeom prst="rect">
            <a:avLst/>
          </a:prstGeom>
          <a:noFill/>
          <a:ln/>
        </p:spPr>
        <p:txBody>
          <a:bodyPr wrap="square" lIns="0" tIns="0" rIns="0" bIns="0" rtlCol="0" anchor="ctr"/>
          <a:lstStyle/>
          <a:p>
            <a:pPr marL="0" indent="0" algn="l">
              <a:buNone/>
            </a:pPr>
            <a:r>
              <a:rPr lang="en-US" sz="1300" b="1" dirty="0">
                <a:solidFill>
                  <a:srgbClr val="1E2A44"/>
                </a:solidFill>
                <a:latin typeface="Calibri" pitchFamily="34" charset="0"/>
                <a:ea typeface="Calibri" pitchFamily="34" charset="-122"/>
                <a:cs typeface="Calibri" pitchFamily="34" charset="-120"/>
              </a:rPr>
              <a:t>Phase 2 : Combine - Coming Back Up (The Merge Cascade)</a:t>
            </a:r>
            <a:endParaRPr lang="en-US" sz="1300" dirty="0"/>
          </a:p>
        </p:txBody>
      </p:sp>
      <p:sp>
        <p:nvSpPr>
          <p:cNvPr id="15" name="Shape 15"/>
          <p:cNvSpPr/>
          <p:nvPr/>
        </p:nvSpPr>
        <p:spPr>
          <a:xfrm>
            <a:off x="6400800" y="1870000"/>
            <a:ext cx="5287975" cy="2650000"/>
          </a:xfrm>
          <a:prstGeom prst="roundRect">
            <a:avLst>
              <a:gd name="adj" fmla="val 7500"/>
            </a:avLst>
          </a:prstGeom>
          <a:solidFill>
            <a:srgbClr val="EEF3FC"/>
          </a:solidFill>
          <a:ln/>
        </p:spPr>
        <p:txBody>
          <a:bodyPr wrap="square" lIns="182880" tIns="91440" rIns="182880" bIns="91440" anchor="ctr"/>
          <a:lstStyle/>
          <a:p>
            <a:pPr marL="0" indent="0" algn="l">
              <a:buNone/>
            </a:pPr>
            <a:r>
              <a:rPr lang="en-US" sz="1050" dirty="0">
                <a:solidFill>
                  <a:srgbClr val="333F50"/>
                </a:solidFill>
                <a:latin typeface="Courier New" pitchFamily="34" charset="0"/>
                <a:ea typeface="Courier New" pitchFamily="34" charset="-122"/>
                <a:cs typeface="Courier New" pitchFamily="34" charset="-120"/>
              </a:rPr>
              <a:t>Merge([6], [4])              →  [4,6]</a:t>
            </a:r>
            <a:endParaRPr lang="en-US" sz="1050" dirty="0"/>
          </a:p>
          <a:p>
            <a:pPr marL="0" indent="0" algn="l">
              <a:buNone/>
            </a:pPr>
            <a:r>
              <a:rPr lang="en-US" sz="1050" dirty="0">
                <a:solidFill>
                  <a:srgbClr val="333F50"/>
                </a:solidFill>
                <a:latin typeface="Courier New" pitchFamily="34" charset="0"/>
                <a:ea typeface="Courier New" pitchFamily="34" charset="-122"/>
                <a:cs typeface="Courier New" pitchFamily="34" charset="-120"/>
              </a:rPr>
              <a:t>Merge([3], [8])              →  [3,8]</a:t>
            </a:r>
            <a:endParaRPr lang="en-US" sz="1050" dirty="0"/>
          </a:p>
          <a:p>
            <a:pPr marL="0" indent="0" algn="l">
              <a:buNone/>
            </a:pPr>
            <a:r>
              <a:rPr lang="en-US" sz="1050" dirty="0">
                <a:solidFill>
                  <a:srgbClr val="333F50"/>
                </a:solidFill>
                <a:latin typeface="Courier New" pitchFamily="34" charset="0"/>
                <a:ea typeface="Courier New" pitchFamily="34" charset="-122"/>
                <a:cs typeface="Courier New" pitchFamily="34" charset="-120"/>
              </a:rPr>
              <a:t>Merge([4,6], [3,8])          →  [3,4,6,8]</a:t>
            </a:r>
            <a:endParaRPr lang="en-US" sz="1050" dirty="0"/>
          </a:p>
          <a:p>
            <a:pPr marL="0" indent="0" algn="l">
              <a:buNone/>
            </a:pPr>
            <a:r>
              <a:rPr lang="en-US" sz="1050" dirty="0">
                <a:solidFill>
                  <a:srgbClr val="333F50"/>
                </a:solidFill>
                <a:latin typeface="Courier New" pitchFamily="34" charset="0"/>
                <a:ea typeface="Courier New" pitchFamily="34" charset="-122"/>
                <a:cs typeface="Courier New" pitchFamily="34" charset="-120"/>
              </a:rPr>
              <a:t>Merge([1], [5])              →  [1,5]</a:t>
            </a:r>
            <a:endParaRPr lang="en-US" sz="1050" dirty="0"/>
          </a:p>
          <a:p>
            <a:pPr marL="0" indent="0" algn="l">
              <a:buNone/>
            </a:pPr>
            <a:r>
              <a:rPr lang="en-US" sz="1050" dirty="0">
                <a:solidFill>
                  <a:srgbClr val="333F50"/>
                </a:solidFill>
                <a:latin typeface="Courier New" pitchFamily="34" charset="0"/>
                <a:ea typeface="Courier New" pitchFamily="34" charset="-122"/>
                <a:cs typeface="Courier New" pitchFamily="34" charset="-120"/>
              </a:rPr>
              <a:t>Merge([2], [7])              →  [2,7]</a:t>
            </a:r>
            <a:endParaRPr lang="en-US" sz="1050" dirty="0"/>
          </a:p>
          <a:p>
            <a:pPr marL="0" indent="0" algn="l">
              <a:buNone/>
            </a:pPr>
            <a:r>
              <a:rPr lang="en-US" sz="1050" dirty="0">
                <a:solidFill>
                  <a:srgbClr val="333F50"/>
                </a:solidFill>
                <a:latin typeface="Courier New" pitchFamily="34" charset="0"/>
                <a:ea typeface="Courier New" pitchFamily="34" charset="-122"/>
                <a:cs typeface="Courier New" pitchFamily="34" charset="-120"/>
              </a:rPr>
              <a:t>Merge([1,5], [2,7])          →  [1,2,5,7]</a:t>
            </a:r>
            <a:endParaRPr lang="en-US" sz="1050" dirty="0"/>
          </a:p>
          <a:p>
            <a:pPr marL="0" indent="0" algn="l">
              <a:buNone/>
            </a:pPr>
            <a:r>
              <a:rPr lang="en-US" sz="1050" b="1" dirty="0">
                <a:solidFill>
                  <a:srgbClr val="4472C4"/>
                </a:solidFill>
                <a:latin typeface="Courier New" pitchFamily="34" charset="0"/>
                <a:ea typeface="Courier New" pitchFamily="34" charset="-122"/>
                <a:cs typeface="Courier New" pitchFamily="34" charset="-120"/>
              </a:rPr>
              <a:t>Merge([3,4,6,8], [1,2,5,7])  →  [1,2,3,4,5,6,7,8]</a:t>
            </a:r>
            <a:endParaRPr lang="en-US" sz="1050" dirty="0"/>
          </a:p>
        </p:txBody>
      </p:sp>
      <p:sp>
        <p:nvSpPr>
          <p:cNvPr id="16" name="Shape 16"/>
          <p:cNvSpPr/>
          <p:nvPr/>
        </p:nvSpPr>
        <p:spPr>
          <a:xfrm>
            <a:off x="502916" y="6010000"/>
            <a:ext cx="11185855" cy="480000"/>
          </a:xfrm>
          <a:prstGeom prst="roundRect">
            <a:avLst>
              <a:gd name="adj" fmla="val 11111"/>
            </a:avLst>
          </a:prstGeom>
          <a:solidFill>
            <a:srgbClr val="1E2A44"/>
          </a:solidFill>
          <a:ln/>
        </p:spPr>
        <p:txBody>
          <a:bodyPr/>
          <a:lstStyle/>
          <a:p>
            <a:endParaRPr lang="en-US"/>
          </a:p>
        </p:txBody>
      </p:sp>
      <p:sp>
        <p:nvSpPr>
          <p:cNvPr id="17" name="Text 17"/>
          <p:cNvSpPr txBox="1"/>
          <p:nvPr/>
        </p:nvSpPr>
        <p:spPr>
          <a:xfrm>
            <a:off x="502916" y="6097500"/>
            <a:ext cx="11185855" cy="3050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Sorted!   [1, 2, 3, 4, 5, 6, 7, 8]</a:t>
            </a:r>
            <a:endParaRPr lang="en-US" sz="1900" dirty="0"/>
          </a:p>
        </p:txBody>
      </p:sp>
      <p:sp>
        <p:nvSpPr>
          <p:cNvPr id="18" name="Text 12">
            <a:extLst>
              <a:ext uri="{FF2B5EF4-FFF2-40B4-BE49-F238E27FC236}">
                <a16:creationId xmlns:a16="http://schemas.microsoft.com/office/drawing/2014/main" id="{D3C26E01-5C4E-8EA8-108D-DF3FC9391F84}"/>
              </a:ext>
            </a:extLst>
          </p:cNvPr>
          <p:cNvSpPr txBox="1"/>
          <p:nvPr/>
        </p:nvSpPr>
        <p:spPr>
          <a:xfrm>
            <a:off x="502920" y="5100000"/>
            <a:ext cx="11185855" cy="7200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MergeSort itself never compares anything — it only divides.</a:t>
            </a:r>
            <a:endParaRPr lang="en-US" sz="1500" dirty="0"/>
          </a:p>
        </p:txBody>
      </p:sp>
      <p:sp>
        <p:nvSpPr>
          <p:cNvPr id="19" name="Text 13">
            <a:extLst>
              <a:ext uri="{FF2B5EF4-FFF2-40B4-BE49-F238E27FC236}">
                <a16:creationId xmlns:a16="http://schemas.microsoft.com/office/drawing/2014/main" id="{B4AAB149-5FE7-9A6A-85A0-4ECB1C2ACE06}"/>
              </a:ext>
            </a:extLst>
          </p:cNvPr>
          <p:cNvSpPr txBox="1"/>
          <p:nvPr/>
        </p:nvSpPr>
        <p:spPr>
          <a:xfrm>
            <a:off x="502917" y="5583511"/>
            <a:ext cx="11185855" cy="350000"/>
          </a:xfrm>
          <a:prstGeom prst="rect">
            <a:avLst/>
          </a:prstGeom>
          <a:noFill/>
          <a:ln/>
        </p:spPr>
        <p:txBody>
          <a:bodyPr wrap="square" lIns="0" tIns="0" rIns="0" bIns="0" rtlCol="0" anchor="ctr"/>
          <a:lstStyle/>
          <a:p>
            <a:pPr marL="0" indent="0" algn="ctr">
              <a:buNone/>
            </a:pPr>
            <a:r>
              <a:rPr lang="en-US" sz="1200" b="1" dirty="0" err="1">
                <a:solidFill>
                  <a:srgbClr val="595959"/>
                </a:solidFill>
                <a:latin typeface="Calibri" pitchFamily="34" charset="0"/>
                <a:ea typeface="Calibri" pitchFamily="34" charset="-122"/>
                <a:cs typeface="Calibri" pitchFamily="34" charset="-120"/>
              </a:rPr>
              <a:t>MergeSort</a:t>
            </a:r>
            <a:r>
              <a:rPr lang="en-US" sz="1200" b="1" dirty="0">
                <a:solidFill>
                  <a:srgbClr val="595959"/>
                </a:solidFill>
                <a:latin typeface="Calibri" pitchFamily="34" charset="0"/>
                <a:ea typeface="Calibri" pitchFamily="34" charset="-122"/>
                <a:cs typeface="Calibri" pitchFamily="34" charset="-120"/>
              </a:rPr>
              <a:t>(A) itself never compares anything – it only divides. All the sorting happens inside Merge — and only because both halves already arrived sorted.</a:t>
            </a:r>
            <a:endParaRPr lang="en-US" sz="1200" b="1" dirty="0"/>
          </a:p>
        </p:txBody>
      </p:sp>
      <p:sp>
        <p:nvSpPr>
          <p:cNvPr id="22" name="Text 21">
            <a:extLst>
              <a:ext uri="{FF2B5EF4-FFF2-40B4-BE49-F238E27FC236}">
                <a16:creationId xmlns:a16="http://schemas.microsoft.com/office/drawing/2014/main" id="{B7D04734-CAFB-E296-274A-0AE85981248B}"/>
              </a:ext>
            </a:extLst>
          </p:cNvPr>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 ·  Sep 21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65127"/>
            <a:ext cx="7886700" cy="735364"/>
          </a:xfrm>
        </p:spPr>
        <p:txBody>
          <a:bodyPr/>
          <a:lstStyle/>
          <a:p>
            <a:r>
              <a:rPr lang="en-US" dirty="0" err="1"/>
              <a:t>MergeSort</a:t>
            </a:r>
            <a:r>
              <a:rPr lang="en-US" dirty="0"/>
              <a:t> – Recursion Tree</a:t>
            </a:r>
          </a:p>
        </p:txBody>
      </p:sp>
      <p:grpSp>
        <p:nvGrpSpPr>
          <p:cNvPr id="4" name="Group 3"/>
          <p:cNvGrpSpPr/>
          <p:nvPr/>
        </p:nvGrpSpPr>
        <p:grpSpPr>
          <a:xfrm>
            <a:off x="3212676" y="1201944"/>
            <a:ext cx="5766649" cy="705201"/>
            <a:chOff x="1573619" y="3296093"/>
            <a:chExt cx="5766649" cy="705201"/>
          </a:xfrm>
        </p:grpSpPr>
        <p:sp>
          <p:nvSpPr>
            <p:cNvPr id="5" name="Rectangle 4"/>
            <p:cNvSpPr/>
            <p:nvPr/>
          </p:nvSpPr>
          <p:spPr>
            <a:xfrm>
              <a:off x="1573619"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 name="Rectangle 5"/>
            <p:cNvSpPr/>
            <p:nvPr/>
          </p:nvSpPr>
          <p:spPr>
            <a:xfrm>
              <a:off x="230353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7" name="Rectangle 6"/>
            <p:cNvSpPr/>
            <p:nvPr/>
          </p:nvSpPr>
          <p:spPr>
            <a:xfrm>
              <a:off x="301219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8" name="Rectangle 7"/>
            <p:cNvSpPr/>
            <p:nvPr/>
          </p:nvSpPr>
          <p:spPr>
            <a:xfrm>
              <a:off x="373865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 name="Rectangle 8"/>
            <p:cNvSpPr/>
            <p:nvPr/>
          </p:nvSpPr>
          <p:spPr>
            <a:xfrm>
              <a:off x="4470028"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0" name="Rectangle 9"/>
            <p:cNvSpPr/>
            <p:nvPr/>
          </p:nvSpPr>
          <p:spPr>
            <a:xfrm>
              <a:off x="5178682"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1" name="Rectangle 10"/>
            <p:cNvSpPr/>
            <p:nvPr/>
          </p:nvSpPr>
          <p:spPr>
            <a:xfrm>
              <a:off x="5908601"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12" name="Rectangle 11"/>
            <p:cNvSpPr/>
            <p:nvPr/>
          </p:nvSpPr>
          <p:spPr>
            <a:xfrm>
              <a:off x="6635067" y="329609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sp>
        <p:nvSpPr>
          <p:cNvPr id="13" name="Rectangle 12"/>
          <p:cNvSpPr/>
          <p:nvPr/>
        </p:nvSpPr>
        <p:spPr>
          <a:xfrm>
            <a:off x="2069676" y="228159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4" name="Rectangle 13"/>
          <p:cNvSpPr/>
          <p:nvPr/>
        </p:nvSpPr>
        <p:spPr>
          <a:xfrm>
            <a:off x="2799595" y="228159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15" name="Rectangle 14"/>
          <p:cNvSpPr/>
          <p:nvPr/>
        </p:nvSpPr>
        <p:spPr>
          <a:xfrm>
            <a:off x="3508249" y="228159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6" name="Rectangle 15"/>
          <p:cNvSpPr/>
          <p:nvPr/>
        </p:nvSpPr>
        <p:spPr>
          <a:xfrm>
            <a:off x="4234715" y="228159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17" name="Rectangle 16"/>
          <p:cNvSpPr/>
          <p:nvPr/>
        </p:nvSpPr>
        <p:spPr>
          <a:xfrm>
            <a:off x="6921885" y="225619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8" name="Rectangle 17"/>
          <p:cNvSpPr/>
          <p:nvPr/>
        </p:nvSpPr>
        <p:spPr>
          <a:xfrm>
            <a:off x="7630539" y="225619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9" name="Rectangle 18"/>
          <p:cNvSpPr/>
          <p:nvPr/>
        </p:nvSpPr>
        <p:spPr>
          <a:xfrm>
            <a:off x="8360458" y="225619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0" name="Rectangle 19"/>
          <p:cNvSpPr/>
          <p:nvPr/>
        </p:nvSpPr>
        <p:spPr>
          <a:xfrm>
            <a:off x="9086924" y="225619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sp>
        <p:nvSpPr>
          <p:cNvPr id="38" name="TextBox 37"/>
          <p:cNvSpPr txBox="1"/>
          <p:nvPr/>
        </p:nvSpPr>
        <p:spPr>
          <a:xfrm>
            <a:off x="1005656" y="5776344"/>
            <a:ext cx="1387366" cy="461665"/>
          </a:xfrm>
          <a:prstGeom prst="rect">
            <a:avLst/>
          </a:prstGeom>
          <a:noFill/>
        </p:spPr>
        <p:txBody>
          <a:bodyPr wrap="square" rtlCol="0">
            <a:spAutoFit/>
          </a:bodyPr>
          <a:lstStyle/>
          <a:p>
            <a:r>
              <a:rPr lang="en-US" sz="2400" dirty="0">
                <a:solidFill>
                  <a:schemeClr val="accent5"/>
                </a:solidFill>
              </a:rPr>
              <a:t>MERGE!</a:t>
            </a:r>
            <a:endParaRPr lang="en-US" dirty="0">
              <a:solidFill>
                <a:schemeClr val="accent5"/>
              </a:solidFill>
            </a:endParaRPr>
          </a:p>
        </p:txBody>
      </p:sp>
      <p:sp>
        <p:nvSpPr>
          <p:cNvPr id="51" name="TextBox 50"/>
          <p:cNvSpPr txBox="1"/>
          <p:nvPr/>
        </p:nvSpPr>
        <p:spPr>
          <a:xfrm>
            <a:off x="3113930" y="6282341"/>
            <a:ext cx="6925420" cy="369332"/>
          </a:xfrm>
          <a:prstGeom prst="rect">
            <a:avLst/>
          </a:prstGeom>
          <a:noFill/>
        </p:spPr>
        <p:txBody>
          <a:bodyPr wrap="square" rtlCol="0">
            <a:spAutoFit/>
          </a:bodyPr>
          <a:lstStyle/>
          <a:p>
            <a:r>
              <a:rPr lang="en-US" dirty="0"/>
              <a:t>(A good exercise for implementation: how would I do this </a:t>
            </a:r>
            <a:r>
              <a:rPr lang="en-US" dirty="0">
                <a:solidFill>
                  <a:schemeClr val="accent1"/>
                </a:solidFill>
              </a:rPr>
              <a:t>in place?</a:t>
            </a:r>
            <a:r>
              <a:rPr lang="en-US" dirty="0"/>
              <a:t>)</a:t>
            </a:r>
          </a:p>
        </p:txBody>
      </p:sp>
      <p:sp>
        <p:nvSpPr>
          <p:cNvPr id="52" name="Rectangle 51">
            <a:extLst>
              <a:ext uri="{FF2B5EF4-FFF2-40B4-BE49-F238E27FC236}">
                <a16:creationId xmlns:a16="http://schemas.microsoft.com/office/drawing/2014/main" id="{31EAF89F-4C21-3383-7B8F-D50444267BE0}"/>
              </a:ext>
            </a:extLst>
          </p:cNvPr>
          <p:cNvSpPr/>
          <p:nvPr/>
        </p:nvSpPr>
        <p:spPr>
          <a:xfrm>
            <a:off x="1687821" y="337920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53" name="Rectangle 52">
            <a:extLst>
              <a:ext uri="{FF2B5EF4-FFF2-40B4-BE49-F238E27FC236}">
                <a16:creationId xmlns:a16="http://schemas.microsoft.com/office/drawing/2014/main" id="{1324D3CC-C9C6-6FC4-C473-37BFDBB419EE}"/>
              </a:ext>
            </a:extLst>
          </p:cNvPr>
          <p:cNvSpPr/>
          <p:nvPr/>
        </p:nvSpPr>
        <p:spPr>
          <a:xfrm>
            <a:off x="2417740" y="337920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54" name="Rectangle 53">
            <a:extLst>
              <a:ext uri="{FF2B5EF4-FFF2-40B4-BE49-F238E27FC236}">
                <a16:creationId xmlns:a16="http://schemas.microsoft.com/office/drawing/2014/main" id="{2305E5B7-0BB1-25E7-9B93-BDF401915532}"/>
              </a:ext>
            </a:extLst>
          </p:cNvPr>
          <p:cNvSpPr/>
          <p:nvPr/>
        </p:nvSpPr>
        <p:spPr>
          <a:xfrm>
            <a:off x="3786374" y="338320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55" name="Rectangle 54">
            <a:extLst>
              <a:ext uri="{FF2B5EF4-FFF2-40B4-BE49-F238E27FC236}">
                <a16:creationId xmlns:a16="http://schemas.microsoft.com/office/drawing/2014/main" id="{377F41AE-3DB2-DC5C-3B08-B4C00C31D2CC}"/>
              </a:ext>
            </a:extLst>
          </p:cNvPr>
          <p:cNvSpPr/>
          <p:nvPr/>
        </p:nvSpPr>
        <p:spPr>
          <a:xfrm>
            <a:off x="4512840" y="338320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56" name="Rectangle 55">
            <a:extLst>
              <a:ext uri="{FF2B5EF4-FFF2-40B4-BE49-F238E27FC236}">
                <a16:creationId xmlns:a16="http://schemas.microsoft.com/office/drawing/2014/main" id="{0CF30B6A-6032-C5CB-1690-4A195DFFE04A}"/>
              </a:ext>
            </a:extLst>
          </p:cNvPr>
          <p:cNvSpPr/>
          <p:nvPr/>
        </p:nvSpPr>
        <p:spPr>
          <a:xfrm>
            <a:off x="6837982" y="334353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57" name="Rectangle 56">
            <a:extLst>
              <a:ext uri="{FF2B5EF4-FFF2-40B4-BE49-F238E27FC236}">
                <a16:creationId xmlns:a16="http://schemas.microsoft.com/office/drawing/2014/main" id="{CDFB23AF-B3E2-669B-CDEB-052A4017DE3F}"/>
              </a:ext>
            </a:extLst>
          </p:cNvPr>
          <p:cNvSpPr/>
          <p:nvPr/>
        </p:nvSpPr>
        <p:spPr>
          <a:xfrm>
            <a:off x="7546636" y="334353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58" name="Rectangle 57">
            <a:extLst>
              <a:ext uri="{FF2B5EF4-FFF2-40B4-BE49-F238E27FC236}">
                <a16:creationId xmlns:a16="http://schemas.microsoft.com/office/drawing/2014/main" id="{6AB11763-FFFD-D7E1-FCCB-0C62528770E1}"/>
              </a:ext>
            </a:extLst>
          </p:cNvPr>
          <p:cNvSpPr/>
          <p:nvPr/>
        </p:nvSpPr>
        <p:spPr>
          <a:xfrm>
            <a:off x="8872451" y="335381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59" name="Rectangle 58">
            <a:extLst>
              <a:ext uri="{FF2B5EF4-FFF2-40B4-BE49-F238E27FC236}">
                <a16:creationId xmlns:a16="http://schemas.microsoft.com/office/drawing/2014/main" id="{05752FB9-5354-138A-CB77-E2281DED80C0}"/>
              </a:ext>
            </a:extLst>
          </p:cNvPr>
          <p:cNvSpPr/>
          <p:nvPr/>
        </p:nvSpPr>
        <p:spPr>
          <a:xfrm>
            <a:off x="9598917" y="3353810"/>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sp>
        <p:nvSpPr>
          <p:cNvPr id="60" name="Rectangle 59">
            <a:extLst>
              <a:ext uri="{FF2B5EF4-FFF2-40B4-BE49-F238E27FC236}">
                <a16:creationId xmlns:a16="http://schemas.microsoft.com/office/drawing/2014/main" id="{AF0CD397-3024-4732-DF4C-3B405DD1C8B2}"/>
              </a:ext>
            </a:extLst>
          </p:cNvPr>
          <p:cNvSpPr/>
          <p:nvPr/>
        </p:nvSpPr>
        <p:spPr>
          <a:xfrm>
            <a:off x="8872451" y="457058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61" name="Rectangle 60">
            <a:extLst>
              <a:ext uri="{FF2B5EF4-FFF2-40B4-BE49-F238E27FC236}">
                <a16:creationId xmlns:a16="http://schemas.microsoft.com/office/drawing/2014/main" id="{DE34D935-B9FC-334B-F625-396D4388F807}"/>
              </a:ext>
            </a:extLst>
          </p:cNvPr>
          <p:cNvSpPr/>
          <p:nvPr/>
        </p:nvSpPr>
        <p:spPr>
          <a:xfrm>
            <a:off x="9951517" y="4570586"/>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sp>
        <p:nvSpPr>
          <p:cNvPr id="62" name="Rectangle 61">
            <a:extLst>
              <a:ext uri="{FF2B5EF4-FFF2-40B4-BE49-F238E27FC236}">
                <a16:creationId xmlns:a16="http://schemas.microsoft.com/office/drawing/2014/main" id="{B610C548-6BAC-03AA-D83F-844A0A254B1F}"/>
              </a:ext>
            </a:extLst>
          </p:cNvPr>
          <p:cNvSpPr/>
          <p:nvPr/>
        </p:nvSpPr>
        <p:spPr>
          <a:xfrm>
            <a:off x="6749015" y="4606107"/>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63" name="Rectangle 62">
            <a:extLst>
              <a:ext uri="{FF2B5EF4-FFF2-40B4-BE49-F238E27FC236}">
                <a16:creationId xmlns:a16="http://schemas.microsoft.com/office/drawing/2014/main" id="{BABFC7E7-2F67-98EF-2DCE-01D171022981}"/>
              </a:ext>
            </a:extLst>
          </p:cNvPr>
          <p:cNvSpPr/>
          <p:nvPr/>
        </p:nvSpPr>
        <p:spPr>
          <a:xfrm>
            <a:off x="7841252" y="4596396"/>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64" name="Rectangle 63">
            <a:extLst>
              <a:ext uri="{FF2B5EF4-FFF2-40B4-BE49-F238E27FC236}">
                <a16:creationId xmlns:a16="http://schemas.microsoft.com/office/drawing/2014/main" id="{7FBB492F-0765-CC42-5280-378EB36CFE53}"/>
              </a:ext>
            </a:extLst>
          </p:cNvPr>
          <p:cNvSpPr/>
          <p:nvPr/>
        </p:nvSpPr>
        <p:spPr>
          <a:xfrm>
            <a:off x="3759917" y="4593527"/>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65" name="Rectangle 64">
            <a:extLst>
              <a:ext uri="{FF2B5EF4-FFF2-40B4-BE49-F238E27FC236}">
                <a16:creationId xmlns:a16="http://schemas.microsoft.com/office/drawing/2014/main" id="{BBE9FEA7-FB90-8862-B499-C65B80BA6D45}"/>
              </a:ext>
            </a:extLst>
          </p:cNvPr>
          <p:cNvSpPr/>
          <p:nvPr/>
        </p:nvSpPr>
        <p:spPr>
          <a:xfrm>
            <a:off x="4991350" y="4606107"/>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66" name="Rectangle 65">
            <a:extLst>
              <a:ext uri="{FF2B5EF4-FFF2-40B4-BE49-F238E27FC236}">
                <a16:creationId xmlns:a16="http://schemas.microsoft.com/office/drawing/2014/main" id="{DB203BB9-4750-28E8-3747-8FA5955013AF}"/>
              </a:ext>
            </a:extLst>
          </p:cNvPr>
          <p:cNvSpPr/>
          <p:nvPr/>
        </p:nvSpPr>
        <p:spPr>
          <a:xfrm>
            <a:off x="1249223" y="4580549"/>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67" name="Rectangle 66">
            <a:extLst>
              <a:ext uri="{FF2B5EF4-FFF2-40B4-BE49-F238E27FC236}">
                <a16:creationId xmlns:a16="http://schemas.microsoft.com/office/drawing/2014/main" id="{E08CA5C5-069B-90A7-C827-21623DCE91C3}"/>
              </a:ext>
            </a:extLst>
          </p:cNvPr>
          <p:cNvSpPr/>
          <p:nvPr/>
        </p:nvSpPr>
        <p:spPr>
          <a:xfrm>
            <a:off x="2570140" y="4569296"/>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cxnSp>
        <p:nvCxnSpPr>
          <p:cNvPr id="69" name="Straight Arrow Connector 68">
            <a:extLst>
              <a:ext uri="{FF2B5EF4-FFF2-40B4-BE49-F238E27FC236}">
                <a16:creationId xmlns:a16="http://schemas.microsoft.com/office/drawing/2014/main" id="{8EB54CCB-16BA-4C27-236C-E798676F2D44}"/>
              </a:ext>
            </a:extLst>
          </p:cNvPr>
          <p:cNvCxnSpPr/>
          <p:nvPr/>
        </p:nvCxnSpPr>
        <p:spPr>
          <a:xfrm flipH="1">
            <a:off x="3380198" y="1907145"/>
            <a:ext cx="379719" cy="3744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4F1766B-769B-3EFE-6331-C109453CEB41}"/>
              </a:ext>
            </a:extLst>
          </p:cNvPr>
          <p:cNvCxnSpPr>
            <a:cxnSpLocks/>
          </p:cNvCxnSpPr>
          <p:nvPr/>
        </p:nvCxnSpPr>
        <p:spPr>
          <a:xfrm>
            <a:off x="7927824" y="1894445"/>
            <a:ext cx="429181" cy="3283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A01ECE29-7A8C-D1BB-4586-6ACD39FA9468}"/>
              </a:ext>
            </a:extLst>
          </p:cNvPr>
          <p:cNvCxnSpPr/>
          <p:nvPr/>
        </p:nvCxnSpPr>
        <p:spPr>
          <a:xfrm flipH="1">
            <a:off x="2418149" y="2986791"/>
            <a:ext cx="379719" cy="3744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6AF3885-0865-05A0-A044-C9B3797588FF}"/>
              </a:ext>
            </a:extLst>
          </p:cNvPr>
          <p:cNvCxnSpPr>
            <a:cxnSpLocks/>
            <a:endCxn id="55" idx="0"/>
          </p:cNvCxnSpPr>
          <p:nvPr/>
        </p:nvCxnSpPr>
        <p:spPr>
          <a:xfrm>
            <a:off x="4446397" y="2969093"/>
            <a:ext cx="419044" cy="4141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3D954B03-1FAC-2DAA-A364-C53C0171B297}"/>
              </a:ext>
            </a:extLst>
          </p:cNvPr>
          <p:cNvCxnSpPr>
            <a:cxnSpLocks/>
          </p:cNvCxnSpPr>
          <p:nvPr/>
        </p:nvCxnSpPr>
        <p:spPr>
          <a:xfrm>
            <a:off x="9131350" y="2961391"/>
            <a:ext cx="429181" cy="3283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A34EAF2-08BB-8001-2570-B0C2BCB7CF7F}"/>
              </a:ext>
            </a:extLst>
          </p:cNvPr>
          <p:cNvCxnSpPr>
            <a:cxnSpLocks/>
            <a:endCxn id="56" idx="0"/>
          </p:cNvCxnSpPr>
          <p:nvPr/>
        </p:nvCxnSpPr>
        <p:spPr>
          <a:xfrm flipH="1">
            <a:off x="7190583" y="2979705"/>
            <a:ext cx="310914" cy="3638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78F0D1B-5432-557A-4B61-EDFCDFB9638A}"/>
              </a:ext>
            </a:extLst>
          </p:cNvPr>
          <p:cNvCxnSpPr/>
          <p:nvPr/>
        </p:nvCxnSpPr>
        <p:spPr>
          <a:xfrm flipH="1">
            <a:off x="1699339" y="4169901"/>
            <a:ext cx="379719" cy="3744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B37DC34-8CBB-C9F7-5B5C-96AD939C426F}"/>
              </a:ext>
            </a:extLst>
          </p:cNvPr>
          <p:cNvCxnSpPr>
            <a:cxnSpLocks/>
          </p:cNvCxnSpPr>
          <p:nvPr/>
        </p:nvCxnSpPr>
        <p:spPr>
          <a:xfrm>
            <a:off x="2770340" y="4136777"/>
            <a:ext cx="505001" cy="4075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9C0A64D-07CF-1E22-9763-A284BE4B8E8B}"/>
              </a:ext>
            </a:extLst>
          </p:cNvPr>
          <p:cNvCxnSpPr>
            <a:cxnSpLocks/>
          </p:cNvCxnSpPr>
          <p:nvPr/>
        </p:nvCxnSpPr>
        <p:spPr>
          <a:xfrm>
            <a:off x="4872714" y="4113527"/>
            <a:ext cx="505001" cy="4075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7E10E09-CB46-A1F5-2ED3-ADAAAF3B9163}"/>
              </a:ext>
            </a:extLst>
          </p:cNvPr>
          <p:cNvCxnSpPr/>
          <p:nvPr/>
        </p:nvCxnSpPr>
        <p:spPr>
          <a:xfrm flipH="1">
            <a:off x="3917877" y="4160623"/>
            <a:ext cx="379719" cy="3744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BAF46294-EA33-9330-D893-B8082D809C91}"/>
              </a:ext>
            </a:extLst>
          </p:cNvPr>
          <p:cNvCxnSpPr/>
          <p:nvPr/>
        </p:nvCxnSpPr>
        <p:spPr>
          <a:xfrm flipH="1">
            <a:off x="6869365" y="4146651"/>
            <a:ext cx="379719" cy="3744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8757B6B3-1FF9-5990-E82B-25F0EEBAD1AA}"/>
              </a:ext>
            </a:extLst>
          </p:cNvPr>
          <p:cNvCxnSpPr/>
          <p:nvPr/>
        </p:nvCxnSpPr>
        <p:spPr>
          <a:xfrm flipH="1">
            <a:off x="8979325" y="4136777"/>
            <a:ext cx="379719" cy="37444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001FAD29-A7AA-AA18-F5EF-670FA926C7DD}"/>
              </a:ext>
            </a:extLst>
          </p:cNvPr>
          <p:cNvCxnSpPr>
            <a:cxnSpLocks/>
          </p:cNvCxnSpPr>
          <p:nvPr/>
        </p:nvCxnSpPr>
        <p:spPr>
          <a:xfrm>
            <a:off x="7830739" y="4087577"/>
            <a:ext cx="505001" cy="4075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549A5A29-E083-5F0B-A708-7EE1148467AA}"/>
              </a:ext>
            </a:extLst>
          </p:cNvPr>
          <p:cNvCxnSpPr>
            <a:cxnSpLocks/>
          </p:cNvCxnSpPr>
          <p:nvPr/>
        </p:nvCxnSpPr>
        <p:spPr>
          <a:xfrm>
            <a:off x="9813480" y="4113527"/>
            <a:ext cx="505001" cy="4075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300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blinds(horizontal)">
                                      <p:cBhvr>
                                        <p:cTn id="7" dur="500"/>
                                        <p:tgtEl>
                                          <p:spTgt spid="69"/>
                                        </p:tgtEl>
                                      </p:cBhvr>
                                    </p:animEffect>
                                  </p:childTnLst>
                                </p:cTn>
                              </p:par>
                              <p:par>
                                <p:cTn id="8" presetID="3" presetClass="entr" presetSubtype="10" fill="hold" nodeType="withEffect">
                                  <p:stCondLst>
                                    <p:cond delay="0"/>
                                  </p:stCondLst>
                                  <p:childTnLst>
                                    <p:set>
                                      <p:cBhvr>
                                        <p:cTn id="9" dur="1" fill="hold">
                                          <p:stCondLst>
                                            <p:cond delay="0"/>
                                          </p:stCondLst>
                                        </p:cTn>
                                        <p:tgtEl>
                                          <p:spTgt spid="70"/>
                                        </p:tgtEl>
                                        <p:attrNameLst>
                                          <p:attrName>style.visibility</p:attrName>
                                        </p:attrNameLst>
                                      </p:cBhvr>
                                      <p:to>
                                        <p:strVal val="visible"/>
                                      </p:to>
                                    </p:set>
                                    <p:animEffect transition="in" filter="blinds(horizontal)">
                                      <p:cBhvr>
                                        <p:cTn id="10" dur="500"/>
                                        <p:tgtEl>
                                          <p:spTgt spid="7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linds(horizontal)">
                                      <p:cBhvr>
                                        <p:cTn id="13" dur="500"/>
                                        <p:tgtEl>
                                          <p:spTgt spid="1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linds(horizontal)">
                                      <p:cBhvr>
                                        <p:cTn id="16" dur="500"/>
                                        <p:tgtEl>
                                          <p:spTgt spid="14"/>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blinds(horizontal)">
                                      <p:cBhvr>
                                        <p:cTn id="19" dur="500"/>
                                        <p:tgtEl>
                                          <p:spTgt spid="15"/>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linds(horizontal)">
                                      <p:cBhvr>
                                        <p:cTn id="25" dur="500"/>
                                        <p:tgtEl>
                                          <p:spTgt spid="1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blinds(horizontal)">
                                      <p:cBhvr>
                                        <p:cTn id="28" dur="500"/>
                                        <p:tgtEl>
                                          <p:spTgt spid="18"/>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linds(horizontal)">
                                      <p:cBhvr>
                                        <p:cTn id="31" dur="500"/>
                                        <p:tgtEl>
                                          <p:spTgt spid="19"/>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blinds(horizontal)">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72"/>
                                        </p:tgtEl>
                                        <p:attrNameLst>
                                          <p:attrName>style.visibility</p:attrName>
                                        </p:attrNameLst>
                                      </p:cBhvr>
                                      <p:to>
                                        <p:strVal val="visible"/>
                                      </p:to>
                                    </p:set>
                                    <p:animEffect transition="in" filter="blinds(horizontal)">
                                      <p:cBhvr>
                                        <p:cTn id="39" dur="500"/>
                                        <p:tgtEl>
                                          <p:spTgt spid="72"/>
                                        </p:tgtEl>
                                      </p:cBhvr>
                                    </p:animEffect>
                                  </p:childTnLst>
                                </p:cTn>
                              </p:par>
                              <p:par>
                                <p:cTn id="40" presetID="3" presetClass="entr" presetSubtype="10" fill="hold" nodeType="withEffect">
                                  <p:stCondLst>
                                    <p:cond delay="0"/>
                                  </p:stCondLst>
                                  <p:childTnLst>
                                    <p:set>
                                      <p:cBhvr>
                                        <p:cTn id="41" dur="1" fill="hold">
                                          <p:stCondLst>
                                            <p:cond delay="0"/>
                                          </p:stCondLst>
                                        </p:cTn>
                                        <p:tgtEl>
                                          <p:spTgt spid="73"/>
                                        </p:tgtEl>
                                        <p:attrNameLst>
                                          <p:attrName>style.visibility</p:attrName>
                                        </p:attrNameLst>
                                      </p:cBhvr>
                                      <p:to>
                                        <p:strVal val="visible"/>
                                      </p:to>
                                    </p:set>
                                    <p:animEffect transition="in" filter="blinds(horizontal)">
                                      <p:cBhvr>
                                        <p:cTn id="42" dur="500"/>
                                        <p:tgtEl>
                                          <p:spTgt spid="73"/>
                                        </p:tgtEl>
                                      </p:cBhvr>
                                    </p:animEffect>
                                  </p:childTnLst>
                                </p:cTn>
                              </p:par>
                              <p:par>
                                <p:cTn id="43" presetID="3" presetClass="entr" presetSubtype="10" fill="hold" nodeType="with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blinds(horizontal)">
                                      <p:cBhvr>
                                        <p:cTn id="45" dur="500"/>
                                        <p:tgtEl>
                                          <p:spTgt spid="76"/>
                                        </p:tgtEl>
                                      </p:cBhvr>
                                    </p:animEffect>
                                  </p:childTnLst>
                                </p:cTn>
                              </p:par>
                              <p:par>
                                <p:cTn id="46" presetID="3" presetClass="entr" presetSubtype="10" fill="hold" nodeType="withEffect">
                                  <p:stCondLst>
                                    <p:cond delay="0"/>
                                  </p:stCondLst>
                                  <p:childTnLst>
                                    <p:set>
                                      <p:cBhvr>
                                        <p:cTn id="47" dur="1" fill="hold">
                                          <p:stCondLst>
                                            <p:cond delay="0"/>
                                          </p:stCondLst>
                                        </p:cTn>
                                        <p:tgtEl>
                                          <p:spTgt spid="75"/>
                                        </p:tgtEl>
                                        <p:attrNameLst>
                                          <p:attrName>style.visibility</p:attrName>
                                        </p:attrNameLst>
                                      </p:cBhvr>
                                      <p:to>
                                        <p:strVal val="visible"/>
                                      </p:to>
                                    </p:set>
                                    <p:animEffect transition="in" filter="blinds(horizontal)">
                                      <p:cBhvr>
                                        <p:cTn id="48" dur="500"/>
                                        <p:tgtEl>
                                          <p:spTgt spid="75"/>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blinds(horizontal)">
                                      <p:cBhvr>
                                        <p:cTn id="51" dur="500"/>
                                        <p:tgtEl>
                                          <p:spTgt spid="52"/>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blinds(horizontal)">
                                      <p:cBhvr>
                                        <p:cTn id="54" dur="500"/>
                                        <p:tgtEl>
                                          <p:spTgt spid="53"/>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blinds(horizontal)">
                                      <p:cBhvr>
                                        <p:cTn id="57" dur="500"/>
                                        <p:tgtEl>
                                          <p:spTgt spid="54"/>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blinds(horizontal)">
                                      <p:cBhvr>
                                        <p:cTn id="60" dur="500"/>
                                        <p:tgtEl>
                                          <p:spTgt spid="55"/>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blinds(horizontal)">
                                      <p:cBhvr>
                                        <p:cTn id="63" dur="500"/>
                                        <p:tgtEl>
                                          <p:spTgt spid="56"/>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57"/>
                                        </p:tgtEl>
                                        <p:attrNameLst>
                                          <p:attrName>style.visibility</p:attrName>
                                        </p:attrNameLst>
                                      </p:cBhvr>
                                      <p:to>
                                        <p:strVal val="visible"/>
                                      </p:to>
                                    </p:set>
                                    <p:animEffect transition="in" filter="blinds(horizontal)">
                                      <p:cBhvr>
                                        <p:cTn id="66" dur="500"/>
                                        <p:tgtEl>
                                          <p:spTgt spid="57"/>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58"/>
                                        </p:tgtEl>
                                        <p:attrNameLst>
                                          <p:attrName>style.visibility</p:attrName>
                                        </p:attrNameLst>
                                      </p:cBhvr>
                                      <p:to>
                                        <p:strVal val="visible"/>
                                      </p:to>
                                    </p:set>
                                    <p:animEffect transition="in" filter="blinds(horizontal)">
                                      <p:cBhvr>
                                        <p:cTn id="69" dur="500"/>
                                        <p:tgtEl>
                                          <p:spTgt spid="58"/>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59"/>
                                        </p:tgtEl>
                                        <p:attrNameLst>
                                          <p:attrName>style.visibility</p:attrName>
                                        </p:attrNameLst>
                                      </p:cBhvr>
                                      <p:to>
                                        <p:strVal val="visible"/>
                                      </p:to>
                                    </p:set>
                                    <p:animEffect transition="in" filter="blinds(horizontal)">
                                      <p:cBhvr>
                                        <p:cTn id="72" dur="500"/>
                                        <p:tgtEl>
                                          <p:spTgt spid="59"/>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78"/>
                                        </p:tgtEl>
                                        <p:attrNameLst>
                                          <p:attrName>style.visibility</p:attrName>
                                        </p:attrNameLst>
                                      </p:cBhvr>
                                      <p:to>
                                        <p:strVal val="visible"/>
                                      </p:to>
                                    </p:set>
                                    <p:animEffect transition="in" filter="blinds(horizontal)">
                                      <p:cBhvr>
                                        <p:cTn id="77" dur="500"/>
                                        <p:tgtEl>
                                          <p:spTgt spid="78"/>
                                        </p:tgtEl>
                                      </p:cBhvr>
                                    </p:animEffect>
                                  </p:childTnLst>
                                </p:cTn>
                              </p:par>
                              <p:par>
                                <p:cTn id="78" presetID="3" presetClass="entr" presetSubtype="10" fill="hold" nodeType="withEffect">
                                  <p:stCondLst>
                                    <p:cond delay="0"/>
                                  </p:stCondLst>
                                  <p:childTnLst>
                                    <p:set>
                                      <p:cBhvr>
                                        <p:cTn id="79" dur="1" fill="hold">
                                          <p:stCondLst>
                                            <p:cond delay="0"/>
                                          </p:stCondLst>
                                        </p:cTn>
                                        <p:tgtEl>
                                          <p:spTgt spid="79"/>
                                        </p:tgtEl>
                                        <p:attrNameLst>
                                          <p:attrName>style.visibility</p:attrName>
                                        </p:attrNameLst>
                                      </p:cBhvr>
                                      <p:to>
                                        <p:strVal val="visible"/>
                                      </p:to>
                                    </p:set>
                                    <p:animEffect transition="in" filter="blinds(horizontal)">
                                      <p:cBhvr>
                                        <p:cTn id="80" dur="500"/>
                                        <p:tgtEl>
                                          <p:spTgt spid="79"/>
                                        </p:tgtEl>
                                      </p:cBhvr>
                                    </p:animEffect>
                                  </p:childTnLst>
                                </p:cTn>
                              </p:par>
                              <p:par>
                                <p:cTn id="81" presetID="3" presetClass="entr" presetSubtype="10" fill="hold" nodeType="withEffect">
                                  <p:stCondLst>
                                    <p:cond delay="0"/>
                                  </p:stCondLst>
                                  <p:childTnLst>
                                    <p:set>
                                      <p:cBhvr>
                                        <p:cTn id="82" dur="1" fill="hold">
                                          <p:stCondLst>
                                            <p:cond delay="0"/>
                                          </p:stCondLst>
                                        </p:cTn>
                                        <p:tgtEl>
                                          <p:spTgt spid="83"/>
                                        </p:tgtEl>
                                        <p:attrNameLst>
                                          <p:attrName>style.visibility</p:attrName>
                                        </p:attrNameLst>
                                      </p:cBhvr>
                                      <p:to>
                                        <p:strVal val="visible"/>
                                      </p:to>
                                    </p:set>
                                    <p:animEffect transition="in" filter="blinds(horizontal)">
                                      <p:cBhvr>
                                        <p:cTn id="83" dur="500"/>
                                        <p:tgtEl>
                                          <p:spTgt spid="83"/>
                                        </p:tgtEl>
                                      </p:cBhvr>
                                    </p:animEffect>
                                  </p:childTnLst>
                                </p:cTn>
                              </p:par>
                              <p:par>
                                <p:cTn id="84" presetID="3" presetClass="entr" presetSubtype="10" fill="hold" nodeType="withEffect">
                                  <p:stCondLst>
                                    <p:cond delay="0"/>
                                  </p:stCondLst>
                                  <p:childTnLst>
                                    <p:set>
                                      <p:cBhvr>
                                        <p:cTn id="85" dur="1" fill="hold">
                                          <p:stCondLst>
                                            <p:cond delay="0"/>
                                          </p:stCondLst>
                                        </p:cTn>
                                        <p:tgtEl>
                                          <p:spTgt spid="81"/>
                                        </p:tgtEl>
                                        <p:attrNameLst>
                                          <p:attrName>style.visibility</p:attrName>
                                        </p:attrNameLst>
                                      </p:cBhvr>
                                      <p:to>
                                        <p:strVal val="visible"/>
                                      </p:to>
                                    </p:set>
                                    <p:animEffect transition="in" filter="blinds(horizontal)">
                                      <p:cBhvr>
                                        <p:cTn id="86" dur="500"/>
                                        <p:tgtEl>
                                          <p:spTgt spid="81"/>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66"/>
                                        </p:tgtEl>
                                        <p:attrNameLst>
                                          <p:attrName>style.visibility</p:attrName>
                                        </p:attrNameLst>
                                      </p:cBhvr>
                                      <p:to>
                                        <p:strVal val="visible"/>
                                      </p:to>
                                    </p:set>
                                    <p:animEffect transition="in" filter="blinds(horizontal)">
                                      <p:cBhvr>
                                        <p:cTn id="89" dur="500"/>
                                        <p:tgtEl>
                                          <p:spTgt spid="66"/>
                                        </p:tgtEl>
                                      </p:cBhvr>
                                    </p:animEffect>
                                  </p:childTnLst>
                                </p:cTn>
                              </p:par>
                              <p:par>
                                <p:cTn id="90" presetID="3" presetClass="entr" presetSubtype="10" fill="hold" grpId="0" nodeType="withEffect">
                                  <p:stCondLst>
                                    <p:cond delay="0"/>
                                  </p:stCondLst>
                                  <p:childTnLst>
                                    <p:set>
                                      <p:cBhvr>
                                        <p:cTn id="91" dur="1" fill="hold">
                                          <p:stCondLst>
                                            <p:cond delay="0"/>
                                          </p:stCondLst>
                                        </p:cTn>
                                        <p:tgtEl>
                                          <p:spTgt spid="67"/>
                                        </p:tgtEl>
                                        <p:attrNameLst>
                                          <p:attrName>style.visibility</p:attrName>
                                        </p:attrNameLst>
                                      </p:cBhvr>
                                      <p:to>
                                        <p:strVal val="visible"/>
                                      </p:to>
                                    </p:set>
                                    <p:animEffect transition="in" filter="blinds(horizontal)">
                                      <p:cBhvr>
                                        <p:cTn id="92" dur="500"/>
                                        <p:tgtEl>
                                          <p:spTgt spid="67"/>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64"/>
                                        </p:tgtEl>
                                        <p:attrNameLst>
                                          <p:attrName>style.visibility</p:attrName>
                                        </p:attrNameLst>
                                      </p:cBhvr>
                                      <p:to>
                                        <p:strVal val="visible"/>
                                      </p:to>
                                    </p:set>
                                    <p:animEffect transition="in" filter="blinds(horizontal)">
                                      <p:cBhvr>
                                        <p:cTn id="95" dur="500"/>
                                        <p:tgtEl>
                                          <p:spTgt spid="64"/>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65"/>
                                        </p:tgtEl>
                                        <p:attrNameLst>
                                          <p:attrName>style.visibility</p:attrName>
                                        </p:attrNameLst>
                                      </p:cBhvr>
                                      <p:to>
                                        <p:strVal val="visible"/>
                                      </p:to>
                                    </p:set>
                                    <p:animEffect transition="in" filter="blinds(horizontal)">
                                      <p:cBhvr>
                                        <p:cTn id="98" dur="500"/>
                                        <p:tgtEl>
                                          <p:spTgt spid="65"/>
                                        </p:tgtEl>
                                      </p:cBhvr>
                                    </p:animEffect>
                                  </p:childTnLst>
                                </p:cTn>
                              </p:par>
                              <p:par>
                                <p:cTn id="99" presetID="3" presetClass="entr" presetSubtype="10" fill="hold" nodeType="withEffect">
                                  <p:stCondLst>
                                    <p:cond delay="0"/>
                                  </p:stCondLst>
                                  <p:childTnLst>
                                    <p:set>
                                      <p:cBhvr>
                                        <p:cTn id="100" dur="1" fill="hold">
                                          <p:stCondLst>
                                            <p:cond delay="0"/>
                                          </p:stCondLst>
                                        </p:cTn>
                                        <p:tgtEl>
                                          <p:spTgt spid="84"/>
                                        </p:tgtEl>
                                        <p:attrNameLst>
                                          <p:attrName>style.visibility</p:attrName>
                                        </p:attrNameLst>
                                      </p:cBhvr>
                                      <p:to>
                                        <p:strVal val="visible"/>
                                      </p:to>
                                    </p:set>
                                    <p:animEffect transition="in" filter="blinds(horizontal)">
                                      <p:cBhvr>
                                        <p:cTn id="101" dur="500"/>
                                        <p:tgtEl>
                                          <p:spTgt spid="84"/>
                                        </p:tgtEl>
                                      </p:cBhvr>
                                    </p:animEffect>
                                  </p:childTnLst>
                                </p:cTn>
                              </p:par>
                              <p:par>
                                <p:cTn id="102" presetID="3" presetClass="entr" presetSubtype="10" fill="hold" nodeType="withEffect">
                                  <p:stCondLst>
                                    <p:cond delay="0"/>
                                  </p:stCondLst>
                                  <p:childTnLst>
                                    <p:set>
                                      <p:cBhvr>
                                        <p:cTn id="103" dur="1" fill="hold">
                                          <p:stCondLst>
                                            <p:cond delay="0"/>
                                          </p:stCondLst>
                                        </p:cTn>
                                        <p:tgtEl>
                                          <p:spTgt spid="86"/>
                                        </p:tgtEl>
                                        <p:attrNameLst>
                                          <p:attrName>style.visibility</p:attrName>
                                        </p:attrNameLst>
                                      </p:cBhvr>
                                      <p:to>
                                        <p:strVal val="visible"/>
                                      </p:to>
                                    </p:set>
                                    <p:animEffect transition="in" filter="blinds(horizontal)">
                                      <p:cBhvr>
                                        <p:cTn id="104" dur="500"/>
                                        <p:tgtEl>
                                          <p:spTgt spid="86"/>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62"/>
                                        </p:tgtEl>
                                        <p:attrNameLst>
                                          <p:attrName>style.visibility</p:attrName>
                                        </p:attrNameLst>
                                      </p:cBhvr>
                                      <p:to>
                                        <p:strVal val="visible"/>
                                      </p:to>
                                    </p:set>
                                    <p:animEffect transition="in" filter="blinds(horizontal)">
                                      <p:cBhvr>
                                        <p:cTn id="107" dur="500"/>
                                        <p:tgtEl>
                                          <p:spTgt spid="62"/>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63"/>
                                        </p:tgtEl>
                                        <p:attrNameLst>
                                          <p:attrName>style.visibility</p:attrName>
                                        </p:attrNameLst>
                                      </p:cBhvr>
                                      <p:to>
                                        <p:strVal val="visible"/>
                                      </p:to>
                                    </p:set>
                                    <p:animEffect transition="in" filter="blinds(horizontal)">
                                      <p:cBhvr>
                                        <p:cTn id="110" dur="500"/>
                                        <p:tgtEl>
                                          <p:spTgt spid="63"/>
                                        </p:tgtEl>
                                      </p:cBhvr>
                                    </p:animEffect>
                                  </p:childTnLst>
                                </p:cTn>
                              </p:par>
                              <p:par>
                                <p:cTn id="111" presetID="3" presetClass="entr" presetSubtype="10" fill="hold" nodeType="withEffect">
                                  <p:stCondLst>
                                    <p:cond delay="0"/>
                                  </p:stCondLst>
                                  <p:childTnLst>
                                    <p:set>
                                      <p:cBhvr>
                                        <p:cTn id="112" dur="1" fill="hold">
                                          <p:stCondLst>
                                            <p:cond delay="0"/>
                                          </p:stCondLst>
                                        </p:cTn>
                                        <p:tgtEl>
                                          <p:spTgt spid="85"/>
                                        </p:tgtEl>
                                        <p:attrNameLst>
                                          <p:attrName>style.visibility</p:attrName>
                                        </p:attrNameLst>
                                      </p:cBhvr>
                                      <p:to>
                                        <p:strVal val="visible"/>
                                      </p:to>
                                    </p:set>
                                    <p:animEffect transition="in" filter="blinds(horizontal)">
                                      <p:cBhvr>
                                        <p:cTn id="113" dur="500"/>
                                        <p:tgtEl>
                                          <p:spTgt spid="85"/>
                                        </p:tgtEl>
                                      </p:cBhvr>
                                    </p:animEffect>
                                  </p:childTnLst>
                                </p:cTn>
                              </p:par>
                              <p:par>
                                <p:cTn id="114" presetID="3" presetClass="entr" presetSubtype="10" fill="hold" nodeType="withEffect">
                                  <p:stCondLst>
                                    <p:cond delay="0"/>
                                  </p:stCondLst>
                                  <p:childTnLst>
                                    <p:set>
                                      <p:cBhvr>
                                        <p:cTn id="115" dur="1" fill="hold">
                                          <p:stCondLst>
                                            <p:cond delay="0"/>
                                          </p:stCondLst>
                                        </p:cTn>
                                        <p:tgtEl>
                                          <p:spTgt spid="87"/>
                                        </p:tgtEl>
                                        <p:attrNameLst>
                                          <p:attrName>style.visibility</p:attrName>
                                        </p:attrNameLst>
                                      </p:cBhvr>
                                      <p:to>
                                        <p:strVal val="visible"/>
                                      </p:to>
                                    </p:set>
                                    <p:animEffect transition="in" filter="blinds(horizontal)">
                                      <p:cBhvr>
                                        <p:cTn id="116" dur="500"/>
                                        <p:tgtEl>
                                          <p:spTgt spid="87"/>
                                        </p:tgtEl>
                                      </p:cBhvr>
                                    </p:animEffect>
                                  </p:childTnLst>
                                </p:cTn>
                              </p:par>
                              <p:par>
                                <p:cTn id="117" presetID="3" presetClass="entr" presetSubtype="10" fill="hold" grpId="0" nodeType="withEffect">
                                  <p:stCondLst>
                                    <p:cond delay="0"/>
                                  </p:stCondLst>
                                  <p:childTnLst>
                                    <p:set>
                                      <p:cBhvr>
                                        <p:cTn id="118" dur="1" fill="hold">
                                          <p:stCondLst>
                                            <p:cond delay="0"/>
                                          </p:stCondLst>
                                        </p:cTn>
                                        <p:tgtEl>
                                          <p:spTgt spid="60"/>
                                        </p:tgtEl>
                                        <p:attrNameLst>
                                          <p:attrName>style.visibility</p:attrName>
                                        </p:attrNameLst>
                                      </p:cBhvr>
                                      <p:to>
                                        <p:strVal val="visible"/>
                                      </p:to>
                                    </p:set>
                                    <p:animEffect transition="in" filter="blinds(horizontal)">
                                      <p:cBhvr>
                                        <p:cTn id="119" dur="500"/>
                                        <p:tgtEl>
                                          <p:spTgt spid="60"/>
                                        </p:tgtEl>
                                      </p:cBhvr>
                                    </p:animEffect>
                                  </p:childTnLst>
                                </p:cTn>
                              </p:par>
                              <p:par>
                                <p:cTn id="120" presetID="3" presetClass="entr" presetSubtype="10" fill="hold" grpId="0" nodeType="withEffect">
                                  <p:stCondLst>
                                    <p:cond delay="0"/>
                                  </p:stCondLst>
                                  <p:childTnLst>
                                    <p:set>
                                      <p:cBhvr>
                                        <p:cTn id="121" dur="1" fill="hold">
                                          <p:stCondLst>
                                            <p:cond delay="0"/>
                                          </p:stCondLst>
                                        </p:cTn>
                                        <p:tgtEl>
                                          <p:spTgt spid="61"/>
                                        </p:tgtEl>
                                        <p:attrNameLst>
                                          <p:attrName>style.visibility</p:attrName>
                                        </p:attrNameLst>
                                      </p:cBhvr>
                                      <p:to>
                                        <p:strVal val="visible"/>
                                      </p:to>
                                    </p:set>
                                    <p:animEffect transition="in" filter="blinds(horizontal)">
                                      <p:cBhvr>
                                        <p:cTn id="122" dur="500"/>
                                        <p:tgtEl>
                                          <p:spTgt spid="61"/>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38"/>
                                        </p:tgtEl>
                                        <p:attrNameLst>
                                          <p:attrName>style.visibility</p:attrName>
                                        </p:attrNameLst>
                                      </p:cBhvr>
                                      <p:to>
                                        <p:strVal val="visible"/>
                                      </p:to>
                                    </p:set>
                                    <p:animEffect transition="in" filter="blinds(horizontal)">
                                      <p:cBhvr>
                                        <p:cTn id="127" dur="500"/>
                                        <p:tgtEl>
                                          <p:spTgt spid="38"/>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grpId="0" nodeType="clickEffect">
                                  <p:stCondLst>
                                    <p:cond delay="0"/>
                                  </p:stCondLst>
                                  <p:childTnLst>
                                    <p:set>
                                      <p:cBhvr>
                                        <p:cTn id="131" dur="1" fill="hold">
                                          <p:stCondLst>
                                            <p:cond delay="0"/>
                                          </p:stCondLst>
                                        </p:cTn>
                                        <p:tgtEl>
                                          <p:spTgt spid="51"/>
                                        </p:tgtEl>
                                        <p:attrNameLst>
                                          <p:attrName>style.visibility</p:attrName>
                                        </p:attrNameLst>
                                      </p:cBhvr>
                                      <p:to>
                                        <p:strVal val="visible"/>
                                      </p:to>
                                    </p:set>
                                    <p:animEffect transition="in" filter="blinds(horizontal)">
                                      <p:cBhvr>
                                        <p:cTn id="13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38" grpId="0"/>
      <p:bldP spid="51" grpId="0"/>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46469"/>
            <a:ext cx="7886700" cy="847448"/>
          </a:xfrm>
        </p:spPr>
        <p:txBody>
          <a:bodyPr/>
          <a:lstStyle/>
          <a:p>
            <a:r>
              <a:rPr lang="en-US" dirty="0"/>
              <a:t>Schematic of </a:t>
            </a:r>
            <a:r>
              <a:rPr lang="en-US"/>
              <a:t>recursive calls</a:t>
            </a:r>
          </a:p>
        </p:txBody>
      </p:sp>
      <p:grpSp>
        <p:nvGrpSpPr>
          <p:cNvPr id="95" name="Group 94"/>
          <p:cNvGrpSpPr/>
          <p:nvPr/>
        </p:nvGrpSpPr>
        <p:grpSpPr>
          <a:xfrm>
            <a:off x="2303114" y="4076076"/>
            <a:ext cx="7544910" cy="725081"/>
            <a:chOff x="779114" y="4076075"/>
            <a:chExt cx="7544910" cy="725081"/>
          </a:xfrm>
        </p:grpSpPr>
        <p:grpSp>
          <p:nvGrpSpPr>
            <p:cNvPr id="22" name="Group 21"/>
            <p:cNvGrpSpPr/>
            <p:nvPr/>
          </p:nvGrpSpPr>
          <p:grpSpPr>
            <a:xfrm>
              <a:off x="779114" y="4091783"/>
              <a:ext cx="1410402" cy="709373"/>
              <a:chOff x="779114" y="3893003"/>
              <a:chExt cx="1410402" cy="709373"/>
            </a:xfrm>
          </p:grpSpPr>
          <p:sp>
            <p:nvSpPr>
              <p:cNvPr id="5" name="Rectangle 4"/>
              <p:cNvSpPr/>
              <p:nvPr/>
            </p:nvSpPr>
            <p:spPr>
              <a:xfrm>
                <a:off x="1484315" y="389717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14" name="Rectangle 13"/>
              <p:cNvSpPr/>
              <p:nvPr/>
            </p:nvSpPr>
            <p:spPr>
              <a:xfrm>
                <a:off x="779114"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grpSp>
        <p:grpSp>
          <p:nvGrpSpPr>
            <p:cNvPr id="23" name="Group 22"/>
            <p:cNvGrpSpPr/>
            <p:nvPr/>
          </p:nvGrpSpPr>
          <p:grpSpPr>
            <a:xfrm>
              <a:off x="2621337" y="4076075"/>
              <a:ext cx="1410402" cy="705202"/>
              <a:chOff x="2621337" y="3877295"/>
              <a:chExt cx="1410402" cy="705202"/>
            </a:xfrm>
          </p:grpSpPr>
          <p:sp>
            <p:nvSpPr>
              <p:cNvPr id="15" name="Rectangle 14"/>
              <p:cNvSpPr/>
              <p:nvPr/>
            </p:nvSpPr>
            <p:spPr>
              <a:xfrm>
                <a:off x="2621337" y="3877296"/>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17" name="Rectangle 16"/>
              <p:cNvSpPr/>
              <p:nvPr/>
            </p:nvSpPr>
            <p:spPr>
              <a:xfrm>
                <a:off x="3326538" y="3877295"/>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grpSp>
        <p:grpSp>
          <p:nvGrpSpPr>
            <p:cNvPr id="24" name="Group 23"/>
            <p:cNvGrpSpPr/>
            <p:nvPr/>
          </p:nvGrpSpPr>
          <p:grpSpPr>
            <a:xfrm>
              <a:off x="4816160" y="4091783"/>
              <a:ext cx="1406102" cy="705201"/>
              <a:chOff x="4816160" y="3893003"/>
              <a:chExt cx="1406102" cy="705201"/>
            </a:xfrm>
          </p:grpSpPr>
          <p:sp>
            <p:nvSpPr>
              <p:cNvPr id="18" name="Rectangle 17"/>
              <p:cNvSpPr/>
              <p:nvPr/>
            </p:nvSpPr>
            <p:spPr>
              <a:xfrm>
                <a:off x="4816160"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9" name="Rectangle 18"/>
              <p:cNvSpPr/>
              <p:nvPr/>
            </p:nvSpPr>
            <p:spPr>
              <a:xfrm>
                <a:off x="5517061"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grpSp>
        <p:grpSp>
          <p:nvGrpSpPr>
            <p:cNvPr id="26" name="Group 25"/>
            <p:cNvGrpSpPr/>
            <p:nvPr/>
          </p:nvGrpSpPr>
          <p:grpSpPr>
            <a:xfrm>
              <a:off x="6878419" y="4091783"/>
              <a:ext cx="1445605" cy="705201"/>
              <a:chOff x="6878419" y="3893003"/>
              <a:chExt cx="1445605" cy="705201"/>
            </a:xfrm>
          </p:grpSpPr>
          <p:sp>
            <p:nvSpPr>
              <p:cNvPr id="20" name="Rectangle 19"/>
              <p:cNvSpPr/>
              <p:nvPr/>
            </p:nvSpPr>
            <p:spPr>
              <a:xfrm>
                <a:off x="6878419"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1" name="Rectangle 20"/>
              <p:cNvSpPr/>
              <p:nvPr/>
            </p:nvSpPr>
            <p:spPr>
              <a:xfrm>
                <a:off x="7618823" y="3893003"/>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grpSp>
      <p:grpSp>
        <p:nvGrpSpPr>
          <p:cNvPr id="36" name="Group 35"/>
          <p:cNvGrpSpPr/>
          <p:nvPr/>
        </p:nvGrpSpPr>
        <p:grpSpPr>
          <a:xfrm>
            <a:off x="6713911" y="2688757"/>
            <a:ext cx="2820074" cy="712577"/>
            <a:chOff x="5189911" y="2489976"/>
            <a:chExt cx="2820074" cy="712577"/>
          </a:xfrm>
        </p:grpSpPr>
        <p:sp>
          <p:nvSpPr>
            <p:cNvPr id="27" name="Rectangle 26"/>
            <p:cNvSpPr/>
            <p:nvPr/>
          </p:nvSpPr>
          <p:spPr>
            <a:xfrm>
              <a:off x="5189911"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28" name="Rectangle 27"/>
            <p:cNvSpPr/>
            <p:nvPr/>
          </p:nvSpPr>
          <p:spPr>
            <a:xfrm>
              <a:off x="5905115" y="2489977"/>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29" name="Rectangle 28"/>
            <p:cNvSpPr/>
            <p:nvPr/>
          </p:nvSpPr>
          <p:spPr>
            <a:xfrm>
              <a:off x="6599583" y="2489976"/>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30" name="Rectangle 29"/>
            <p:cNvSpPr/>
            <p:nvPr/>
          </p:nvSpPr>
          <p:spPr>
            <a:xfrm>
              <a:off x="7304784"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grpSp>
      <p:grpSp>
        <p:nvGrpSpPr>
          <p:cNvPr id="35" name="Group 34"/>
          <p:cNvGrpSpPr/>
          <p:nvPr/>
        </p:nvGrpSpPr>
        <p:grpSpPr>
          <a:xfrm>
            <a:off x="2699797" y="2696133"/>
            <a:ext cx="2800196" cy="705201"/>
            <a:chOff x="1175797" y="2497352"/>
            <a:chExt cx="2800196" cy="705201"/>
          </a:xfrm>
        </p:grpSpPr>
        <p:sp>
          <p:nvSpPr>
            <p:cNvPr id="31" name="Rectangle 30"/>
            <p:cNvSpPr/>
            <p:nvPr/>
          </p:nvSpPr>
          <p:spPr>
            <a:xfrm>
              <a:off x="1175797"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32" name="Rectangle 31"/>
            <p:cNvSpPr/>
            <p:nvPr/>
          </p:nvSpPr>
          <p:spPr>
            <a:xfrm>
              <a:off x="1893051"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33" name="Rectangle 32"/>
            <p:cNvSpPr/>
            <p:nvPr/>
          </p:nvSpPr>
          <p:spPr>
            <a:xfrm>
              <a:off x="2575466"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34" name="Rectangle 33"/>
            <p:cNvSpPr/>
            <p:nvPr/>
          </p:nvSpPr>
          <p:spPr>
            <a:xfrm>
              <a:off x="3270792" y="2497352"/>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grpSp>
      <p:grpSp>
        <p:nvGrpSpPr>
          <p:cNvPr id="54" name="Group 53"/>
          <p:cNvGrpSpPr/>
          <p:nvPr/>
        </p:nvGrpSpPr>
        <p:grpSpPr>
          <a:xfrm>
            <a:off x="3077713" y="1419769"/>
            <a:ext cx="5766649" cy="705201"/>
            <a:chOff x="1553712" y="1220988"/>
            <a:chExt cx="5766649" cy="705201"/>
          </a:xfrm>
        </p:grpSpPr>
        <p:grpSp>
          <p:nvGrpSpPr>
            <p:cNvPr id="37" name="Group 36"/>
            <p:cNvGrpSpPr/>
            <p:nvPr/>
          </p:nvGrpSpPr>
          <p:grpSpPr>
            <a:xfrm>
              <a:off x="1553712" y="1220988"/>
              <a:ext cx="5766649" cy="705201"/>
              <a:chOff x="1573619" y="3296093"/>
              <a:chExt cx="5766649" cy="705201"/>
            </a:xfrm>
            <a:solidFill>
              <a:schemeClr val="accent4">
                <a:lumMod val="20000"/>
                <a:lumOff val="80000"/>
              </a:schemeClr>
            </a:solidFill>
          </p:grpSpPr>
          <p:sp>
            <p:nvSpPr>
              <p:cNvPr id="38" name="Rectangle 37"/>
              <p:cNvSpPr/>
              <p:nvPr/>
            </p:nvSpPr>
            <p:spPr>
              <a:xfrm>
                <a:off x="1573619"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39" name="Rectangle 38"/>
              <p:cNvSpPr/>
              <p:nvPr/>
            </p:nvSpPr>
            <p:spPr>
              <a:xfrm>
                <a:off x="2303538"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0" name="Rectangle 39"/>
              <p:cNvSpPr/>
              <p:nvPr/>
            </p:nvSpPr>
            <p:spPr>
              <a:xfrm>
                <a:off x="3012192"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1" name="Rectangle 40"/>
              <p:cNvSpPr/>
              <p:nvPr/>
            </p:nvSpPr>
            <p:spPr>
              <a:xfrm>
                <a:off x="3738658"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2" name="Rectangle 41"/>
              <p:cNvSpPr/>
              <p:nvPr/>
            </p:nvSpPr>
            <p:spPr>
              <a:xfrm>
                <a:off x="4470028"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3" name="Rectangle 42"/>
              <p:cNvSpPr/>
              <p:nvPr/>
            </p:nvSpPr>
            <p:spPr>
              <a:xfrm>
                <a:off x="5178682"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4" name="Rectangle 43"/>
              <p:cNvSpPr/>
              <p:nvPr/>
            </p:nvSpPr>
            <p:spPr>
              <a:xfrm>
                <a:off x="5908601"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sp>
            <p:nvSpPr>
              <p:cNvPr id="45" name="Rectangle 44"/>
              <p:cNvSpPr/>
              <p:nvPr/>
            </p:nvSpPr>
            <p:spPr>
              <a:xfrm>
                <a:off x="6635067" y="3296093"/>
                <a:ext cx="705201" cy="705201"/>
              </a:xfrm>
              <a:prstGeom prst="rect">
                <a:avLst/>
              </a:prstGeom>
              <a:grp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1"/>
                  </a:solidFill>
                </a:endParaRPr>
              </a:p>
            </p:txBody>
          </p:sp>
        </p:grpSp>
        <p:sp>
          <p:nvSpPr>
            <p:cNvPr id="46" name="Rectangle 45"/>
            <p:cNvSpPr/>
            <p:nvPr/>
          </p:nvSpPr>
          <p:spPr>
            <a:xfrm>
              <a:off x="1554075"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p>
          </p:txBody>
        </p:sp>
        <p:sp>
          <p:nvSpPr>
            <p:cNvPr id="47" name="Rectangle 46"/>
            <p:cNvSpPr/>
            <p:nvPr/>
          </p:nvSpPr>
          <p:spPr>
            <a:xfrm>
              <a:off x="2283631"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solidFill>
                    <a:schemeClr val="tx1"/>
                  </a:solidFill>
                </a:rPr>
                <a:t>2</a:t>
              </a:r>
              <a:endParaRPr lang="en-US" sz="3200" dirty="0">
                <a:solidFill>
                  <a:schemeClr val="tx1"/>
                </a:solidFill>
              </a:endParaRPr>
            </a:p>
          </p:txBody>
        </p:sp>
        <p:sp>
          <p:nvSpPr>
            <p:cNvPr id="48" name="Rectangle 47"/>
            <p:cNvSpPr/>
            <p:nvPr/>
          </p:nvSpPr>
          <p:spPr>
            <a:xfrm>
              <a:off x="2992285"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p>
          </p:txBody>
        </p:sp>
        <p:sp>
          <p:nvSpPr>
            <p:cNvPr id="49" name="Rectangle 48"/>
            <p:cNvSpPr/>
            <p:nvPr/>
          </p:nvSpPr>
          <p:spPr>
            <a:xfrm>
              <a:off x="3718751"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p>
          </p:txBody>
        </p:sp>
        <p:sp>
          <p:nvSpPr>
            <p:cNvPr id="50" name="Rectangle 49"/>
            <p:cNvSpPr/>
            <p:nvPr/>
          </p:nvSpPr>
          <p:spPr>
            <a:xfrm>
              <a:off x="4450121"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p>
          </p:txBody>
        </p:sp>
        <p:sp>
          <p:nvSpPr>
            <p:cNvPr id="51" name="Rectangle 50"/>
            <p:cNvSpPr/>
            <p:nvPr/>
          </p:nvSpPr>
          <p:spPr>
            <a:xfrm>
              <a:off x="5158775"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p>
          </p:txBody>
        </p:sp>
        <p:sp>
          <p:nvSpPr>
            <p:cNvPr id="52" name="Rectangle 51"/>
            <p:cNvSpPr/>
            <p:nvPr/>
          </p:nvSpPr>
          <p:spPr>
            <a:xfrm>
              <a:off x="5888694"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p>
          </p:txBody>
        </p:sp>
        <p:sp>
          <p:nvSpPr>
            <p:cNvPr id="53" name="Rectangle 52"/>
            <p:cNvSpPr/>
            <p:nvPr/>
          </p:nvSpPr>
          <p:spPr>
            <a:xfrm>
              <a:off x="6615160" y="1220988"/>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p>
          </p:txBody>
        </p:sp>
      </p:grpSp>
      <p:cxnSp>
        <p:nvCxnSpPr>
          <p:cNvPr id="62" name="Straight Arrow Connector 61"/>
          <p:cNvCxnSpPr>
            <a:endCxn id="29" idx="2"/>
          </p:cNvCxnSpPr>
          <p:nvPr/>
        </p:nvCxnSpPr>
        <p:spPr>
          <a:xfrm flipH="1" flipV="1">
            <a:off x="8476185" y="3393957"/>
            <a:ext cx="666639" cy="7141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3" name="Straight Arrow Connector 62"/>
          <p:cNvCxnSpPr/>
          <p:nvPr/>
        </p:nvCxnSpPr>
        <p:spPr>
          <a:xfrm flipH="1" flipV="1">
            <a:off x="4476796" y="3369920"/>
            <a:ext cx="373742" cy="696591"/>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4" name="Straight Arrow Connector 63"/>
          <p:cNvCxnSpPr/>
          <p:nvPr/>
        </p:nvCxnSpPr>
        <p:spPr>
          <a:xfrm flipH="1" flipV="1">
            <a:off x="6713912" y="2140678"/>
            <a:ext cx="1073989" cy="497893"/>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9" name="Straight Arrow Connector 68"/>
          <p:cNvCxnSpPr/>
          <p:nvPr/>
        </p:nvCxnSpPr>
        <p:spPr>
          <a:xfrm flipV="1">
            <a:off x="4099466" y="2156386"/>
            <a:ext cx="1047926" cy="53018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72" name="Straight Arrow Connector 71"/>
          <p:cNvCxnSpPr/>
          <p:nvPr/>
        </p:nvCxnSpPr>
        <p:spPr>
          <a:xfrm flipV="1">
            <a:off x="3008315" y="3401333"/>
            <a:ext cx="530432" cy="659034"/>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82" name="Straight Arrow Connector 81"/>
          <p:cNvCxnSpPr>
            <a:endCxn id="28" idx="2"/>
          </p:cNvCxnSpPr>
          <p:nvPr/>
        </p:nvCxnSpPr>
        <p:spPr>
          <a:xfrm flipV="1">
            <a:off x="7060398" y="3393959"/>
            <a:ext cx="721318" cy="705679"/>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grpSp>
        <p:nvGrpSpPr>
          <p:cNvPr id="94" name="Group 93"/>
          <p:cNvGrpSpPr/>
          <p:nvPr/>
        </p:nvGrpSpPr>
        <p:grpSpPr>
          <a:xfrm>
            <a:off x="2325685" y="4765568"/>
            <a:ext cx="7539565" cy="721866"/>
            <a:chOff x="801684" y="4765568"/>
            <a:chExt cx="7539565" cy="721866"/>
          </a:xfrm>
        </p:grpSpPr>
        <p:cxnSp>
          <p:nvCxnSpPr>
            <p:cNvPr id="56" name="Straight Arrow Connector 55"/>
            <p:cNvCxnSpPr>
              <a:stCxn id="12" idx="0"/>
              <a:endCxn id="21" idx="2"/>
            </p:cNvCxnSpPr>
            <p:nvPr/>
          </p:nvCxnSpPr>
          <p:spPr>
            <a:xfrm flipH="1" flipV="1">
              <a:off x="7971424" y="4796984"/>
              <a:ext cx="284240"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58" name="Straight Arrow Connector 57"/>
            <p:cNvCxnSpPr/>
            <p:nvPr/>
          </p:nvCxnSpPr>
          <p:spPr>
            <a:xfrm flipH="1" flipV="1">
              <a:off x="5876291" y="4781276"/>
              <a:ext cx="284240"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59" name="Straight Arrow Connector 58"/>
            <p:cNvCxnSpPr/>
            <p:nvPr/>
          </p:nvCxnSpPr>
          <p:spPr>
            <a:xfrm flipH="1" flipV="1">
              <a:off x="3712397" y="4765568"/>
              <a:ext cx="284240"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60" name="Straight Arrow Connector 59"/>
            <p:cNvCxnSpPr/>
            <p:nvPr/>
          </p:nvCxnSpPr>
          <p:spPr>
            <a:xfrm flipH="1" flipV="1">
              <a:off x="1670273" y="4805328"/>
              <a:ext cx="197973" cy="65069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75" name="Straight Arrow Connector 74"/>
            <p:cNvCxnSpPr>
              <a:endCxn id="14" idx="2"/>
            </p:cNvCxnSpPr>
            <p:nvPr/>
          </p:nvCxnSpPr>
          <p:spPr>
            <a:xfrm flipV="1">
              <a:off x="801684" y="4796984"/>
              <a:ext cx="330031"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77" name="Straight Arrow Connector 76"/>
            <p:cNvCxnSpPr/>
            <p:nvPr/>
          </p:nvCxnSpPr>
          <p:spPr>
            <a:xfrm flipV="1">
              <a:off x="2920092" y="4789130"/>
              <a:ext cx="330031" cy="690450"/>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78" name="Straight Arrow Connector 77"/>
            <p:cNvCxnSpPr>
              <a:endCxn id="18" idx="2"/>
            </p:cNvCxnSpPr>
            <p:nvPr/>
          </p:nvCxnSpPr>
          <p:spPr>
            <a:xfrm flipV="1">
              <a:off x="5128430" y="4796984"/>
              <a:ext cx="40331" cy="682596"/>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cxnSp>
          <p:nvCxnSpPr>
            <p:cNvPr id="80" name="Straight Arrow Connector 79"/>
            <p:cNvCxnSpPr/>
            <p:nvPr/>
          </p:nvCxnSpPr>
          <p:spPr>
            <a:xfrm flipV="1">
              <a:off x="7210853" y="4813308"/>
              <a:ext cx="211504" cy="638783"/>
            </a:xfrm>
            <a:prstGeom prst="straightConnector1">
              <a:avLst/>
            </a:prstGeom>
            <a:ln w="25400">
              <a:tailEnd type="stealth" w="lg" len="lg"/>
            </a:ln>
          </p:spPr>
          <p:style>
            <a:lnRef idx="3">
              <a:schemeClr val="dk1"/>
            </a:lnRef>
            <a:fillRef idx="0">
              <a:schemeClr val="dk1"/>
            </a:fillRef>
            <a:effectRef idx="2">
              <a:schemeClr val="dk1"/>
            </a:effectRef>
            <a:fontRef idx="minor">
              <a:schemeClr val="tx1"/>
            </a:fontRef>
          </p:style>
        </p:cxnSp>
        <p:sp>
          <p:nvSpPr>
            <p:cNvPr id="84" name="TextBox 83"/>
            <p:cNvSpPr txBox="1"/>
            <p:nvPr/>
          </p:nvSpPr>
          <p:spPr>
            <a:xfrm>
              <a:off x="7316605" y="4970235"/>
              <a:ext cx="1024644" cy="369332"/>
            </a:xfrm>
            <a:prstGeom prst="rect">
              <a:avLst/>
            </a:prstGeom>
            <a:noFill/>
          </p:spPr>
          <p:txBody>
            <a:bodyPr wrap="square" rtlCol="0">
              <a:spAutoFit/>
            </a:bodyPr>
            <a:lstStyle/>
            <a:p>
              <a:r>
                <a:rPr lang="en-US" dirty="0">
                  <a:solidFill>
                    <a:schemeClr val="accent1"/>
                  </a:solidFill>
                </a:rPr>
                <a:t>Merge!</a:t>
              </a:r>
            </a:p>
          </p:txBody>
        </p:sp>
        <p:sp>
          <p:nvSpPr>
            <p:cNvPr id="85" name="TextBox 84"/>
            <p:cNvSpPr txBox="1"/>
            <p:nvPr/>
          </p:nvSpPr>
          <p:spPr>
            <a:xfrm>
              <a:off x="5104637" y="4989350"/>
              <a:ext cx="1024644" cy="369332"/>
            </a:xfrm>
            <a:prstGeom prst="rect">
              <a:avLst/>
            </a:prstGeom>
            <a:noFill/>
          </p:spPr>
          <p:txBody>
            <a:bodyPr wrap="square" rtlCol="0">
              <a:spAutoFit/>
            </a:bodyPr>
            <a:lstStyle/>
            <a:p>
              <a:r>
                <a:rPr lang="en-US" dirty="0">
                  <a:solidFill>
                    <a:schemeClr val="accent1"/>
                  </a:solidFill>
                </a:rPr>
                <a:t>Merge!</a:t>
              </a:r>
            </a:p>
          </p:txBody>
        </p:sp>
        <p:sp>
          <p:nvSpPr>
            <p:cNvPr id="86" name="TextBox 85"/>
            <p:cNvSpPr txBox="1"/>
            <p:nvPr/>
          </p:nvSpPr>
          <p:spPr>
            <a:xfrm>
              <a:off x="3080140" y="5004158"/>
              <a:ext cx="1024644" cy="369332"/>
            </a:xfrm>
            <a:prstGeom prst="rect">
              <a:avLst/>
            </a:prstGeom>
            <a:noFill/>
          </p:spPr>
          <p:txBody>
            <a:bodyPr wrap="square" rtlCol="0">
              <a:spAutoFit/>
            </a:bodyPr>
            <a:lstStyle/>
            <a:p>
              <a:r>
                <a:rPr lang="en-US" dirty="0">
                  <a:solidFill>
                    <a:schemeClr val="accent1"/>
                  </a:solidFill>
                </a:rPr>
                <a:t>Merge!</a:t>
              </a:r>
            </a:p>
          </p:txBody>
        </p:sp>
        <p:sp>
          <p:nvSpPr>
            <p:cNvPr id="87" name="TextBox 86"/>
            <p:cNvSpPr txBox="1"/>
            <p:nvPr/>
          </p:nvSpPr>
          <p:spPr>
            <a:xfrm>
              <a:off x="926837" y="5004158"/>
              <a:ext cx="1024644" cy="369332"/>
            </a:xfrm>
            <a:prstGeom prst="rect">
              <a:avLst/>
            </a:prstGeom>
            <a:noFill/>
          </p:spPr>
          <p:txBody>
            <a:bodyPr wrap="square" rtlCol="0">
              <a:spAutoFit/>
            </a:bodyPr>
            <a:lstStyle/>
            <a:p>
              <a:r>
                <a:rPr lang="en-US" dirty="0">
                  <a:solidFill>
                    <a:schemeClr val="accent1"/>
                  </a:solidFill>
                </a:rPr>
                <a:t>Merge!</a:t>
              </a:r>
            </a:p>
          </p:txBody>
        </p:sp>
      </p:grpSp>
      <p:sp>
        <p:nvSpPr>
          <p:cNvPr id="88" name="TextBox 87"/>
          <p:cNvSpPr txBox="1"/>
          <p:nvPr/>
        </p:nvSpPr>
        <p:spPr>
          <a:xfrm>
            <a:off x="3579496" y="3565557"/>
            <a:ext cx="1024644" cy="369332"/>
          </a:xfrm>
          <a:prstGeom prst="rect">
            <a:avLst/>
          </a:prstGeom>
          <a:noFill/>
        </p:spPr>
        <p:txBody>
          <a:bodyPr wrap="square" rtlCol="0">
            <a:spAutoFit/>
          </a:bodyPr>
          <a:lstStyle/>
          <a:p>
            <a:r>
              <a:rPr lang="en-US" dirty="0">
                <a:solidFill>
                  <a:schemeClr val="accent1"/>
                </a:solidFill>
              </a:rPr>
              <a:t>Merge!</a:t>
            </a:r>
          </a:p>
        </p:txBody>
      </p:sp>
      <p:sp>
        <p:nvSpPr>
          <p:cNvPr id="89" name="TextBox 88"/>
          <p:cNvSpPr txBox="1"/>
          <p:nvPr/>
        </p:nvSpPr>
        <p:spPr>
          <a:xfrm>
            <a:off x="7621994" y="3557964"/>
            <a:ext cx="1024644" cy="369332"/>
          </a:xfrm>
          <a:prstGeom prst="rect">
            <a:avLst/>
          </a:prstGeom>
          <a:noFill/>
        </p:spPr>
        <p:txBody>
          <a:bodyPr wrap="square" rtlCol="0">
            <a:spAutoFit/>
          </a:bodyPr>
          <a:lstStyle/>
          <a:p>
            <a:r>
              <a:rPr lang="en-US" dirty="0">
                <a:solidFill>
                  <a:schemeClr val="accent1"/>
                </a:solidFill>
              </a:rPr>
              <a:t>Merge!</a:t>
            </a:r>
          </a:p>
        </p:txBody>
      </p:sp>
      <p:sp>
        <p:nvSpPr>
          <p:cNvPr id="90" name="TextBox 89"/>
          <p:cNvSpPr txBox="1"/>
          <p:nvPr/>
        </p:nvSpPr>
        <p:spPr>
          <a:xfrm>
            <a:off x="5477425" y="2200606"/>
            <a:ext cx="1024644" cy="369332"/>
          </a:xfrm>
          <a:prstGeom prst="rect">
            <a:avLst/>
          </a:prstGeom>
          <a:noFill/>
        </p:spPr>
        <p:txBody>
          <a:bodyPr wrap="square" rtlCol="0">
            <a:spAutoFit/>
          </a:bodyPr>
          <a:lstStyle/>
          <a:p>
            <a:r>
              <a:rPr lang="en-US" dirty="0">
                <a:solidFill>
                  <a:schemeClr val="accent1"/>
                </a:solidFill>
              </a:rPr>
              <a:t>Merge!</a:t>
            </a:r>
          </a:p>
        </p:txBody>
      </p:sp>
      <p:grpSp>
        <p:nvGrpSpPr>
          <p:cNvPr id="93" name="Group 92"/>
          <p:cNvGrpSpPr/>
          <p:nvPr/>
        </p:nvGrpSpPr>
        <p:grpSpPr>
          <a:xfrm>
            <a:off x="1983672" y="5487434"/>
            <a:ext cx="8148592" cy="1185018"/>
            <a:chOff x="459672" y="5487434"/>
            <a:chExt cx="8148592" cy="1185018"/>
          </a:xfrm>
        </p:grpSpPr>
        <p:sp>
          <p:nvSpPr>
            <p:cNvPr id="6" name="Rectangle 5"/>
            <p:cNvSpPr/>
            <p:nvPr/>
          </p:nvSpPr>
          <p:spPr>
            <a:xfrm>
              <a:off x="1484315"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4</a:t>
              </a:r>
              <a:endParaRPr lang="en-US" dirty="0">
                <a:solidFill>
                  <a:schemeClr val="tx1"/>
                </a:solidFill>
              </a:endParaRPr>
            </a:p>
          </p:txBody>
        </p:sp>
        <p:sp>
          <p:nvSpPr>
            <p:cNvPr id="7" name="Rectangle 6"/>
            <p:cNvSpPr/>
            <p:nvPr/>
          </p:nvSpPr>
          <p:spPr>
            <a:xfrm>
              <a:off x="2610413"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3</a:t>
              </a:r>
              <a:endParaRPr lang="en-US" dirty="0">
                <a:solidFill>
                  <a:schemeClr val="tx1"/>
                </a:solidFill>
              </a:endParaRPr>
            </a:p>
          </p:txBody>
        </p:sp>
        <p:sp>
          <p:nvSpPr>
            <p:cNvPr id="8" name="Rectangle 7"/>
            <p:cNvSpPr/>
            <p:nvPr/>
          </p:nvSpPr>
          <p:spPr>
            <a:xfrm>
              <a:off x="3674812"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8</a:t>
              </a:r>
              <a:endParaRPr lang="en-US" dirty="0">
                <a:solidFill>
                  <a:schemeClr val="tx1"/>
                </a:solidFill>
              </a:endParaRPr>
            </a:p>
          </p:txBody>
        </p:sp>
        <p:sp>
          <p:nvSpPr>
            <p:cNvPr id="9" name="Rectangle 8"/>
            <p:cNvSpPr/>
            <p:nvPr/>
          </p:nvSpPr>
          <p:spPr>
            <a:xfrm>
              <a:off x="4783866"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1</a:t>
              </a:r>
              <a:endParaRPr lang="en-US" dirty="0">
                <a:solidFill>
                  <a:schemeClr val="tx1"/>
                </a:solidFill>
              </a:endParaRPr>
            </a:p>
          </p:txBody>
        </p:sp>
        <p:sp>
          <p:nvSpPr>
            <p:cNvPr id="10" name="Rectangle 9"/>
            <p:cNvSpPr/>
            <p:nvPr/>
          </p:nvSpPr>
          <p:spPr>
            <a:xfrm>
              <a:off x="5830446"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5</a:t>
              </a:r>
              <a:endParaRPr lang="en-US" dirty="0">
                <a:solidFill>
                  <a:schemeClr val="tx1"/>
                </a:solidFill>
              </a:endParaRPr>
            </a:p>
          </p:txBody>
        </p:sp>
        <p:sp>
          <p:nvSpPr>
            <p:cNvPr id="11" name="Rectangle 10"/>
            <p:cNvSpPr/>
            <p:nvPr/>
          </p:nvSpPr>
          <p:spPr>
            <a:xfrm>
              <a:off x="6878420"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2</a:t>
              </a:r>
              <a:endParaRPr lang="en-US" dirty="0">
                <a:solidFill>
                  <a:schemeClr val="tx1"/>
                </a:solidFill>
              </a:endParaRPr>
            </a:p>
          </p:txBody>
        </p:sp>
        <p:sp>
          <p:nvSpPr>
            <p:cNvPr id="12" name="Rectangle 11"/>
            <p:cNvSpPr/>
            <p:nvPr/>
          </p:nvSpPr>
          <p:spPr>
            <a:xfrm>
              <a:off x="7903063"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7</a:t>
              </a:r>
              <a:endParaRPr lang="en-US" dirty="0">
                <a:solidFill>
                  <a:schemeClr val="tx1"/>
                </a:solidFill>
              </a:endParaRPr>
            </a:p>
          </p:txBody>
        </p:sp>
        <p:sp>
          <p:nvSpPr>
            <p:cNvPr id="13" name="Rectangle 12"/>
            <p:cNvSpPr/>
            <p:nvPr/>
          </p:nvSpPr>
          <p:spPr>
            <a:xfrm>
              <a:off x="459672" y="5487434"/>
              <a:ext cx="705201" cy="705201"/>
            </a:xfrm>
            <a:prstGeom prst="rect">
              <a:avLst/>
            </a:prstGeom>
            <a:solidFill>
              <a:schemeClr val="accent4">
                <a:lumMod val="20000"/>
                <a:lumOff val="80000"/>
              </a:schemeClr>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rPr>
                <a:t>6</a:t>
              </a:r>
              <a:endParaRPr lang="en-US" dirty="0">
                <a:solidFill>
                  <a:schemeClr val="tx1"/>
                </a:solidFill>
              </a:endParaRPr>
            </a:p>
          </p:txBody>
        </p:sp>
        <p:sp>
          <p:nvSpPr>
            <p:cNvPr id="91" name="TextBox 90"/>
            <p:cNvSpPr txBox="1"/>
            <p:nvPr/>
          </p:nvSpPr>
          <p:spPr>
            <a:xfrm>
              <a:off x="3571845" y="6303120"/>
              <a:ext cx="1964553" cy="369332"/>
            </a:xfrm>
            <a:prstGeom prst="rect">
              <a:avLst/>
            </a:prstGeom>
            <a:noFill/>
          </p:spPr>
          <p:txBody>
            <a:bodyPr wrap="square" rtlCol="0">
              <a:spAutoFit/>
            </a:bodyPr>
            <a:lstStyle/>
            <a:p>
              <a:r>
                <a:rPr lang="en-US" dirty="0">
                  <a:solidFill>
                    <a:schemeClr val="accent5"/>
                  </a:solidFill>
                </a:rPr>
                <a:t>Original sequence</a:t>
              </a:r>
            </a:p>
          </p:txBody>
        </p:sp>
      </p:grpSp>
      <p:sp>
        <p:nvSpPr>
          <p:cNvPr id="92" name="TextBox 91"/>
          <p:cNvSpPr txBox="1"/>
          <p:nvPr/>
        </p:nvSpPr>
        <p:spPr>
          <a:xfrm>
            <a:off x="5070823" y="988313"/>
            <a:ext cx="1964553" cy="369332"/>
          </a:xfrm>
          <a:prstGeom prst="rect">
            <a:avLst/>
          </a:prstGeom>
          <a:noFill/>
        </p:spPr>
        <p:txBody>
          <a:bodyPr wrap="square" rtlCol="0">
            <a:spAutoFit/>
          </a:bodyPr>
          <a:lstStyle/>
          <a:p>
            <a:r>
              <a:rPr lang="en-US" dirty="0">
                <a:solidFill>
                  <a:schemeClr val="accent5"/>
                </a:solidFill>
              </a:rPr>
              <a:t>Sorted sequence!</a:t>
            </a:r>
          </a:p>
        </p:txBody>
      </p:sp>
    </p:spTree>
    <p:extLst>
      <p:ext uri="{BB962C8B-B14F-4D97-AF65-F5344CB8AC3E}">
        <p14:creationId xmlns:p14="http://schemas.microsoft.com/office/powerpoint/2010/main" val="97925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wipe(down)">
                                      <p:cBhvr>
                                        <p:cTn id="7" dur="500"/>
                                        <p:tgtEl>
                                          <p:spTgt spid="9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wipe(down)">
                                      <p:cBhvr>
                                        <p:cTn id="15" dur="500"/>
                                        <p:tgtEl>
                                          <p:spTgt spid="6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89"/>
                                        </p:tgtEl>
                                        <p:attrNameLst>
                                          <p:attrName>style.visibility</p:attrName>
                                        </p:attrNameLst>
                                      </p:cBhvr>
                                      <p:to>
                                        <p:strVal val="visible"/>
                                      </p:to>
                                    </p:set>
                                    <p:animEffect transition="in" filter="wipe(down)">
                                      <p:cBhvr>
                                        <p:cTn id="18" dur="500"/>
                                        <p:tgtEl>
                                          <p:spTgt spid="89"/>
                                        </p:tgtEl>
                                      </p:cBhvr>
                                    </p:animEffect>
                                  </p:childTnLst>
                                </p:cTn>
                              </p:par>
                              <p:par>
                                <p:cTn id="19" presetID="22" presetClass="entr" presetSubtype="4" fill="hold" nodeType="withEffect">
                                  <p:stCondLst>
                                    <p:cond delay="0"/>
                                  </p:stCondLst>
                                  <p:childTnLst>
                                    <p:set>
                                      <p:cBhvr>
                                        <p:cTn id="20" dur="1" fill="hold">
                                          <p:stCondLst>
                                            <p:cond delay="0"/>
                                          </p:stCondLst>
                                        </p:cTn>
                                        <p:tgtEl>
                                          <p:spTgt spid="82"/>
                                        </p:tgtEl>
                                        <p:attrNameLst>
                                          <p:attrName>style.visibility</p:attrName>
                                        </p:attrNameLst>
                                      </p:cBhvr>
                                      <p:to>
                                        <p:strVal val="visible"/>
                                      </p:to>
                                    </p:set>
                                    <p:animEffect transition="in" filter="wipe(down)">
                                      <p:cBhvr>
                                        <p:cTn id="21" dur="500"/>
                                        <p:tgtEl>
                                          <p:spTgt spid="82"/>
                                        </p:tgtEl>
                                      </p:cBhvr>
                                    </p:animEffect>
                                  </p:childTnLst>
                                </p:cTn>
                              </p:par>
                              <p:par>
                                <p:cTn id="22" presetID="22" presetClass="entr" presetSubtype="4" fill="hold" nodeType="with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wipe(down)">
                                      <p:cBhvr>
                                        <p:cTn id="24" dur="500"/>
                                        <p:tgtEl>
                                          <p:spTgt spid="63"/>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88"/>
                                        </p:tgtEl>
                                        <p:attrNameLst>
                                          <p:attrName>style.visibility</p:attrName>
                                        </p:attrNameLst>
                                      </p:cBhvr>
                                      <p:to>
                                        <p:strVal val="visible"/>
                                      </p:to>
                                    </p:set>
                                    <p:animEffect transition="in" filter="wipe(down)">
                                      <p:cBhvr>
                                        <p:cTn id="27" dur="500"/>
                                        <p:tgtEl>
                                          <p:spTgt spid="88"/>
                                        </p:tgtEl>
                                      </p:cBhvr>
                                    </p:animEffect>
                                  </p:childTnLst>
                                </p:cTn>
                              </p:par>
                              <p:par>
                                <p:cTn id="28" presetID="22" presetClass="entr" presetSubtype="4" fill="hold" nodeType="with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wipe(down)">
                                      <p:cBhvr>
                                        <p:cTn id="30" dur="500"/>
                                        <p:tgtEl>
                                          <p:spTgt spid="72"/>
                                        </p:tgtEl>
                                      </p:cBhvr>
                                    </p:animEffect>
                                  </p:childTnLst>
                                </p:cTn>
                              </p:par>
                            </p:childTnLst>
                          </p:cTn>
                        </p:par>
                        <p:par>
                          <p:cTn id="31" fill="hold">
                            <p:stCondLst>
                              <p:cond delay="500"/>
                            </p:stCondLst>
                            <p:childTnLst>
                              <p:par>
                                <p:cTn id="32" presetID="1" presetClass="entr" presetSubtype="0" fill="hold" nodeType="afterEffect">
                                  <p:stCondLst>
                                    <p:cond delay="0"/>
                                  </p:stCondLst>
                                  <p:childTnLst>
                                    <p:set>
                                      <p:cBhvr>
                                        <p:cTn id="33" dur="1" fill="hold">
                                          <p:stCondLst>
                                            <p:cond delay="0"/>
                                          </p:stCondLst>
                                        </p:cTn>
                                        <p:tgtEl>
                                          <p:spTgt spid="36"/>
                                        </p:tgtEl>
                                        <p:attrNameLst>
                                          <p:attrName>style.visibility</p:attrName>
                                        </p:attrNameLst>
                                      </p:cBhvr>
                                      <p:to>
                                        <p:strVal val="visible"/>
                                      </p:to>
                                    </p:set>
                                  </p:childTnLst>
                                </p:cTn>
                              </p:par>
                            </p:childTnLst>
                          </p:cTn>
                        </p:par>
                        <p:par>
                          <p:cTn id="34" fill="hold">
                            <p:stCondLst>
                              <p:cond delay="500"/>
                            </p:stCondLst>
                            <p:childTnLst>
                              <p:par>
                                <p:cTn id="35" presetID="1" presetClass="entr" presetSubtype="0" fill="hold" nodeType="after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64"/>
                                        </p:tgtEl>
                                        <p:attrNameLst>
                                          <p:attrName>style.visibility</p:attrName>
                                        </p:attrNameLst>
                                      </p:cBhvr>
                                      <p:to>
                                        <p:strVal val="visible"/>
                                      </p:to>
                                    </p:set>
                                    <p:animEffect transition="in" filter="wipe(down)">
                                      <p:cBhvr>
                                        <p:cTn id="41" dur="500"/>
                                        <p:tgtEl>
                                          <p:spTgt spid="64"/>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90"/>
                                        </p:tgtEl>
                                        <p:attrNameLst>
                                          <p:attrName>style.visibility</p:attrName>
                                        </p:attrNameLst>
                                      </p:cBhvr>
                                      <p:to>
                                        <p:strVal val="visible"/>
                                      </p:to>
                                    </p:set>
                                    <p:animEffect transition="in" filter="wipe(down)">
                                      <p:cBhvr>
                                        <p:cTn id="44" dur="500"/>
                                        <p:tgtEl>
                                          <p:spTgt spid="90"/>
                                        </p:tgtEl>
                                      </p:cBhvr>
                                    </p:animEffect>
                                  </p:childTnLst>
                                </p:cTn>
                              </p:par>
                              <p:par>
                                <p:cTn id="45" presetID="22" presetClass="entr" presetSubtype="4" fill="hold" nodeType="withEffect">
                                  <p:stCondLst>
                                    <p:cond delay="0"/>
                                  </p:stCondLst>
                                  <p:childTnLst>
                                    <p:set>
                                      <p:cBhvr>
                                        <p:cTn id="46" dur="1" fill="hold">
                                          <p:stCondLst>
                                            <p:cond delay="0"/>
                                          </p:stCondLst>
                                        </p:cTn>
                                        <p:tgtEl>
                                          <p:spTgt spid="69"/>
                                        </p:tgtEl>
                                        <p:attrNameLst>
                                          <p:attrName>style.visibility</p:attrName>
                                        </p:attrNameLst>
                                      </p:cBhvr>
                                      <p:to>
                                        <p:strVal val="visible"/>
                                      </p:to>
                                    </p:set>
                                    <p:animEffect transition="in" filter="wipe(down)">
                                      <p:cBhvr>
                                        <p:cTn id="47" dur="500"/>
                                        <p:tgtEl>
                                          <p:spTgt spid="69"/>
                                        </p:tgtEl>
                                      </p:cBhvr>
                                    </p:animEffect>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0"/>
                                          </p:stCondLst>
                                        </p:cTn>
                                        <p:tgtEl>
                                          <p:spTgt spid="54"/>
                                        </p:tgtEl>
                                        <p:attrNameLst>
                                          <p:attrName>style.visibility</p:attrName>
                                        </p:attrNameLst>
                                      </p:cBhvr>
                                      <p:to>
                                        <p:strVal val="visible"/>
                                      </p:to>
                                    </p:set>
                                  </p:childTnLst>
                                </p:cTn>
                              </p:par>
                            </p:childTnLst>
                          </p:cTn>
                        </p:par>
                        <p:par>
                          <p:cTn id="51" fill="hold">
                            <p:stCondLst>
                              <p:cond delay="500"/>
                            </p:stCondLst>
                            <p:childTnLst>
                              <p:par>
                                <p:cTn id="52" presetID="1" presetClass="entr" presetSubtype="0" fill="hold" grpId="0" nodeType="afterEffect">
                                  <p:stCondLst>
                                    <p:cond delay="0"/>
                                  </p:stCondLst>
                                  <p:childTnLst>
                                    <p:set>
                                      <p:cBhvr>
                                        <p:cTn id="53"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89" grpId="0"/>
      <p:bldP spid="90" grpId="0"/>
      <p:bldP spid="9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25978"/>
            <a:ext cx="7886700" cy="1066109"/>
          </a:xfrm>
        </p:spPr>
        <p:txBody>
          <a:bodyPr/>
          <a:lstStyle/>
          <a:p>
            <a:r>
              <a:rPr lang="en-US" dirty="0"/>
              <a:t>Actual Runtime of </a:t>
            </a:r>
            <a:r>
              <a:rPr lang="en-US" dirty="0" err="1"/>
              <a:t>MergeSort</a:t>
            </a:r>
            <a:endParaRPr lang="en-US" dirty="0"/>
          </a:p>
        </p:txBody>
      </p:sp>
      <p:sp>
        <p:nvSpPr>
          <p:cNvPr id="3" name="Content Placeholder 2"/>
          <p:cNvSpPr>
            <a:spLocks noGrp="1"/>
          </p:cNvSpPr>
          <p:nvPr>
            <p:ph idx="1"/>
          </p:nvPr>
        </p:nvSpPr>
        <p:spPr>
          <a:xfrm>
            <a:off x="661013" y="1570384"/>
            <a:ext cx="10829580" cy="2703442"/>
          </a:xfrm>
        </p:spPr>
        <p:style>
          <a:lnRef idx="2">
            <a:schemeClr val="accent4"/>
          </a:lnRef>
          <a:fillRef idx="1">
            <a:schemeClr val="lt1"/>
          </a:fillRef>
          <a:effectRef idx="0">
            <a:schemeClr val="accent4"/>
          </a:effectRef>
          <a:fontRef idx="minor">
            <a:schemeClr val="dk1"/>
          </a:fontRef>
        </p:style>
        <p:txBody>
          <a:bodyPr anchor="t">
            <a:normAutofit lnSpcReduction="10000"/>
          </a:bodyPr>
          <a:lstStyle/>
          <a:p>
            <a:pPr marL="0" indent="0">
              <a:buNone/>
            </a:pPr>
            <a:r>
              <a:rPr lang="en-US" u="sng" dirty="0">
                <a:solidFill>
                  <a:schemeClr val="accent1"/>
                </a:solidFill>
              </a:rPr>
              <a:t>CLAIM</a:t>
            </a:r>
            <a:r>
              <a:rPr lang="en-US" dirty="0">
                <a:solidFill>
                  <a:schemeClr val="accent1"/>
                </a:solidFill>
              </a:rPr>
              <a:t>:</a:t>
            </a:r>
          </a:p>
          <a:p>
            <a:pPr marL="0" indent="0">
              <a:buNone/>
            </a:pPr>
            <a:r>
              <a:rPr lang="en-US" dirty="0">
                <a:solidFill>
                  <a:schemeClr val="accent1"/>
                </a:solidFill>
              </a:rPr>
              <a:t>  </a:t>
            </a:r>
          </a:p>
          <a:p>
            <a:pPr marL="0" indent="0" algn="ctr">
              <a:buNone/>
            </a:pPr>
            <a:r>
              <a:rPr lang="en-US" dirty="0"/>
              <a:t>For every input array of length </a:t>
            </a:r>
            <a:r>
              <a:rPr lang="en-US" dirty="0">
                <a:solidFill>
                  <a:schemeClr val="accent6">
                    <a:lumMod val="75000"/>
                  </a:schemeClr>
                </a:solidFill>
              </a:rPr>
              <a:t>n&gt;=1 </a:t>
            </a:r>
            <a:r>
              <a:rPr lang="en-US" dirty="0"/>
              <a:t>the </a:t>
            </a:r>
            <a:r>
              <a:rPr lang="en-US" dirty="0" err="1"/>
              <a:t>MergeSort</a:t>
            </a:r>
            <a:r>
              <a:rPr lang="en-US" dirty="0"/>
              <a:t> algorithm performs at most </a:t>
            </a:r>
            <a:r>
              <a:rPr lang="en-US" dirty="0">
                <a:solidFill>
                  <a:schemeClr val="accent6">
                    <a:lumMod val="75000"/>
                  </a:schemeClr>
                </a:solidFill>
              </a:rPr>
              <a:t>6n log(n) + 6n </a:t>
            </a:r>
            <a:r>
              <a:rPr lang="en-US" dirty="0"/>
              <a:t>operations to sort those </a:t>
            </a:r>
            <a:r>
              <a:rPr lang="en-US" dirty="0">
                <a:solidFill>
                  <a:schemeClr val="accent6">
                    <a:lumMod val="75000"/>
                  </a:schemeClr>
                </a:solidFill>
              </a:rPr>
              <a:t>n</a:t>
            </a:r>
            <a:r>
              <a:rPr lang="en-US" dirty="0"/>
              <a:t> numbers.</a:t>
            </a:r>
          </a:p>
        </p:txBody>
      </p:sp>
      <mc:AlternateContent xmlns:mc="http://schemas.openxmlformats.org/markup-compatibility/2006" xmlns:a14="http://schemas.microsoft.com/office/drawing/2010/main">
        <mc:Choice Requires="a14">
          <p:sp>
            <p:nvSpPr>
              <p:cNvPr id="6" name="TextBox 5"/>
              <p:cNvSpPr txBox="1"/>
              <p:nvPr/>
            </p:nvSpPr>
            <p:spPr>
              <a:xfrm>
                <a:off x="5201478" y="5049079"/>
                <a:ext cx="4837872" cy="1384995"/>
              </a:xfrm>
              <a:prstGeom prst="rect">
                <a:avLst/>
              </a:prstGeom>
              <a:noFill/>
            </p:spPr>
            <p:txBody>
              <a:bodyPr wrap="square" rtlCol="0">
                <a:spAutoFit/>
              </a:bodyPr>
              <a:lstStyle/>
              <a:p>
                <a:pPr algn="ctr"/>
                <a:r>
                  <a:rPr lang="en-US" sz="2800" dirty="0">
                    <a:solidFill>
                      <a:schemeClr val="accent1">
                        <a:lumMod val="75000"/>
                      </a:schemeClr>
                    </a:solidFill>
                  </a:rPr>
                  <a:t>As n grows, that’s much faster than the </a:t>
                </a:r>
                <a14:m>
                  <m:oMath xmlns:m="http://schemas.openxmlformats.org/officeDocument/2006/math">
                    <m:r>
                      <a:rPr lang="en-US" sz="2800" i="1">
                        <a:solidFill>
                          <a:schemeClr val="accent1">
                            <a:lumMod val="75000"/>
                          </a:schemeClr>
                        </a:solidFill>
                        <a:latin typeface="Cambria Math" charset="0"/>
                        <a:ea typeface="Cambria Math" charset="0"/>
                        <a:cs typeface="Cambria Math" charset="0"/>
                      </a:rPr>
                      <m:t>≈</m:t>
                    </m:r>
                  </m:oMath>
                </a14:m>
                <a:r>
                  <a:rPr lang="en-US" sz="2800" dirty="0">
                    <a:solidFill>
                      <a:schemeClr val="accent1">
                        <a:lumMod val="75000"/>
                      </a:schemeClr>
                    </a:solidFill>
                  </a:rPr>
                  <a:t>n</a:t>
                </a:r>
                <a:r>
                  <a:rPr lang="en-US" sz="2800" baseline="30000" dirty="0">
                    <a:solidFill>
                      <a:schemeClr val="accent1">
                        <a:lumMod val="75000"/>
                      </a:schemeClr>
                    </a:solidFill>
                  </a:rPr>
                  <a:t>2</a:t>
                </a:r>
                <a:r>
                  <a:rPr lang="en-US" sz="2800" dirty="0">
                    <a:solidFill>
                      <a:schemeClr val="accent1">
                        <a:lumMod val="75000"/>
                      </a:schemeClr>
                    </a:solidFill>
                  </a:rPr>
                  <a:t> operations of INSERTIONSORT!</a:t>
                </a:r>
              </a:p>
            </p:txBody>
          </p:sp>
        </mc:Choice>
        <mc:Fallback xmlns="">
          <p:sp>
            <p:nvSpPr>
              <p:cNvPr id="6" name="TextBox 5"/>
              <p:cNvSpPr txBox="1">
                <a:spLocks noRot="1" noChangeAspect="1" noMove="1" noResize="1" noEditPoints="1" noAdjustHandles="1" noChangeArrowheads="1" noChangeShapeType="1" noTextEdit="1"/>
              </p:cNvSpPr>
              <p:nvPr/>
            </p:nvSpPr>
            <p:spPr>
              <a:xfrm>
                <a:off x="5201478" y="5049079"/>
                <a:ext cx="4837872" cy="1384995"/>
              </a:xfrm>
              <a:prstGeom prst="rect">
                <a:avLst/>
              </a:prstGeom>
              <a:blipFill>
                <a:blip r:embed="rId3"/>
                <a:stretch>
                  <a:fillRect t="-4545" r="-1047" b="-10909"/>
                </a:stretch>
              </a:blipFill>
            </p:spPr>
            <p:txBody>
              <a:bodyPr/>
              <a:lstStyle/>
              <a:p>
                <a:r>
                  <a:rPr lang="en-US">
                    <a:noFill/>
                  </a:rPr>
                  <a:t> </a:t>
                </a:r>
              </a:p>
            </p:txBody>
          </p:sp>
        </mc:Fallback>
      </mc:AlternateContent>
    </p:spTree>
    <p:extLst>
      <p:ext uri="{BB962C8B-B14F-4D97-AF65-F5344CB8AC3E}">
        <p14:creationId xmlns:p14="http://schemas.microsoft.com/office/powerpoint/2010/main" val="825040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6"/>
                                        </p:tgtEl>
                                        <p:attrNameLst>
                                          <p:attrName>r</p:attrName>
                                        </p:attrNameLst>
                                      </p:cBhvr>
                                    </p:animRot>
                                    <p:animRot by="-240000">
                                      <p:cBhvr>
                                        <p:cTn id="7" dur="200" fill="hold">
                                          <p:stCondLst>
                                            <p:cond delay="200"/>
                                          </p:stCondLst>
                                        </p:cTn>
                                        <p:tgtEl>
                                          <p:spTgt spid="6"/>
                                        </p:tgtEl>
                                        <p:attrNameLst>
                                          <p:attrName>r</p:attrName>
                                        </p:attrNameLst>
                                      </p:cBhvr>
                                    </p:animRot>
                                    <p:animRot by="240000">
                                      <p:cBhvr>
                                        <p:cTn id="8" dur="200" fill="hold">
                                          <p:stCondLst>
                                            <p:cond delay="400"/>
                                          </p:stCondLst>
                                        </p:cTn>
                                        <p:tgtEl>
                                          <p:spTgt spid="6"/>
                                        </p:tgtEl>
                                        <p:attrNameLst>
                                          <p:attrName>r</p:attrName>
                                        </p:attrNameLst>
                                      </p:cBhvr>
                                    </p:animRot>
                                    <p:animRot by="-240000">
                                      <p:cBhvr>
                                        <p:cTn id="9" dur="200" fill="hold">
                                          <p:stCondLst>
                                            <p:cond delay="600"/>
                                          </p:stCondLst>
                                        </p:cTn>
                                        <p:tgtEl>
                                          <p:spTgt spid="6"/>
                                        </p:tgtEl>
                                        <p:attrNameLst>
                                          <p:attrName>r</p:attrName>
                                        </p:attrNameLst>
                                      </p:cBhvr>
                                    </p:animRot>
                                    <p:animRot by="120000">
                                      <p:cBhvr>
                                        <p:cTn id="10" dur="200" fill="hold">
                                          <p:stCondLst>
                                            <p:cond delay="800"/>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8569" y="64927"/>
            <a:ext cx="7886700" cy="797839"/>
          </a:xfrm>
        </p:spPr>
        <p:txBody>
          <a:bodyPr/>
          <a:lstStyle/>
          <a:p>
            <a:r>
              <a:rPr lang="en-US" dirty="0"/>
              <a:t>Analysis</a:t>
            </a:r>
          </a:p>
        </p:txBody>
      </p:sp>
      <p:sp>
        <p:nvSpPr>
          <p:cNvPr id="3" name="Content Placeholder 2"/>
          <p:cNvSpPr>
            <a:spLocks noGrp="1"/>
          </p:cNvSpPr>
          <p:nvPr>
            <p:ph idx="1"/>
          </p:nvPr>
        </p:nvSpPr>
        <p:spPr>
          <a:xfrm>
            <a:off x="276645" y="2432069"/>
            <a:ext cx="5678302" cy="488859"/>
          </a:xfrm>
        </p:spPr>
        <p:txBody>
          <a:bodyPr>
            <a:normAutofit fontScale="92500" lnSpcReduction="20000"/>
          </a:bodyPr>
          <a:lstStyle/>
          <a:p>
            <a:pPr marL="0" indent="0" algn="ctr">
              <a:buNone/>
            </a:pPr>
            <a:r>
              <a:rPr lang="en-US" dirty="0"/>
              <a:t>T(n) = T(n/2) + T(n/2) + T(MERGE)</a:t>
            </a:r>
          </a:p>
          <a:p>
            <a:endParaRPr lang="en-US" dirty="0"/>
          </a:p>
          <a:p>
            <a:endParaRPr lang="en-US" dirty="0"/>
          </a:p>
          <a:p>
            <a:pPr marL="0" indent="0">
              <a:buNone/>
            </a:pPr>
            <a:endParaRPr lang="en-US" dirty="0"/>
          </a:p>
          <a:p>
            <a:endParaRPr lang="en-US" dirty="0"/>
          </a:p>
          <a:p>
            <a:endParaRPr lang="en-US" dirty="0"/>
          </a:p>
          <a:p>
            <a:endParaRPr lang="en-US" dirty="0"/>
          </a:p>
        </p:txBody>
      </p:sp>
      <mc:AlternateContent xmlns:mc="http://schemas.openxmlformats.org/markup-compatibility/2006" xmlns:a14="http://schemas.microsoft.com/office/drawing/2010/main">
        <mc:Choice Requires="a14">
          <p:sp>
            <p:nvSpPr>
              <p:cNvPr id="5" name="TextBox 4"/>
              <p:cNvSpPr txBox="1"/>
              <p:nvPr/>
            </p:nvSpPr>
            <p:spPr>
              <a:xfrm>
                <a:off x="8662342" y="2395231"/>
                <a:ext cx="3466272" cy="1015663"/>
              </a:xfrm>
              <a:prstGeom prst="rect">
                <a:avLst/>
              </a:prstGeom>
              <a:noFill/>
            </p:spPr>
            <p:txBody>
              <a:bodyPr wrap="square" rtlCol="0">
                <a:spAutoFit/>
              </a:bodyPr>
              <a:lstStyle/>
              <a:p>
                <a:pPr algn="ctr"/>
                <a:r>
                  <a:rPr lang="en-US" sz="2000" dirty="0">
                    <a:solidFill>
                      <a:schemeClr val="accent1"/>
                    </a:solidFill>
                  </a:rPr>
                  <a:t>Let’s say </a:t>
                </a:r>
              </a:p>
              <a:p>
                <a:pPr algn="ctr"/>
                <a:r>
                  <a:rPr lang="en-US" sz="2000" dirty="0">
                    <a:solidFill>
                      <a:schemeClr val="accent1"/>
                    </a:solidFill>
                  </a:rPr>
                  <a:t>T(MERGE of size n/2) </a:t>
                </a:r>
                <a14:m>
                  <m:oMath xmlns:m="http://schemas.openxmlformats.org/officeDocument/2006/math">
                    <m:r>
                      <a:rPr lang="en-US" sz="2000" i="1" dirty="0">
                        <a:solidFill>
                          <a:schemeClr val="accent1"/>
                        </a:solidFill>
                        <a:latin typeface="Cambria Math" charset="0"/>
                        <a:ea typeface="Cambria Math" charset="0"/>
                        <a:cs typeface="Cambria Math" charset="0"/>
                      </a:rPr>
                      <m:t>≤</m:t>
                    </m:r>
                  </m:oMath>
                </a14:m>
                <a:r>
                  <a:rPr lang="en-US" sz="2000" dirty="0">
                    <a:solidFill>
                      <a:schemeClr val="accent1"/>
                    </a:solidFill>
                  </a:rPr>
                  <a:t> 6n</a:t>
                </a:r>
              </a:p>
              <a:p>
                <a:pPr algn="ctr"/>
                <a:r>
                  <a:rPr lang="en-US" sz="2000" dirty="0">
                    <a:solidFill>
                      <a:schemeClr val="accent1"/>
                    </a:solidFill>
                  </a:rPr>
                  <a:t>operations</a:t>
                </a:r>
              </a:p>
            </p:txBody>
          </p:sp>
        </mc:Choice>
        <mc:Fallback xmlns="">
          <p:sp>
            <p:nvSpPr>
              <p:cNvPr id="5" name="TextBox 4"/>
              <p:cNvSpPr txBox="1">
                <a:spLocks noRot="1" noChangeAspect="1" noMove="1" noResize="1" noEditPoints="1" noAdjustHandles="1" noChangeArrowheads="1" noChangeShapeType="1" noTextEdit="1"/>
              </p:cNvSpPr>
              <p:nvPr/>
            </p:nvSpPr>
            <p:spPr>
              <a:xfrm>
                <a:off x="8662342" y="2395231"/>
                <a:ext cx="3466272" cy="1015663"/>
              </a:xfrm>
              <a:prstGeom prst="rect">
                <a:avLst/>
              </a:prstGeom>
              <a:blipFill>
                <a:blip r:embed="rId3"/>
                <a:stretch>
                  <a:fillRect t="-3704" b="-9877"/>
                </a:stretch>
              </a:blipFill>
            </p:spPr>
            <p:txBody>
              <a:bodyPr/>
              <a:lstStyle/>
              <a:p>
                <a:r>
                  <a:rPr lang="en-US">
                    <a:noFill/>
                  </a:rPr>
                  <a:t> </a:t>
                </a:r>
              </a:p>
            </p:txBody>
          </p:sp>
        </mc:Fallback>
      </mc:AlternateContent>
      <p:sp>
        <p:nvSpPr>
          <p:cNvPr id="8" name="TextBox 7"/>
          <p:cNvSpPr txBox="1"/>
          <p:nvPr/>
        </p:nvSpPr>
        <p:spPr>
          <a:xfrm>
            <a:off x="456052" y="1551900"/>
            <a:ext cx="6539657" cy="461665"/>
          </a:xfrm>
          <a:prstGeom prst="rect">
            <a:avLst/>
          </a:prstGeom>
          <a:noFill/>
        </p:spPr>
        <p:txBody>
          <a:bodyPr wrap="square" rtlCol="0">
            <a:spAutoFit/>
          </a:bodyPr>
          <a:lstStyle/>
          <a:p>
            <a:r>
              <a:rPr lang="en-US" sz="2400" dirty="0">
                <a:solidFill>
                  <a:srgbClr val="0070C0"/>
                </a:solidFill>
              </a:rPr>
              <a:t>T(n) = time to run  MERGESORT on a list of size n</a:t>
            </a:r>
          </a:p>
        </p:txBody>
      </p:sp>
      <p:sp>
        <p:nvSpPr>
          <p:cNvPr id="9" name="TextBox 8"/>
          <p:cNvSpPr txBox="1"/>
          <p:nvPr/>
        </p:nvSpPr>
        <p:spPr>
          <a:xfrm>
            <a:off x="4927054" y="3067204"/>
            <a:ext cx="5938091" cy="3870290"/>
          </a:xfrm>
          <a:prstGeom prst="rect">
            <a:avLst/>
          </a:prstGeom>
          <a:noFill/>
        </p:spPr>
        <p:txBody>
          <a:bodyPr wrap="square" rtlCol="0">
            <a:spAutoFit/>
          </a:bodyPr>
          <a:lstStyle/>
          <a:p>
            <a:r>
              <a:rPr lang="en-US" dirty="0"/>
              <a:t>T(MERGE two lists of size n/2) </a:t>
            </a:r>
          </a:p>
          <a:p>
            <a:r>
              <a:rPr lang="en-US" dirty="0"/>
              <a:t>is the time to do:</a:t>
            </a:r>
          </a:p>
          <a:p>
            <a:endParaRPr lang="en-US" sz="900" dirty="0"/>
          </a:p>
          <a:p>
            <a:pPr marL="285750" indent="-285750">
              <a:buFont typeface="Arial" charset="0"/>
              <a:buChar char="•"/>
            </a:pPr>
            <a:r>
              <a:rPr lang="en-US" dirty="0">
                <a:solidFill>
                  <a:srgbClr val="7030A0"/>
                </a:solidFill>
              </a:rPr>
              <a:t>2 variable assignments  (counters ← 1)</a:t>
            </a:r>
          </a:p>
          <a:p>
            <a:pPr marL="285750" indent="-285750">
              <a:buFont typeface="Arial" charset="0"/>
              <a:buChar char="•"/>
            </a:pPr>
            <a:r>
              <a:rPr lang="en-US" dirty="0">
                <a:solidFill>
                  <a:srgbClr val="7030A0"/>
                </a:solidFill>
              </a:rPr>
              <a:t>n comparisons (loop runs n times)</a:t>
            </a:r>
          </a:p>
          <a:p>
            <a:pPr marL="285750" indent="-285750">
              <a:buFont typeface="Arial" charset="0"/>
              <a:buChar char="•"/>
            </a:pPr>
            <a:r>
              <a:rPr lang="en-US" dirty="0">
                <a:solidFill>
                  <a:srgbClr val="7030A0"/>
                </a:solidFill>
              </a:rPr>
              <a:t>n more assignments (output array population)</a:t>
            </a:r>
          </a:p>
          <a:p>
            <a:pPr marL="285750" indent="-285750">
              <a:buFont typeface="Arial" charset="0"/>
              <a:buChar char="•"/>
            </a:pPr>
            <a:r>
              <a:rPr lang="en-US" dirty="0">
                <a:solidFill>
                  <a:srgbClr val="7030A0"/>
                </a:solidFill>
              </a:rPr>
              <a:t>2n counter increments</a:t>
            </a:r>
          </a:p>
          <a:p>
            <a:pPr marL="285750" indent="-285750">
              <a:buFont typeface="Arial" charset="0"/>
              <a:buChar char="•"/>
            </a:pPr>
            <a:endParaRPr lang="en-US" sz="1000" dirty="0">
              <a:solidFill>
                <a:srgbClr val="7030A0"/>
              </a:solidFill>
            </a:endParaRPr>
          </a:p>
          <a:p>
            <a:r>
              <a:rPr lang="en-US" dirty="0"/>
              <a:t>So that’s</a:t>
            </a:r>
            <a:endParaRPr lang="en-US" sz="1400" dirty="0">
              <a:solidFill>
                <a:srgbClr val="7030A0"/>
              </a:solidFill>
            </a:endParaRPr>
          </a:p>
          <a:p>
            <a:pPr algn="ctr"/>
            <a:r>
              <a:rPr lang="en-US" dirty="0">
                <a:solidFill>
                  <a:srgbClr val="7030A0"/>
                </a:solidFill>
              </a:rPr>
              <a:t>2T(assign) + n T(compare) + </a:t>
            </a:r>
          </a:p>
          <a:p>
            <a:pPr algn="ctr"/>
            <a:r>
              <a:rPr lang="en-US" dirty="0">
                <a:solidFill>
                  <a:srgbClr val="7030A0"/>
                </a:solidFill>
              </a:rPr>
              <a:t>n T(assign) + 2n T(increment) </a:t>
            </a:r>
          </a:p>
          <a:p>
            <a:pPr algn="ctr"/>
            <a:endParaRPr lang="en-US" sz="1050" dirty="0"/>
          </a:p>
          <a:p>
            <a:r>
              <a:rPr lang="en-US" dirty="0"/>
              <a:t>or 4n + 2 operations  </a:t>
            </a:r>
          </a:p>
          <a:p>
            <a:r>
              <a:rPr lang="en-US" dirty="0"/>
              <a:t>4n + 2 &lt;= 4n + 2n for n&gt;=1 which means 4n+2 &lt;= 6n</a:t>
            </a:r>
          </a:p>
          <a:p>
            <a:pPr marL="285750" indent="-285750">
              <a:buFont typeface="Arial" charset="0"/>
              <a:buChar char="•"/>
            </a:pPr>
            <a:endParaRPr lang="en-US" dirty="0">
              <a:solidFill>
                <a:srgbClr val="7030A0"/>
              </a:solidFill>
            </a:endParaRPr>
          </a:p>
        </p:txBody>
      </p:sp>
      <p:sp>
        <p:nvSpPr>
          <p:cNvPr id="12" name="TextBox 11"/>
          <p:cNvSpPr txBox="1"/>
          <p:nvPr/>
        </p:nvSpPr>
        <p:spPr>
          <a:xfrm>
            <a:off x="5819500" y="2395231"/>
            <a:ext cx="2842842" cy="523220"/>
          </a:xfrm>
          <a:prstGeom prst="rect">
            <a:avLst/>
          </a:prstGeom>
          <a:noFill/>
        </p:spPr>
        <p:txBody>
          <a:bodyPr wrap="square" rtlCol="0">
            <a:spAutoFit/>
          </a:bodyPr>
          <a:lstStyle/>
          <a:p>
            <a:r>
              <a:rPr lang="en-US" sz="2800" dirty="0"/>
              <a:t>= 2T(n/2) + 6n</a:t>
            </a:r>
          </a:p>
        </p:txBody>
      </p:sp>
      <p:sp>
        <p:nvSpPr>
          <p:cNvPr id="13" name="TextBox 12"/>
          <p:cNvSpPr txBox="1"/>
          <p:nvPr/>
        </p:nvSpPr>
        <p:spPr>
          <a:xfrm>
            <a:off x="7896100" y="862766"/>
            <a:ext cx="4162097" cy="1200329"/>
          </a:xfrm>
          <a:prstGeom prst="rect">
            <a:avLst/>
          </a:prstGeom>
          <a:noFill/>
        </p:spPr>
        <p:txBody>
          <a:bodyPr wrap="square" rtlCol="0">
            <a:spAutoFit/>
          </a:bodyPr>
          <a:lstStyle/>
          <a:p>
            <a:r>
              <a:rPr lang="en-US" dirty="0">
                <a:solidFill>
                  <a:schemeClr val="tx2"/>
                </a:solidFill>
              </a:rPr>
              <a:t>Remember </a:t>
            </a:r>
            <a:r>
              <a:rPr lang="en-US" dirty="0">
                <a:solidFill>
                  <a:schemeClr val="accent5"/>
                </a:solidFill>
              </a:rPr>
              <a:t>recurrence relation</a:t>
            </a:r>
            <a:r>
              <a:rPr lang="en-US" dirty="0">
                <a:solidFill>
                  <a:schemeClr val="tx2"/>
                </a:solidFill>
              </a:rPr>
              <a:t>?</a:t>
            </a:r>
          </a:p>
          <a:p>
            <a:r>
              <a:rPr lang="en-US" dirty="0">
                <a:solidFill>
                  <a:schemeClr val="tx2"/>
                </a:solidFill>
              </a:rPr>
              <a:t>It describes the running time of a problem of size n in terms of the running time of smaller problems.</a:t>
            </a:r>
          </a:p>
        </p:txBody>
      </p:sp>
      <p:sp>
        <p:nvSpPr>
          <p:cNvPr id="16" name="Text 8">
            <a:extLst>
              <a:ext uri="{FF2B5EF4-FFF2-40B4-BE49-F238E27FC236}">
                <a16:creationId xmlns:a16="http://schemas.microsoft.com/office/drawing/2014/main" id="{11A0774C-68E5-551E-2BF5-9090B28B3245}"/>
              </a:ext>
            </a:extLst>
          </p:cNvPr>
          <p:cNvSpPr txBox="1"/>
          <p:nvPr/>
        </p:nvSpPr>
        <p:spPr>
          <a:xfrm>
            <a:off x="276645" y="3937073"/>
            <a:ext cx="3948545" cy="2130552"/>
          </a:xfrm>
          <a:prstGeom prst="rect">
            <a:avLst/>
          </a:prstGeom>
          <a:noFill/>
          <a:ln/>
        </p:spPr>
        <p:txBody>
          <a:bodyPr wrap="square" lIns="0" tIns="0" rIns="0" bIns="0" rtlCol="0" anchor="t"/>
          <a:lstStyle/>
          <a:p>
            <a:pPr marL="0" indent="0">
              <a:lnSpc>
                <a:spcPct val="118000"/>
              </a:lnSpc>
              <a:buNone/>
            </a:pPr>
            <a:r>
              <a:rPr lang="en-US" sz="1200" b="1" dirty="0">
                <a:solidFill>
                  <a:schemeClr val="accent2"/>
                </a:solidFill>
                <a:latin typeface="Courier New" pitchFamily="34" charset="0"/>
                <a:ea typeface="Courier New" pitchFamily="34" charset="-122"/>
                <a:cs typeface="Courier New" pitchFamily="34" charset="-120"/>
              </a:rPr>
              <a:t>Merge(left, right):</a:t>
            </a:r>
            <a:endParaRPr lang="en-US" sz="1200" dirty="0">
              <a:solidFill>
                <a:schemeClr val="accent2"/>
              </a:solidFill>
            </a:endParaRPr>
          </a:p>
          <a:p>
            <a:pPr marL="0" indent="0">
              <a:lnSpc>
                <a:spcPct val="118000"/>
              </a:lnSpc>
              <a:buNone/>
            </a:pPr>
            <a:r>
              <a:rPr lang="en-US" sz="1200" dirty="0">
                <a:solidFill>
                  <a:schemeClr val="accent2"/>
                </a:solidFill>
                <a:latin typeface="Courier New" pitchFamily="34" charset="0"/>
                <a:ea typeface="Courier New" pitchFamily="34" charset="-122"/>
                <a:cs typeface="Courier New" pitchFamily="34" charset="-120"/>
              </a:rPr>
              <a:t>  result = []</a:t>
            </a:r>
            <a:endParaRPr lang="en-US" sz="1200" dirty="0">
              <a:solidFill>
                <a:schemeClr val="accent2"/>
              </a:solidFill>
            </a:endParaRPr>
          </a:p>
          <a:p>
            <a:pPr marL="0" indent="0">
              <a:lnSpc>
                <a:spcPct val="118000"/>
              </a:lnSpc>
              <a:buNone/>
            </a:pPr>
            <a:r>
              <a:rPr lang="en-US" sz="1200" dirty="0">
                <a:solidFill>
                  <a:schemeClr val="accent2"/>
                </a:solidFill>
                <a:latin typeface="Courier New" pitchFamily="34" charset="0"/>
                <a:ea typeface="Courier New" pitchFamily="34" charset="-122"/>
                <a:cs typeface="Courier New" pitchFamily="34" charset="-120"/>
              </a:rPr>
              <a:t>  i = j = 0</a:t>
            </a:r>
            <a:endParaRPr lang="en-US" sz="1200" dirty="0">
              <a:solidFill>
                <a:schemeClr val="accent2"/>
              </a:solidFill>
            </a:endParaRPr>
          </a:p>
          <a:p>
            <a:pPr marL="0" indent="0">
              <a:lnSpc>
                <a:spcPct val="118000"/>
              </a:lnSpc>
              <a:buNone/>
            </a:pPr>
            <a:r>
              <a:rPr lang="en-US" sz="1200" dirty="0">
                <a:solidFill>
                  <a:schemeClr val="accent2"/>
                </a:solidFill>
                <a:latin typeface="Courier New" pitchFamily="34" charset="0"/>
                <a:ea typeface="Courier New" pitchFamily="34" charset="-122"/>
                <a:cs typeface="Courier New" pitchFamily="34" charset="-120"/>
              </a:rPr>
              <a:t>  while i &lt; len(left) and j &lt; len(right):</a:t>
            </a:r>
            <a:endParaRPr lang="en-US" sz="1200" dirty="0">
              <a:solidFill>
                <a:schemeClr val="accent2"/>
              </a:solidFill>
            </a:endParaRPr>
          </a:p>
          <a:p>
            <a:pPr marL="0" indent="0">
              <a:lnSpc>
                <a:spcPct val="118000"/>
              </a:lnSpc>
              <a:buNone/>
            </a:pPr>
            <a:r>
              <a:rPr lang="en-US" sz="1200" dirty="0">
                <a:solidFill>
                  <a:schemeClr val="accent2"/>
                </a:solidFill>
                <a:latin typeface="Courier New" pitchFamily="34" charset="0"/>
                <a:ea typeface="Courier New" pitchFamily="34" charset="-122"/>
                <a:cs typeface="Courier New" pitchFamily="34" charset="-120"/>
              </a:rPr>
              <a:t>    if left[i] &lt;= right[j]:</a:t>
            </a:r>
            <a:endParaRPr lang="en-US" sz="1200" dirty="0">
              <a:solidFill>
                <a:schemeClr val="accent2"/>
              </a:solidFill>
            </a:endParaRPr>
          </a:p>
          <a:p>
            <a:pPr marL="0" indent="0">
              <a:lnSpc>
                <a:spcPct val="118000"/>
              </a:lnSpc>
              <a:buNone/>
            </a:pPr>
            <a:r>
              <a:rPr lang="en-US" sz="1200" dirty="0">
                <a:solidFill>
                  <a:schemeClr val="accent2"/>
                </a:solidFill>
                <a:latin typeface="Courier New" pitchFamily="34" charset="0"/>
                <a:ea typeface="Courier New" pitchFamily="34" charset="-122"/>
                <a:cs typeface="Courier New" pitchFamily="34" charset="-120"/>
              </a:rPr>
              <a:t>      result.append(left[i]); i++</a:t>
            </a:r>
            <a:endParaRPr lang="en-US" sz="1200" dirty="0">
              <a:solidFill>
                <a:schemeClr val="accent2"/>
              </a:solidFill>
            </a:endParaRPr>
          </a:p>
          <a:p>
            <a:pPr marL="0" indent="0">
              <a:lnSpc>
                <a:spcPct val="118000"/>
              </a:lnSpc>
              <a:buNone/>
            </a:pPr>
            <a:r>
              <a:rPr lang="en-US" sz="1200" dirty="0">
                <a:solidFill>
                  <a:schemeClr val="accent2"/>
                </a:solidFill>
                <a:latin typeface="Courier New" pitchFamily="34" charset="0"/>
                <a:ea typeface="Courier New" pitchFamily="34" charset="-122"/>
                <a:cs typeface="Courier New" pitchFamily="34" charset="-120"/>
              </a:rPr>
              <a:t>    else:</a:t>
            </a:r>
            <a:endParaRPr lang="en-US" sz="1200" dirty="0">
              <a:solidFill>
                <a:schemeClr val="accent2"/>
              </a:solidFill>
            </a:endParaRPr>
          </a:p>
          <a:p>
            <a:pPr marL="0" indent="0">
              <a:lnSpc>
                <a:spcPct val="118000"/>
              </a:lnSpc>
              <a:buNone/>
            </a:pPr>
            <a:r>
              <a:rPr lang="en-US" sz="1200" dirty="0">
                <a:solidFill>
                  <a:schemeClr val="accent2"/>
                </a:solidFill>
                <a:latin typeface="Courier New" pitchFamily="34" charset="0"/>
                <a:ea typeface="Courier New" pitchFamily="34" charset="-122"/>
                <a:cs typeface="Courier New" pitchFamily="34" charset="-120"/>
              </a:rPr>
              <a:t>      result.append(right[j]); j++</a:t>
            </a:r>
            <a:endParaRPr lang="en-US" sz="1200" dirty="0">
              <a:solidFill>
                <a:schemeClr val="accent2"/>
              </a:solidFill>
            </a:endParaRPr>
          </a:p>
          <a:p>
            <a:pPr marL="0" indent="0">
              <a:lnSpc>
                <a:spcPct val="118000"/>
              </a:lnSpc>
              <a:buNone/>
            </a:pPr>
            <a:r>
              <a:rPr lang="en-US" sz="1200" dirty="0">
                <a:solidFill>
                  <a:schemeClr val="accent2"/>
                </a:solidFill>
                <a:latin typeface="Courier New" pitchFamily="34" charset="0"/>
                <a:ea typeface="Courier New" pitchFamily="34" charset="-122"/>
                <a:cs typeface="Courier New" pitchFamily="34" charset="-120"/>
              </a:rPr>
              <a:t>  append remaining left/right to result; </a:t>
            </a:r>
          </a:p>
          <a:p>
            <a:pPr marL="0" indent="0">
              <a:lnSpc>
                <a:spcPct val="118000"/>
              </a:lnSpc>
              <a:buNone/>
            </a:pPr>
            <a:r>
              <a:rPr lang="en-US" sz="1200" dirty="0">
                <a:solidFill>
                  <a:schemeClr val="accent2"/>
                </a:solidFill>
                <a:latin typeface="Courier New" pitchFamily="34" charset="0"/>
                <a:ea typeface="Courier New" pitchFamily="34" charset="-122"/>
                <a:cs typeface="Courier New" pitchFamily="34" charset="-120"/>
              </a:rPr>
              <a:t>  return result</a:t>
            </a:r>
            <a:endParaRPr lang="en-US" sz="1200" dirty="0">
              <a:solidFill>
                <a:schemeClr val="accent2"/>
              </a:solidFill>
            </a:endParaRPr>
          </a:p>
        </p:txBody>
      </p:sp>
    </p:spTree>
    <p:extLst>
      <p:ext uri="{BB962C8B-B14F-4D97-AF65-F5344CB8AC3E}">
        <p14:creationId xmlns:p14="http://schemas.microsoft.com/office/powerpoint/2010/main" val="31986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linds(horizontal)">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9">
                                            <p:txEl>
                                              <p:pRg st="3" end="3"/>
                                            </p:txEl>
                                          </p:spTgt>
                                        </p:tgtEl>
                                        <p:attrNameLst>
                                          <p:attrName>style.visibility</p:attrName>
                                        </p:attrNameLst>
                                      </p:cBhvr>
                                      <p:to>
                                        <p:strVal val="visible"/>
                                      </p:to>
                                    </p:set>
                                    <p:animEffect transition="in" filter="blinds(horizontal)">
                                      <p:cBhvr>
                                        <p:cTn id="30" dur="500"/>
                                        <p:tgtEl>
                                          <p:spTgt spid="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animEffect transition="in" filter="blinds(horizontal)">
                                      <p:cBhvr>
                                        <p:cTn id="35" dur="500"/>
                                        <p:tgtEl>
                                          <p:spTgt spid="9">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9">
                                            <p:txEl>
                                              <p:pRg st="5" end="5"/>
                                            </p:txEl>
                                          </p:spTgt>
                                        </p:tgtEl>
                                        <p:attrNameLst>
                                          <p:attrName>style.visibility</p:attrName>
                                        </p:attrNameLst>
                                      </p:cBhvr>
                                      <p:to>
                                        <p:strVal val="visible"/>
                                      </p:to>
                                    </p:set>
                                    <p:animEffect transition="in" filter="blinds(horizontal)">
                                      <p:cBhvr>
                                        <p:cTn id="40" dur="500"/>
                                        <p:tgtEl>
                                          <p:spTgt spid="9">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9">
                                            <p:txEl>
                                              <p:pRg st="6" end="6"/>
                                            </p:txEl>
                                          </p:spTgt>
                                        </p:tgtEl>
                                        <p:attrNameLst>
                                          <p:attrName>style.visibility</p:attrName>
                                        </p:attrNameLst>
                                      </p:cBhvr>
                                      <p:to>
                                        <p:strVal val="visible"/>
                                      </p:to>
                                    </p:set>
                                    <p:animEffect transition="in" filter="blinds(horizontal)">
                                      <p:cBhvr>
                                        <p:cTn id="45" dur="500"/>
                                        <p:tgtEl>
                                          <p:spTgt spid="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9">
                                            <p:txEl>
                                              <p:pRg st="8" end="8"/>
                                            </p:txEl>
                                          </p:spTgt>
                                        </p:tgtEl>
                                        <p:attrNameLst>
                                          <p:attrName>style.visibility</p:attrName>
                                        </p:attrNameLst>
                                      </p:cBhvr>
                                      <p:to>
                                        <p:strVal val="visible"/>
                                      </p:to>
                                    </p:set>
                                    <p:animEffect transition="in" filter="blinds(horizontal)">
                                      <p:cBhvr>
                                        <p:cTn id="50" dur="500"/>
                                        <p:tgtEl>
                                          <p:spTgt spid="9">
                                            <p:txEl>
                                              <p:pRg st="8" end="8"/>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9">
                                            <p:txEl>
                                              <p:pRg st="9" end="9"/>
                                            </p:txEl>
                                          </p:spTgt>
                                        </p:tgtEl>
                                        <p:attrNameLst>
                                          <p:attrName>style.visibility</p:attrName>
                                        </p:attrNameLst>
                                      </p:cBhvr>
                                      <p:to>
                                        <p:strVal val="visible"/>
                                      </p:to>
                                    </p:set>
                                    <p:animEffect transition="in" filter="blinds(horizontal)">
                                      <p:cBhvr>
                                        <p:cTn id="53" dur="500"/>
                                        <p:tgtEl>
                                          <p:spTgt spid="9">
                                            <p:txEl>
                                              <p:pRg st="9" end="9"/>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9">
                                            <p:txEl>
                                              <p:pRg st="10" end="10"/>
                                            </p:txEl>
                                          </p:spTgt>
                                        </p:tgtEl>
                                        <p:attrNameLst>
                                          <p:attrName>style.visibility</p:attrName>
                                        </p:attrNameLst>
                                      </p:cBhvr>
                                      <p:to>
                                        <p:strVal val="visible"/>
                                      </p:to>
                                    </p:set>
                                    <p:animEffect transition="in" filter="blinds(horizontal)">
                                      <p:cBhvr>
                                        <p:cTn id="56" dur="500"/>
                                        <p:tgtEl>
                                          <p:spTgt spid="9">
                                            <p:txEl>
                                              <p:pRg st="10" end="1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9">
                                            <p:txEl>
                                              <p:pRg st="12" end="12"/>
                                            </p:txEl>
                                          </p:spTgt>
                                        </p:tgtEl>
                                        <p:attrNameLst>
                                          <p:attrName>style.visibility</p:attrName>
                                        </p:attrNameLst>
                                      </p:cBhvr>
                                      <p:to>
                                        <p:strVal val="visible"/>
                                      </p:to>
                                    </p:set>
                                    <p:animEffect transition="in" filter="blinds(horizontal)">
                                      <p:cBhvr>
                                        <p:cTn id="61" dur="500"/>
                                        <p:tgtEl>
                                          <p:spTgt spid="9">
                                            <p:txEl>
                                              <p:pRg st="12" end="1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9">
                                            <p:txEl>
                                              <p:pRg st="13" end="13"/>
                                            </p:txEl>
                                          </p:spTgt>
                                        </p:tgtEl>
                                        <p:attrNameLst>
                                          <p:attrName>style.visibility</p:attrName>
                                        </p:attrNameLst>
                                      </p:cBhvr>
                                      <p:to>
                                        <p:strVal val="visible"/>
                                      </p:to>
                                    </p:set>
                                    <p:animEffect transition="in" filter="blinds(horizontal)">
                                      <p:cBhvr>
                                        <p:cTn id="66" dur="500"/>
                                        <p:tgtEl>
                                          <p:spTgt spid="9">
                                            <p:txEl>
                                              <p:pRg st="13" end="1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5">
                                            <p:txEl>
                                              <p:pRg st="0" end="0"/>
                                            </p:txEl>
                                          </p:spTgt>
                                        </p:tgtEl>
                                        <p:attrNameLst>
                                          <p:attrName>style.visibility</p:attrName>
                                        </p:attrNameLst>
                                      </p:cBhvr>
                                      <p:to>
                                        <p:strVal val="visible"/>
                                      </p:to>
                                    </p:set>
                                    <p:animEffect transition="in" filter="blinds(horizontal)">
                                      <p:cBhvr>
                                        <p:cTn id="71" dur="500"/>
                                        <p:tgtEl>
                                          <p:spTgt spid="5">
                                            <p:txEl>
                                              <p:pRg st="0" end="0"/>
                                            </p:txEl>
                                          </p:spTgt>
                                        </p:tgtEl>
                                      </p:cBhvr>
                                    </p:animEffect>
                                  </p:childTnLst>
                                </p:cTn>
                              </p:par>
                              <p:par>
                                <p:cTn id="72" presetID="3" presetClass="entr" presetSubtype="10" fill="hold" nodeType="withEffect">
                                  <p:stCondLst>
                                    <p:cond delay="0"/>
                                  </p:stCondLst>
                                  <p:childTnLst>
                                    <p:set>
                                      <p:cBhvr>
                                        <p:cTn id="73" dur="1" fill="hold">
                                          <p:stCondLst>
                                            <p:cond delay="0"/>
                                          </p:stCondLst>
                                        </p:cTn>
                                        <p:tgtEl>
                                          <p:spTgt spid="5">
                                            <p:txEl>
                                              <p:pRg st="1" end="1"/>
                                            </p:txEl>
                                          </p:spTgt>
                                        </p:tgtEl>
                                        <p:attrNameLst>
                                          <p:attrName>style.visibility</p:attrName>
                                        </p:attrNameLst>
                                      </p:cBhvr>
                                      <p:to>
                                        <p:strVal val="visible"/>
                                      </p:to>
                                    </p:set>
                                    <p:animEffect transition="in" filter="blinds(horizontal)">
                                      <p:cBhvr>
                                        <p:cTn id="74" dur="500"/>
                                        <p:tgtEl>
                                          <p:spTgt spid="5">
                                            <p:txEl>
                                              <p:pRg st="1" end="1"/>
                                            </p:txEl>
                                          </p:spTgt>
                                        </p:tgtEl>
                                      </p:cBhvr>
                                    </p:animEffect>
                                  </p:childTnLst>
                                </p:cTn>
                              </p:par>
                              <p:par>
                                <p:cTn id="75" presetID="3" presetClass="entr" presetSubtype="10" fill="hold" nodeType="withEffect">
                                  <p:stCondLst>
                                    <p:cond delay="0"/>
                                  </p:stCondLst>
                                  <p:childTnLst>
                                    <p:set>
                                      <p:cBhvr>
                                        <p:cTn id="76" dur="1" fill="hold">
                                          <p:stCondLst>
                                            <p:cond delay="0"/>
                                          </p:stCondLst>
                                        </p:cTn>
                                        <p:tgtEl>
                                          <p:spTgt spid="5">
                                            <p:txEl>
                                              <p:pRg st="2" end="2"/>
                                            </p:txEl>
                                          </p:spTgt>
                                        </p:tgtEl>
                                        <p:attrNameLst>
                                          <p:attrName>style.visibility</p:attrName>
                                        </p:attrNameLst>
                                      </p:cBhvr>
                                      <p:to>
                                        <p:strVal val="visible"/>
                                      </p:to>
                                    </p:set>
                                    <p:animEffect transition="in" filter="blinds(horizontal)">
                                      <p:cBhvr>
                                        <p:cTn id="77" dur="500"/>
                                        <p:tgtEl>
                                          <p:spTgt spid="5">
                                            <p:txEl>
                                              <p:pRg st="2" end="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2">
                                            <p:txEl>
                                              <p:pRg st="0" end="0"/>
                                            </p:txEl>
                                          </p:spTgt>
                                        </p:tgtEl>
                                        <p:attrNameLst>
                                          <p:attrName>style.visibility</p:attrName>
                                        </p:attrNameLst>
                                      </p:cBhvr>
                                      <p:to>
                                        <p:strVal val="visible"/>
                                      </p:to>
                                    </p:set>
                                    <p:animEffect transition="in" filter="blinds(horizontal)">
                                      <p:cBhvr>
                                        <p:cTn id="82"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uiExpand="1" build="p"/>
      <p:bldP spid="13" grpId="0"/>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Box 73"/>
          <p:cNvSpPr txBox="1"/>
          <p:nvPr/>
        </p:nvSpPr>
        <p:spPr>
          <a:xfrm>
            <a:off x="6113391" y="3493096"/>
            <a:ext cx="517375" cy="707886"/>
          </a:xfrm>
          <a:prstGeom prst="rect">
            <a:avLst/>
          </a:prstGeom>
          <a:noFill/>
        </p:spPr>
        <p:txBody>
          <a:bodyPr wrap="square" rtlCol="0">
            <a:spAutoFit/>
          </a:bodyPr>
          <a:lstStyle/>
          <a:p>
            <a:r>
              <a:rPr lang="mr-IN" sz="4000" dirty="0"/>
              <a:t>…</a:t>
            </a:r>
            <a:endParaRPr lang="en-US" sz="4000" dirty="0"/>
          </a:p>
        </p:txBody>
      </p:sp>
      <p:sp>
        <p:nvSpPr>
          <p:cNvPr id="2" name="Title 1"/>
          <p:cNvSpPr>
            <a:spLocks noGrp="1"/>
          </p:cNvSpPr>
          <p:nvPr>
            <p:ph type="title"/>
          </p:nvPr>
        </p:nvSpPr>
        <p:spPr>
          <a:xfrm>
            <a:off x="1780176" y="206344"/>
            <a:ext cx="3273694" cy="700703"/>
          </a:xfrm>
        </p:spPr>
        <p:txBody>
          <a:bodyPr>
            <a:normAutofit fontScale="90000"/>
          </a:bodyPr>
          <a:lstStyle/>
          <a:p>
            <a:r>
              <a:rPr lang="en-US" dirty="0"/>
              <a:t>Recursion tree</a:t>
            </a:r>
          </a:p>
        </p:txBody>
      </p:sp>
      <p:sp>
        <p:nvSpPr>
          <p:cNvPr id="5" name="Oval 4"/>
          <p:cNvSpPr/>
          <p:nvPr/>
        </p:nvSpPr>
        <p:spPr>
          <a:xfrm>
            <a:off x="2731195" y="1276379"/>
            <a:ext cx="1590671" cy="7061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Size n</a:t>
            </a:r>
          </a:p>
        </p:txBody>
      </p:sp>
      <p:sp>
        <p:nvSpPr>
          <p:cNvPr id="8" name="Oval 7"/>
          <p:cNvSpPr/>
          <p:nvPr/>
        </p:nvSpPr>
        <p:spPr>
          <a:xfrm>
            <a:off x="3720946" y="2197932"/>
            <a:ext cx="1249790" cy="494290"/>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endParaRPr lang="en-US" dirty="0"/>
          </a:p>
        </p:txBody>
      </p:sp>
      <p:sp>
        <p:nvSpPr>
          <p:cNvPr id="9" name="Oval 8"/>
          <p:cNvSpPr/>
          <p:nvPr/>
        </p:nvSpPr>
        <p:spPr>
          <a:xfrm>
            <a:off x="2207637" y="2197932"/>
            <a:ext cx="1133899" cy="478086"/>
          </a:xfrm>
          <a:prstGeom prst="ellipse">
            <a:avLst/>
          </a:prstGeom>
          <a:solidFill>
            <a:schemeClr val="accent4"/>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n/2</a:t>
            </a:r>
          </a:p>
        </p:txBody>
      </p:sp>
      <p:sp>
        <p:nvSpPr>
          <p:cNvPr id="11" name="Oval 10"/>
          <p:cNvSpPr/>
          <p:nvPr/>
        </p:nvSpPr>
        <p:spPr>
          <a:xfrm>
            <a:off x="4665935" y="2952696"/>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17" name="Oval 16"/>
          <p:cNvSpPr/>
          <p:nvPr/>
        </p:nvSpPr>
        <p:spPr>
          <a:xfrm>
            <a:off x="5402942"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8" name="Oval 17"/>
          <p:cNvSpPr/>
          <p:nvPr/>
        </p:nvSpPr>
        <p:spPr>
          <a:xfrm>
            <a:off x="4994237"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9" name="Oval 18"/>
          <p:cNvSpPr/>
          <p:nvPr/>
        </p:nvSpPr>
        <p:spPr>
          <a:xfrm>
            <a:off x="4606302"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0" name="Oval 19"/>
          <p:cNvSpPr/>
          <p:nvPr/>
        </p:nvSpPr>
        <p:spPr>
          <a:xfrm>
            <a:off x="4267616" y="5909159"/>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Oval 20"/>
          <p:cNvSpPr/>
          <p:nvPr/>
        </p:nvSpPr>
        <p:spPr>
          <a:xfrm>
            <a:off x="3858911"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2" name="Oval 21"/>
          <p:cNvSpPr/>
          <p:nvPr/>
        </p:nvSpPr>
        <p:spPr>
          <a:xfrm>
            <a:off x="3452372"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3" name="Oval 22"/>
          <p:cNvSpPr/>
          <p:nvPr/>
        </p:nvSpPr>
        <p:spPr>
          <a:xfrm>
            <a:off x="3036735" y="6116542"/>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4" name="Oval 23"/>
          <p:cNvSpPr/>
          <p:nvPr/>
        </p:nvSpPr>
        <p:spPr>
          <a:xfrm>
            <a:off x="2621098" y="5931306"/>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5" name="Oval 24"/>
          <p:cNvSpPr/>
          <p:nvPr/>
        </p:nvSpPr>
        <p:spPr>
          <a:xfrm>
            <a:off x="2207637" y="607519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6" name="Oval 25"/>
          <p:cNvSpPr/>
          <p:nvPr/>
        </p:nvSpPr>
        <p:spPr>
          <a:xfrm>
            <a:off x="1820989" y="5881235"/>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8" name="Oval 27"/>
          <p:cNvSpPr/>
          <p:nvPr/>
        </p:nvSpPr>
        <p:spPr>
          <a:xfrm>
            <a:off x="1485471" y="6055773"/>
            <a:ext cx="304801" cy="248946"/>
          </a:xfrm>
          <a:prstGeom prst="ellipse">
            <a:avLst/>
          </a:prstGeom>
          <a:solidFill>
            <a:schemeClr val="accent6"/>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32" name="TextBox 31"/>
          <p:cNvSpPr txBox="1"/>
          <p:nvPr/>
        </p:nvSpPr>
        <p:spPr>
          <a:xfrm>
            <a:off x="1588014" y="6324142"/>
            <a:ext cx="1075551" cy="461665"/>
          </a:xfrm>
          <a:prstGeom prst="rect">
            <a:avLst/>
          </a:prstGeom>
          <a:noFill/>
        </p:spPr>
        <p:txBody>
          <a:bodyPr wrap="none" rtlCol="0">
            <a:spAutoFit/>
          </a:bodyPr>
          <a:lstStyle/>
          <a:p>
            <a:r>
              <a:rPr lang="en-US" sz="2400" dirty="0"/>
              <a:t>(Size 1)</a:t>
            </a:r>
          </a:p>
        </p:txBody>
      </p:sp>
      <p:sp>
        <p:nvSpPr>
          <p:cNvPr id="34" name="TextBox 33"/>
          <p:cNvSpPr txBox="1"/>
          <p:nvPr/>
        </p:nvSpPr>
        <p:spPr>
          <a:xfrm>
            <a:off x="3401171" y="4939726"/>
            <a:ext cx="517375" cy="707886"/>
          </a:xfrm>
          <a:prstGeom prst="rect">
            <a:avLst/>
          </a:prstGeom>
          <a:noFill/>
        </p:spPr>
        <p:txBody>
          <a:bodyPr wrap="square" rtlCol="0">
            <a:spAutoFit/>
          </a:bodyPr>
          <a:lstStyle/>
          <a:p>
            <a:r>
              <a:rPr lang="mr-IN" sz="4000" dirty="0"/>
              <a:t>…</a:t>
            </a:r>
            <a:endParaRPr lang="en-US" sz="4000" dirty="0"/>
          </a:p>
        </p:txBody>
      </p:sp>
      <p:sp>
        <p:nvSpPr>
          <p:cNvPr id="35" name="Oval 34"/>
          <p:cNvSpPr/>
          <p:nvPr/>
        </p:nvSpPr>
        <p:spPr>
          <a:xfrm>
            <a:off x="3600222" y="2985171"/>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6" name="Oval 35"/>
          <p:cNvSpPr/>
          <p:nvPr/>
        </p:nvSpPr>
        <p:spPr>
          <a:xfrm>
            <a:off x="2512437" y="3004195"/>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7" name="Oval 36"/>
          <p:cNvSpPr/>
          <p:nvPr/>
        </p:nvSpPr>
        <p:spPr>
          <a:xfrm>
            <a:off x="1485470" y="3004195"/>
            <a:ext cx="796640" cy="565757"/>
          </a:xfrm>
          <a:prstGeom prst="ellipse">
            <a:avLst/>
          </a:prstGeom>
          <a:solidFill>
            <a:srgbClr val="555B9A"/>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n/4</a:t>
            </a:r>
            <a:endParaRPr lang="en-US" dirty="0"/>
          </a:p>
        </p:txBody>
      </p:sp>
      <p:sp>
        <p:nvSpPr>
          <p:cNvPr id="39" name="Oval 38"/>
          <p:cNvSpPr/>
          <p:nvPr/>
        </p:nvSpPr>
        <p:spPr>
          <a:xfrm>
            <a:off x="4987892" y="4477942"/>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38" name="Oval 37"/>
          <p:cNvSpPr/>
          <p:nvPr/>
        </p:nvSpPr>
        <p:spPr>
          <a:xfrm>
            <a:off x="4203468" y="4495154"/>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0" name="Oval 39"/>
          <p:cNvSpPr/>
          <p:nvPr/>
        </p:nvSpPr>
        <p:spPr>
          <a:xfrm>
            <a:off x="3485746" y="4495154"/>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1" name="Oval 40"/>
          <p:cNvSpPr/>
          <p:nvPr/>
        </p:nvSpPr>
        <p:spPr>
          <a:xfrm>
            <a:off x="2758439" y="4497133"/>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2" name="Oval 41"/>
          <p:cNvSpPr/>
          <p:nvPr/>
        </p:nvSpPr>
        <p:spPr>
          <a:xfrm>
            <a:off x="1983002" y="4516088"/>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3" name="Oval 42"/>
          <p:cNvSpPr/>
          <p:nvPr/>
        </p:nvSpPr>
        <p:spPr>
          <a:xfrm>
            <a:off x="1277847" y="4543417"/>
            <a:ext cx="970753" cy="565757"/>
          </a:xfrm>
          <a:prstGeom prst="ellipse">
            <a:avLst/>
          </a:prstGeom>
          <a:solidFill>
            <a:schemeClr val="accent5"/>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n/2</a:t>
            </a:r>
            <a:r>
              <a:rPr lang="en-US" baseline="30000"/>
              <a:t>t</a:t>
            </a:r>
            <a:endParaRPr lang="en-US" dirty="0"/>
          </a:p>
        </p:txBody>
      </p:sp>
      <p:sp>
        <p:nvSpPr>
          <p:cNvPr id="45" name="TextBox 44"/>
          <p:cNvSpPr txBox="1"/>
          <p:nvPr/>
        </p:nvSpPr>
        <p:spPr>
          <a:xfrm>
            <a:off x="3255394" y="3362716"/>
            <a:ext cx="517375" cy="707886"/>
          </a:xfrm>
          <a:prstGeom prst="rect">
            <a:avLst/>
          </a:prstGeom>
          <a:noFill/>
        </p:spPr>
        <p:txBody>
          <a:bodyPr wrap="square" rtlCol="0">
            <a:spAutoFit/>
          </a:bodyPr>
          <a:lstStyle/>
          <a:p>
            <a:r>
              <a:rPr lang="mr-IN" sz="4000" dirty="0"/>
              <a:t>…</a:t>
            </a:r>
            <a:endParaRPr lang="en-US" sz="4000" dirty="0"/>
          </a:p>
        </p:txBody>
      </p:sp>
      <p:sp>
        <p:nvSpPr>
          <p:cNvPr id="48" name="TextBox 47"/>
          <p:cNvSpPr txBox="1"/>
          <p:nvPr/>
        </p:nvSpPr>
        <p:spPr>
          <a:xfrm>
            <a:off x="5922389" y="907046"/>
            <a:ext cx="719941" cy="400110"/>
          </a:xfrm>
          <a:prstGeom prst="rect">
            <a:avLst/>
          </a:prstGeom>
          <a:noFill/>
        </p:spPr>
        <p:txBody>
          <a:bodyPr wrap="none" rtlCol="0">
            <a:spAutoFit/>
          </a:bodyPr>
          <a:lstStyle/>
          <a:p>
            <a:r>
              <a:rPr lang="en-US" sz="2000" dirty="0"/>
              <a:t>Level</a:t>
            </a:r>
          </a:p>
        </p:txBody>
      </p:sp>
      <p:sp>
        <p:nvSpPr>
          <p:cNvPr id="49" name="TextBox 48"/>
          <p:cNvSpPr txBox="1"/>
          <p:nvPr/>
        </p:nvSpPr>
        <p:spPr>
          <a:xfrm>
            <a:off x="8895551" y="383826"/>
            <a:ext cx="1885513" cy="923330"/>
          </a:xfrm>
          <a:prstGeom prst="rect">
            <a:avLst/>
          </a:prstGeom>
          <a:noFill/>
        </p:spPr>
        <p:txBody>
          <a:bodyPr wrap="square" rtlCol="0">
            <a:spAutoFit/>
          </a:bodyPr>
          <a:lstStyle/>
          <a:p>
            <a:pPr algn="ctr"/>
            <a:r>
              <a:rPr lang="en-US" dirty="0"/>
              <a:t>Amount of work </a:t>
            </a:r>
            <a:r>
              <a:rPr lang="en-US" dirty="0">
                <a:solidFill>
                  <a:sysClr val="windowText" lastClr="000000"/>
                </a:solidFill>
              </a:rPr>
              <a:t>at this level </a:t>
            </a:r>
          </a:p>
          <a:p>
            <a:pPr algn="ctr"/>
            <a:r>
              <a:rPr lang="en-US" dirty="0">
                <a:solidFill>
                  <a:sysClr val="windowText" lastClr="000000"/>
                </a:solidFill>
              </a:rPr>
              <a:t>(just </a:t>
            </a:r>
            <a:r>
              <a:rPr lang="en-US" dirty="0" err="1">
                <a:solidFill>
                  <a:schemeClr val="accent1"/>
                </a:solidFill>
              </a:rPr>
              <a:t>MERGE</a:t>
            </a:r>
            <a:r>
              <a:rPr lang="en-US" dirty="0" err="1">
                <a:solidFill>
                  <a:sysClr val="windowText" lastClr="000000"/>
                </a:solidFill>
              </a:rPr>
              <a:t>ing</a:t>
            </a:r>
            <a:r>
              <a:rPr lang="en-US" dirty="0">
                <a:solidFill>
                  <a:sysClr val="windowText" lastClr="000000"/>
                </a:solidFill>
              </a:rPr>
              <a:t>)</a:t>
            </a:r>
          </a:p>
        </p:txBody>
      </p:sp>
      <p:cxnSp>
        <p:nvCxnSpPr>
          <p:cNvPr id="53" name="Straight Connector 52"/>
          <p:cNvCxnSpPr/>
          <p:nvPr/>
        </p:nvCxnSpPr>
        <p:spPr>
          <a:xfrm>
            <a:off x="5358672" y="1307156"/>
            <a:ext cx="59056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7825409" y="75295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6297374" y="1461788"/>
            <a:ext cx="367408" cy="523220"/>
          </a:xfrm>
          <a:prstGeom prst="rect">
            <a:avLst/>
          </a:prstGeom>
          <a:noFill/>
        </p:spPr>
        <p:txBody>
          <a:bodyPr wrap="none" rtlCol="0">
            <a:spAutoFit/>
          </a:bodyPr>
          <a:lstStyle/>
          <a:p>
            <a:r>
              <a:rPr lang="en-US" sz="2800"/>
              <a:t>0</a:t>
            </a:r>
          </a:p>
        </p:txBody>
      </p:sp>
      <p:sp>
        <p:nvSpPr>
          <p:cNvPr id="57" name="TextBox 56"/>
          <p:cNvSpPr txBox="1"/>
          <p:nvPr/>
        </p:nvSpPr>
        <p:spPr>
          <a:xfrm>
            <a:off x="6809366" y="660826"/>
            <a:ext cx="1069011" cy="646331"/>
          </a:xfrm>
          <a:prstGeom prst="rect">
            <a:avLst/>
          </a:prstGeom>
          <a:noFill/>
        </p:spPr>
        <p:txBody>
          <a:bodyPr wrap="none" rtlCol="0">
            <a:spAutoFit/>
          </a:bodyPr>
          <a:lstStyle/>
          <a:p>
            <a:pPr algn="ctr"/>
            <a:r>
              <a:rPr lang="en-US" dirty="0"/>
              <a:t># </a:t>
            </a:r>
          </a:p>
          <a:p>
            <a:pPr algn="ctr"/>
            <a:r>
              <a:rPr lang="en-US" dirty="0"/>
              <a:t>problems</a:t>
            </a:r>
          </a:p>
        </p:txBody>
      </p:sp>
      <p:cxnSp>
        <p:nvCxnSpPr>
          <p:cNvPr id="59" name="Straight Connector 58"/>
          <p:cNvCxnSpPr/>
          <p:nvPr/>
        </p:nvCxnSpPr>
        <p:spPr>
          <a:xfrm>
            <a:off x="6821232" y="843244"/>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297374" y="2410155"/>
            <a:ext cx="367408" cy="523220"/>
          </a:xfrm>
          <a:prstGeom prst="rect">
            <a:avLst/>
          </a:prstGeom>
          <a:noFill/>
        </p:spPr>
        <p:txBody>
          <a:bodyPr wrap="none" rtlCol="0">
            <a:spAutoFit/>
          </a:bodyPr>
          <a:lstStyle/>
          <a:p>
            <a:r>
              <a:rPr lang="en-US" sz="2800" dirty="0"/>
              <a:t>1</a:t>
            </a:r>
          </a:p>
        </p:txBody>
      </p:sp>
      <p:sp>
        <p:nvSpPr>
          <p:cNvPr id="61" name="TextBox 60"/>
          <p:cNvSpPr txBox="1"/>
          <p:nvPr/>
        </p:nvSpPr>
        <p:spPr>
          <a:xfrm>
            <a:off x="6291255" y="2933375"/>
            <a:ext cx="389713" cy="523220"/>
          </a:xfrm>
          <a:prstGeom prst="rect">
            <a:avLst/>
          </a:prstGeom>
          <a:noFill/>
        </p:spPr>
        <p:txBody>
          <a:bodyPr wrap="square" rtlCol="0">
            <a:spAutoFit/>
          </a:bodyPr>
          <a:lstStyle/>
          <a:p>
            <a:r>
              <a:rPr lang="en-US" sz="2800" dirty="0"/>
              <a:t>2</a:t>
            </a:r>
          </a:p>
        </p:txBody>
      </p:sp>
      <p:sp>
        <p:nvSpPr>
          <p:cNvPr id="62" name="TextBox 61"/>
          <p:cNvSpPr txBox="1"/>
          <p:nvPr/>
        </p:nvSpPr>
        <p:spPr>
          <a:xfrm>
            <a:off x="6288861" y="4581994"/>
            <a:ext cx="389713" cy="523220"/>
          </a:xfrm>
          <a:prstGeom prst="rect">
            <a:avLst/>
          </a:prstGeom>
          <a:noFill/>
        </p:spPr>
        <p:txBody>
          <a:bodyPr wrap="square" rtlCol="0">
            <a:spAutoFit/>
          </a:bodyPr>
          <a:lstStyle/>
          <a:p>
            <a:r>
              <a:rPr lang="en-US" sz="2800" dirty="0"/>
              <a:t>t</a:t>
            </a:r>
          </a:p>
        </p:txBody>
      </p:sp>
      <p:sp>
        <p:nvSpPr>
          <p:cNvPr id="63" name="TextBox 62"/>
          <p:cNvSpPr txBox="1"/>
          <p:nvPr/>
        </p:nvSpPr>
        <p:spPr>
          <a:xfrm>
            <a:off x="5860917" y="5893926"/>
            <a:ext cx="1111884" cy="523220"/>
          </a:xfrm>
          <a:prstGeom prst="rect">
            <a:avLst/>
          </a:prstGeom>
          <a:noFill/>
        </p:spPr>
        <p:txBody>
          <a:bodyPr wrap="square" rtlCol="0">
            <a:spAutoFit/>
          </a:bodyPr>
          <a:lstStyle/>
          <a:p>
            <a:r>
              <a:rPr lang="en-US" sz="2800" dirty="0"/>
              <a:t>log(n)</a:t>
            </a:r>
          </a:p>
        </p:txBody>
      </p:sp>
      <p:sp>
        <p:nvSpPr>
          <p:cNvPr id="64" name="TextBox 63"/>
          <p:cNvSpPr txBox="1"/>
          <p:nvPr/>
        </p:nvSpPr>
        <p:spPr>
          <a:xfrm>
            <a:off x="7092071" y="1461788"/>
            <a:ext cx="733339" cy="5016758"/>
          </a:xfrm>
          <a:prstGeom prst="rect">
            <a:avLst/>
          </a:prstGeom>
          <a:noFill/>
        </p:spPr>
        <p:txBody>
          <a:bodyPr wrap="square" rtlCol="0">
            <a:spAutoFit/>
          </a:bodyPr>
          <a:lstStyle/>
          <a:p>
            <a:r>
              <a:rPr lang="en-US" sz="2800" dirty="0"/>
              <a:t>1</a:t>
            </a:r>
          </a:p>
          <a:p>
            <a:endParaRPr lang="en-US" sz="2800" dirty="0"/>
          </a:p>
          <a:p>
            <a:r>
              <a:rPr lang="en-US" sz="2800" dirty="0"/>
              <a:t>2</a:t>
            </a:r>
          </a:p>
          <a:p>
            <a:endParaRPr lang="en-US" sz="1600" dirty="0"/>
          </a:p>
          <a:p>
            <a:r>
              <a:rPr lang="en-US" sz="2800" dirty="0"/>
              <a:t>4</a:t>
            </a:r>
          </a:p>
          <a:p>
            <a:endParaRPr lang="en-US" sz="2800" dirty="0"/>
          </a:p>
          <a:p>
            <a:endParaRPr lang="en-US" sz="2800" dirty="0"/>
          </a:p>
          <a:p>
            <a:endParaRPr lang="en-US" sz="2400" dirty="0"/>
          </a:p>
          <a:p>
            <a:r>
              <a:rPr lang="en-US" sz="2800" dirty="0"/>
              <a:t>2</a:t>
            </a:r>
            <a:r>
              <a:rPr lang="en-US" sz="2800" baseline="30000" dirty="0"/>
              <a:t>t</a:t>
            </a:r>
          </a:p>
          <a:p>
            <a:endParaRPr lang="en-US" sz="2800" baseline="30000" dirty="0"/>
          </a:p>
          <a:p>
            <a:endParaRPr lang="en-US" sz="2800" baseline="30000" dirty="0"/>
          </a:p>
          <a:p>
            <a:endParaRPr lang="en-US" sz="2800" baseline="30000" dirty="0"/>
          </a:p>
          <a:p>
            <a:r>
              <a:rPr lang="en-US" sz="2800" dirty="0"/>
              <a:t>n</a:t>
            </a:r>
          </a:p>
        </p:txBody>
      </p:sp>
      <p:sp>
        <p:nvSpPr>
          <p:cNvPr id="65" name="TextBox 64"/>
          <p:cNvSpPr txBox="1"/>
          <p:nvPr/>
        </p:nvSpPr>
        <p:spPr>
          <a:xfrm>
            <a:off x="7897361" y="411023"/>
            <a:ext cx="1016044" cy="923330"/>
          </a:xfrm>
          <a:prstGeom prst="rect">
            <a:avLst/>
          </a:prstGeom>
          <a:noFill/>
        </p:spPr>
        <p:txBody>
          <a:bodyPr wrap="square" rtlCol="0">
            <a:spAutoFit/>
          </a:bodyPr>
          <a:lstStyle/>
          <a:p>
            <a:pPr algn="ctr"/>
            <a:r>
              <a:rPr lang="en-US" dirty="0"/>
              <a:t>Size of each</a:t>
            </a:r>
          </a:p>
          <a:p>
            <a:pPr algn="ctr"/>
            <a:r>
              <a:rPr lang="en-US" dirty="0"/>
              <a:t>problem</a:t>
            </a:r>
          </a:p>
        </p:txBody>
      </p:sp>
      <p:sp>
        <p:nvSpPr>
          <p:cNvPr id="67" name="TextBox 66"/>
          <p:cNvSpPr txBox="1"/>
          <p:nvPr/>
        </p:nvSpPr>
        <p:spPr>
          <a:xfrm>
            <a:off x="8121712" y="1448812"/>
            <a:ext cx="927177" cy="5016758"/>
          </a:xfrm>
          <a:prstGeom prst="rect">
            <a:avLst/>
          </a:prstGeom>
          <a:noFill/>
        </p:spPr>
        <p:txBody>
          <a:bodyPr wrap="square" rtlCol="0">
            <a:spAutoFit/>
          </a:bodyPr>
          <a:lstStyle/>
          <a:p>
            <a:r>
              <a:rPr lang="en-US" sz="2800" dirty="0"/>
              <a:t>n</a:t>
            </a:r>
          </a:p>
          <a:p>
            <a:endParaRPr lang="en-US" sz="2800" dirty="0"/>
          </a:p>
          <a:p>
            <a:r>
              <a:rPr lang="en-US" sz="2800" dirty="0"/>
              <a:t>n/2</a:t>
            </a:r>
          </a:p>
          <a:p>
            <a:endParaRPr lang="en-US" sz="1600" dirty="0"/>
          </a:p>
          <a:p>
            <a:r>
              <a:rPr lang="en-US" sz="2800" dirty="0"/>
              <a:t>n/4</a:t>
            </a:r>
          </a:p>
          <a:p>
            <a:endParaRPr lang="en-US" sz="2800" dirty="0"/>
          </a:p>
          <a:p>
            <a:endParaRPr lang="en-US" sz="2800" dirty="0"/>
          </a:p>
          <a:p>
            <a:endParaRPr lang="en-US" sz="2400" dirty="0"/>
          </a:p>
          <a:p>
            <a:r>
              <a:rPr lang="en-US" sz="2800" dirty="0"/>
              <a:t>n/2</a:t>
            </a:r>
            <a:r>
              <a:rPr lang="en-US" sz="2800" baseline="30000" dirty="0"/>
              <a:t>t</a:t>
            </a:r>
          </a:p>
          <a:p>
            <a:endParaRPr lang="en-US" sz="2800" baseline="30000" dirty="0"/>
          </a:p>
          <a:p>
            <a:endParaRPr lang="en-US" sz="2800" baseline="30000" dirty="0"/>
          </a:p>
          <a:p>
            <a:endParaRPr lang="en-US" sz="2800" baseline="30000" dirty="0"/>
          </a:p>
          <a:p>
            <a:r>
              <a:rPr lang="en-US" sz="2800" dirty="0"/>
              <a:t>1</a:t>
            </a:r>
          </a:p>
        </p:txBody>
      </p:sp>
      <p:cxnSp>
        <p:nvCxnSpPr>
          <p:cNvPr id="68" name="Straight Connector 67"/>
          <p:cNvCxnSpPr/>
          <p:nvPr/>
        </p:nvCxnSpPr>
        <p:spPr>
          <a:xfrm>
            <a:off x="9002506" y="778912"/>
            <a:ext cx="0" cy="6079088"/>
          </a:xfrm>
          <a:prstGeom prst="line">
            <a:avLst/>
          </a:prstGeom>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9304445" y="1440692"/>
            <a:ext cx="927177" cy="5016758"/>
          </a:xfrm>
          <a:prstGeom prst="rect">
            <a:avLst/>
          </a:prstGeom>
          <a:noFill/>
        </p:spPr>
        <p:txBody>
          <a:bodyPr wrap="square" rtlCol="0">
            <a:spAutoFit/>
          </a:bodyPr>
          <a:lstStyle/>
          <a:p>
            <a:r>
              <a:rPr lang="en-US" sz="2800" dirty="0"/>
              <a:t>6n</a:t>
            </a:r>
          </a:p>
          <a:p>
            <a:endParaRPr lang="en-US" sz="2800" dirty="0"/>
          </a:p>
          <a:p>
            <a:r>
              <a:rPr lang="en-US" sz="2800" dirty="0"/>
              <a:t>6n</a:t>
            </a:r>
          </a:p>
          <a:p>
            <a:endParaRPr lang="en-US" sz="1600" dirty="0"/>
          </a:p>
          <a:p>
            <a:r>
              <a:rPr lang="en-US" sz="2800" dirty="0"/>
              <a:t>6n</a:t>
            </a:r>
          </a:p>
          <a:p>
            <a:endParaRPr lang="en-US" sz="2800" dirty="0"/>
          </a:p>
          <a:p>
            <a:endParaRPr lang="en-US" sz="2800" dirty="0"/>
          </a:p>
          <a:p>
            <a:endParaRPr lang="en-US" sz="2400" dirty="0"/>
          </a:p>
          <a:p>
            <a:r>
              <a:rPr lang="en-US" sz="2800" dirty="0"/>
              <a:t>6n</a:t>
            </a:r>
            <a:endParaRPr lang="en-US" sz="2800" baseline="30000" dirty="0"/>
          </a:p>
          <a:p>
            <a:endParaRPr lang="en-US" sz="2800" baseline="30000" dirty="0"/>
          </a:p>
          <a:p>
            <a:endParaRPr lang="en-US" sz="2800" baseline="30000" dirty="0"/>
          </a:p>
          <a:p>
            <a:endParaRPr lang="en-US" sz="2800" baseline="30000" dirty="0"/>
          </a:p>
          <a:p>
            <a:r>
              <a:rPr lang="en-US" sz="2800" dirty="0"/>
              <a:t>6n</a:t>
            </a:r>
          </a:p>
        </p:txBody>
      </p:sp>
      <mc:AlternateContent xmlns:mc="http://schemas.openxmlformats.org/markup-compatibility/2006" xmlns:a14="http://schemas.microsoft.com/office/drawing/2010/main">
        <mc:Choice Requires="a14">
          <p:sp>
            <p:nvSpPr>
              <p:cNvPr id="71" name="Snip Diagonal Corner Rectangle 70"/>
              <p:cNvSpPr/>
              <p:nvPr/>
            </p:nvSpPr>
            <p:spPr>
              <a:xfrm>
                <a:off x="4345842" y="3535664"/>
                <a:ext cx="6360684" cy="1066546"/>
              </a:xfrm>
              <a:prstGeom prst="snip2DiagRect">
                <a:avLst/>
              </a:prstGeom>
              <a:solidFill>
                <a:srgbClr val="FFC000"/>
              </a:solidFill>
              <a:ln>
                <a:solidFill>
                  <a:schemeClr val="accent6">
                    <a:lumMod val="75000"/>
                  </a:schemeClr>
                </a:solidFill>
              </a:ln>
              <a:effectLst>
                <a:outerShdw blurRad="50800" dist="762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Amount of work at a level j:</a:t>
                </a:r>
              </a:p>
              <a:p>
                <a:pPr algn="ctr"/>
                <a:r>
                  <a:rPr lang="en-US" dirty="0">
                    <a:solidFill>
                      <a:schemeClr val="tx1"/>
                    </a:solidFill>
                  </a:rPr>
                  <a:t>(number of level j sub problems ) </a:t>
                </a:r>
                <a14:m>
                  <m:oMath xmlns:m="http://schemas.openxmlformats.org/officeDocument/2006/math">
                    <m:r>
                      <a:rPr lang="en-US" i="1">
                        <a:solidFill>
                          <a:schemeClr val="tx1"/>
                        </a:solidFill>
                        <a:latin typeface="Cambria Math" charset="0"/>
                        <a:ea typeface="Cambria Math" charset="0"/>
                        <a:cs typeface="Cambria Math" charset="0"/>
                      </a:rPr>
                      <m:t>×</m:t>
                    </m:r>
                  </m:oMath>
                </a14:m>
                <a:r>
                  <a:rPr lang="en-US" dirty="0">
                    <a:solidFill>
                      <a:schemeClr val="tx1"/>
                    </a:solidFill>
                  </a:rPr>
                  <a:t> work per level j subproblem</a:t>
                </a:r>
              </a:p>
              <a:p>
                <a:pPr algn="ctr"/>
                <a:r>
                  <a:rPr lang="en-US" dirty="0">
                    <a:solidFill>
                      <a:schemeClr val="tx1"/>
                    </a:solidFill>
                  </a:rPr>
                  <a:t>2</a:t>
                </a:r>
                <a:r>
                  <a:rPr lang="en-US" baseline="30000" dirty="0">
                    <a:solidFill>
                      <a:schemeClr val="tx1"/>
                    </a:solidFill>
                  </a:rPr>
                  <a:t>j</a:t>
                </a:r>
                <a:r>
                  <a:rPr lang="en-US" dirty="0">
                    <a:solidFill>
                      <a:schemeClr val="tx1"/>
                    </a:solidFill>
                  </a:rPr>
                  <a:t> </a:t>
                </a:r>
                <a14:m>
                  <m:oMath xmlns:m="http://schemas.openxmlformats.org/officeDocument/2006/math">
                    <m:r>
                      <a:rPr lang="en-US" i="1">
                        <a:solidFill>
                          <a:schemeClr val="tx1"/>
                        </a:solidFill>
                        <a:latin typeface="Cambria Math" charset="0"/>
                        <a:ea typeface="Cambria Math" charset="0"/>
                        <a:cs typeface="Cambria Math" charset="0"/>
                      </a:rPr>
                      <m:t>×</m:t>
                    </m:r>
                    <m:r>
                      <a:rPr lang="en-US" b="0" i="1" smtClean="0">
                        <a:solidFill>
                          <a:schemeClr val="tx1"/>
                        </a:solidFill>
                        <a:latin typeface="Cambria Math" panose="02040503050406030204" pitchFamily="18" charset="0"/>
                        <a:ea typeface="Cambria Math" charset="0"/>
                        <a:cs typeface="Cambria Math" charset="0"/>
                      </a:rPr>
                      <m:t> </m:t>
                    </m:r>
                  </m:oMath>
                </a14:m>
                <a:r>
                  <a:rPr lang="en-US" dirty="0">
                    <a:solidFill>
                      <a:schemeClr val="tx1"/>
                    </a:solidFill>
                  </a:rPr>
                  <a:t>(6n/2</a:t>
                </a:r>
                <a:r>
                  <a:rPr lang="en-US" baseline="30000" dirty="0">
                    <a:solidFill>
                      <a:schemeClr val="tx1"/>
                    </a:solidFill>
                  </a:rPr>
                  <a:t>j</a:t>
                </a:r>
                <a:r>
                  <a:rPr lang="en-US" dirty="0">
                    <a:solidFill>
                      <a:schemeClr val="tx1"/>
                    </a:solidFill>
                  </a:rPr>
                  <a:t>) = 6n -&gt; This is the #operations performed across all recursive calls at </a:t>
                </a:r>
                <a:r>
                  <a:rPr lang="en-US" dirty="0" err="1">
                    <a:solidFill>
                      <a:schemeClr val="tx1"/>
                    </a:solidFill>
                  </a:rPr>
                  <a:t>j</a:t>
                </a:r>
                <a:r>
                  <a:rPr lang="en-US" baseline="30000" dirty="0" err="1">
                    <a:solidFill>
                      <a:schemeClr val="tx1"/>
                    </a:solidFill>
                  </a:rPr>
                  <a:t>th</a:t>
                </a:r>
                <a:r>
                  <a:rPr lang="en-US" dirty="0">
                    <a:solidFill>
                      <a:schemeClr val="tx1"/>
                    </a:solidFill>
                  </a:rPr>
                  <a:t> recursion level </a:t>
                </a:r>
              </a:p>
            </p:txBody>
          </p:sp>
        </mc:Choice>
        <mc:Fallback xmlns="">
          <p:sp>
            <p:nvSpPr>
              <p:cNvPr id="71" name="Snip Diagonal Corner Rectangle 70"/>
              <p:cNvSpPr>
                <a:spLocks noRot="1" noChangeAspect="1" noMove="1" noResize="1" noEditPoints="1" noAdjustHandles="1" noChangeArrowheads="1" noChangeShapeType="1" noTextEdit="1"/>
              </p:cNvSpPr>
              <p:nvPr/>
            </p:nvSpPr>
            <p:spPr>
              <a:xfrm>
                <a:off x="4345842" y="3535664"/>
                <a:ext cx="6360684" cy="1066546"/>
              </a:xfrm>
              <a:prstGeom prst="snip2DiagRect">
                <a:avLst/>
              </a:prstGeom>
              <a:blipFill>
                <a:blip r:embed="rId3"/>
                <a:stretch>
                  <a:fillRect t="-1770"/>
                </a:stretch>
              </a:blipFill>
              <a:ln>
                <a:solidFill>
                  <a:schemeClr val="accent6">
                    <a:lumMod val="75000"/>
                  </a:schemeClr>
                </a:solidFill>
              </a:ln>
              <a:effectLst>
                <a:outerShdw blurRad="50800" dist="76200" dir="5400000" algn="t" rotWithShape="0">
                  <a:prstClr val="black">
                    <a:alpha val="40000"/>
                  </a:prstClr>
                </a:outerShdw>
              </a:effectLst>
            </p:spPr>
            <p:txBody>
              <a:bodyPr/>
              <a:lstStyle/>
              <a:p>
                <a:r>
                  <a:rPr lang="en-US">
                    <a:noFill/>
                  </a:rPr>
                  <a:t> </a:t>
                </a:r>
              </a:p>
            </p:txBody>
          </p:sp>
        </mc:Fallback>
      </mc:AlternateContent>
      <p:sp>
        <p:nvSpPr>
          <p:cNvPr id="73" name="TextBox 72"/>
          <p:cNvSpPr txBox="1"/>
          <p:nvPr/>
        </p:nvSpPr>
        <p:spPr>
          <a:xfrm>
            <a:off x="6137293" y="5034635"/>
            <a:ext cx="517375" cy="707886"/>
          </a:xfrm>
          <a:prstGeom prst="rect">
            <a:avLst/>
          </a:prstGeom>
          <a:noFill/>
        </p:spPr>
        <p:txBody>
          <a:bodyPr wrap="square" rtlCol="0">
            <a:spAutoFit/>
          </a:bodyPr>
          <a:lstStyle/>
          <a:p>
            <a:r>
              <a:rPr lang="mr-IN" sz="4000" dirty="0"/>
              <a:t>…</a:t>
            </a:r>
            <a:endParaRPr lang="en-US" sz="4000" dirty="0"/>
          </a:p>
        </p:txBody>
      </p:sp>
    </p:spTree>
    <p:extLst>
      <p:ext uri="{BB962C8B-B14F-4D97-AF65-F5344CB8AC3E}">
        <p14:creationId xmlns:p14="http://schemas.microsoft.com/office/powerpoint/2010/main" val="1636797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9">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4">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4">
                                            <p:txEl>
                                              <p:pRg st="2" end="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4">
                                            <p:txEl>
                                              <p:pRg st="4" end="4"/>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7">
                                            <p:txEl>
                                              <p:pRg st="4" end="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xEl>
                                              <p:pRg st="4" end="4"/>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4">
                                            <p:txEl>
                                              <p:pRg st="8" end="8"/>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7">
                                            <p:txEl>
                                              <p:pRg st="8" end="8"/>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9">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4">
                                            <p:txEl>
                                              <p:pRg st="12" end="12"/>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7">
                                            <p:txEl>
                                              <p:pRg st="12" end="12"/>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6" grpId="0"/>
      <p:bldP spid="57" grpId="0"/>
      <p:bldP spid="60" grpId="0"/>
      <p:bldP spid="61" grpId="0"/>
      <p:bldP spid="62" grpId="0"/>
      <p:bldP spid="63" grpId="0"/>
      <p:bldP spid="64" grpId="0" uiExpand="1" build="p"/>
      <p:bldP spid="65" grpId="0"/>
      <p:bldP spid="67" grpId="0" uiExpand="1" build="p"/>
      <p:bldP spid="69" grpId="0" uiExpand="1" build="p"/>
      <p:bldP spid="71" grpId="0" animBg="1"/>
      <p:bldP spid="7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0E2BDD-B0BE-AF9A-D9E4-DDF1C3AE36C3}"/>
              </a:ext>
            </a:extLst>
          </p:cNvPr>
          <p:cNvSpPr txBox="1"/>
          <p:nvPr/>
        </p:nvSpPr>
        <p:spPr>
          <a:xfrm>
            <a:off x="1356946" y="1838013"/>
            <a:ext cx="9396355" cy="2246769"/>
          </a:xfrm>
          <a:prstGeom prst="rect">
            <a:avLst/>
          </a:prstGeom>
          <a:noFill/>
        </p:spPr>
        <p:txBody>
          <a:bodyPr wrap="none" rtlCol="0">
            <a:spAutoFit/>
          </a:bodyPr>
          <a:lstStyle/>
          <a:p>
            <a:endParaRPr lang="en-US" sz="2800" dirty="0"/>
          </a:p>
          <a:p>
            <a:pPr marL="285750" indent="-285750">
              <a:buFont typeface="Arial" panose="020B0604020202020204" pitchFamily="34" charset="0"/>
              <a:buChar char="•"/>
            </a:pPr>
            <a:r>
              <a:rPr lang="en-US" sz="2800" dirty="0"/>
              <a:t>Total </a:t>
            </a:r>
            <a:r>
              <a:rPr lang="en-US" sz="2800" dirty="0">
                <a:solidFill>
                  <a:schemeClr val="accent2"/>
                </a:solidFill>
              </a:rPr>
              <a:t>6n </a:t>
            </a:r>
            <a:r>
              <a:rPr lang="en-US" sz="2800" dirty="0"/>
              <a:t>operations across all recursive calls at </a:t>
            </a:r>
            <a:r>
              <a:rPr lang="en-US" sz="2800" dirty="0" err="1">
                <a:solidFill>
                  <a:schemeClr val="accent2"/>
                </a:solidFill>
              </a:rPr>
              <a:t>j</a:t>
            </a:r>
            <a:r>
              <a:rPr lang="en-US" sz="2800" baseline="30000" dirty="0" err="1">
                <a:solidFill>
                  <a:schemeClr val="accent2"/>
                </a:solidFill>
              </a:rPr>
              <a:t>th</a:t>
            </a:r>
            <a:r>
              <a:rPr lang="en-US" sz="2800" dirty="0">
                <a:solidFill>
                  <a:schemeClr val="accent2"/>
                </a:solidFill>
              </a:rPr>
              <a:t> level </a:t>
            </a:r>
          </a:p>
          <a:p>
            <a:pPr marL="285750" indent="-285750">
              <a:buFont typeface="Arial" panose="020B0604020202020204" pitchFamily="34" charset="0"/>
              <a:buChar char="•"/>
            </a:pPr>
            <a:r>
              <a:rPr lang="en-US" sz="2800" dirty="0">
                <a:solidFill>
                  <a:schemeClr val="accent2"/>
                </a:solidFill>
              </a:rPr>
              <a:t>log</a:t>
            </a:r>
            <a:r>
              <a:rPr lang="en-US" sz="2800" baseline="-25000" dirty="0">
                <a:solidFill>
                  <a:schemeClr val="accent2"/>
                </a:solidFill>
              </a:rPr>
              <a:t>2</a:t>
            </a:r>
            <a:r>
              <a:rPr lang="en-US" sz="2800" dirty="0">
                <a:solidFill>
                  <a:schemeClr val="accent2"/>
                </a:solidFill>
              </a:rPr>
              <a:t>n + 1 </a:t>
            </a:r>
            <a:r>
              <a:rPr lang="en-US" sz="2800" dirty="0"/>
              <a:t>levels in the recursion tree</a:t>
            </a:r>
          </a:p>
          <a:p>
            <a:pPr marL="285750" indent="-285750">
              <a:buFont typeface="Arial" panose="020B0604020202020204" pitchFamily="34" charset="0"/>
              <a:buChar char="•"/>
            </a:pPr>
            <a:r>
              <a:rPr lang="en-US" sz="2800" dirty="0"/>
              <a:t>6n (log</a:t>
            </a:r>
            <a:r>
              <a:rPr lang="en-US" sz="2800" baseline="-25000" dirty="0"/>
              <a:t>2</a:t>
            </a:r>
            <a:r>
              <a:rPr lang="en-US" sz="2800" dirty="0"/>
              <a:t>n + 1) = </a:t>
            </a:r>
            <a:r>
              <a:rPr lang="en-US" sz="2800" dirty="0">
                <a:solidFill>
                  <a:schemeClr val="accent2"/>
                </a:solidFill>
              </a:rPr>
              <a:t>6n log</a:t>
            </a:r>
            <a:r>
              <a:rPr lang="en-US" sz="2800" baseline="-25000" dirty="0">
                <a:solidFill>
                  <a:schemeClr val="accent2"/>
                </a:solidFill>
              </a:rPr>
              <a:t>2</a:t>
            </a:r>
            <a:r>
              <a:rPr lang="en-US" sz="2800" dirty="0">
                <a:solidFill>
                  <a:schemeClr val="accent2"/>
                </a:solidFill>
              </a:rPr>
              <a:t>n + 6n </a:t>
            </a:r>
            <a:r>
              <a:rPr lang="en-US" sz="2800" dirty="0"/>
              <a:t>total operations across all levels</a:t>
            </a:r>
          </a:p>
          <a:p>
            <a:pPr marL="285750" indent="-285750">
              <a:buFont typeface="Arial" panose="020B0604020202020204" pitchFamily="34" charset="0"/>
              <a:buChar char="•"/>
            </a:pPr>
            <a:r>
              <a:rPr lang="en-US" sz="2800" dirty="0"/>
              <a:t>Time Complexity </a:t>
            </a:r>
            <a:r>
              <a:rPr lang="en-US" sz="2800" b="1" dirty="0"/>
              <a:t>O(nlog</a:t>
            </a:r>
            <a:r>
              <a:rPr lang="en-US" sz="2800" b="1" baseline="-25000" dirty="0"/>
              <a:t>2</a:t>
            </a:r>
            <a:r>
              <a:rPr lang="en-US" sz="2800" b="1" dirty="0"/>
              <a:t>n) </a:t>
            </a:r>
          </a:p>
        </p:txBody>
      </p:sp>
      <p:sp>
        <p:nvSpPr>
          <p:cNvPr id="4" name="Title 1">
            <a:extLst>
              <a:ext uri="{FF2B5EF4-FFF2-40B4-BE49-F238E27FC236}">
                <a16:creationId xmlns:a16="http://schemas.microsoft.com/office/drawing/2014/main" id="{7C874FE9-4DDC-7306-5EF3-7BB61BD3288A}"/>
              </a:ext>
            </a:extLst>
          </p:cNvPr>
          <p:cNvSpPr txBox="1">
            <a:spLocks/>
          </p:cNvSpPr>
          <p:nvPr/>
        </p:nvSpPr>
        <p:spPr>
          <a:xfrm>
            <a:off x="500120" y="358181"/>
            <a:ext cx="7886700" cy="1066109"/>
          </a:xfr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Total Runtime of </a:t>
            </a:r>
            <a:r>
              <a:rPr lang="en-US" dirty="0" err="1"/>
              <a:t>MergeSort</a:t>
            </a:r>
            <a:endParaRPr lang="en-US" dirty="0"/>
          </a:p>
        </p:txBody>
      </p:sp>
    </p:spTree>
    <p:extLst>
      <p:ext uri="{BB962C8B-B14F-4D97-AF65-F5344CB8AC3E}">
        <p14:creationId xmlns:p14="http://schemas.microsoft.com/office/powerpoint/2010/main" val="226639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linds(horizont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linds(horizont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blinds(horizontal)">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linds(horizontal)">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02920" y="347472"/>
            <a:ext cx="10515600" cy="274320"/>
          </a:xfrm>
          <a:prstGeom prst="rect">
            <a:avLst/>
          </a:prstGeom>
          <a:noFill/>
          <a:ln/>
        </p:spPr>
        <p:txBody>
          <a:bodyPr wrap="square" lIns="0" tIns="0" rIns="0" bIns="0" rtlCol="0" anchor="ctr"/>
          <a:lstStyle/>
          <a:p>
            <a:pPr marL="0" indent="0" algn="l">
              <a:buNone/>
            </a:pPr>
            <a:r>
              <a:rPr lang="en-US" sz="1200" b="1" dirty="0">
                <a:solidFill>
                  <a:srgbClr val="C55A11"/>
                </a:solidFill>
                <a:latin typeface="Calibri" pitchFamily="34" charset="0"/>
                <a:ea typeface="Calibri" pitchFamily="34" charset="-122"/>
                <a:cs typeface="Calibri" pitchFamily="34" charset="-120"/>
              </a:rPr>
              <a:t>DIVIDE AND CONQUER</a:t>
            </a:r>
            <a:endParaRPr lang="en-US" sz="1200" dirty="0"/>
          </a:p>
        </p:txBody>
      </p:sp>
      <p:sp>
        <p:nvSpPr>
          <p:cNvPr id="3" name="Text 3"/>
          <p:cNvSpPr txBox="1"/>
          <p:nvPr/>
        </p:nvSpPr>
        <p:spPr>
          <a:xfrm>
            <a:off x="502920" y="603504"/>
            <a:ext cx="10789920" cy="566928"/>
          </a:xfrm>
          <a:prstGeom prst="rect">
            <a:avLst/>
          </a:prstGeom>
          <a:noFill/>
          <a:ln/>
        </p:spPr>
        <p:txBody>
          <a:bodyPr wrap="square" lIns="0" tIns="0" rIns="0" bIns="0" rtlCol="0" anchor="ctr"/>
          <a:lstStyle/>
          <a:p>
            <a:pPr marL="0" indent="0" algn="l">
              <a:buNone/>
            </a:pPr>
            <a:r>
              <a:rPr lang="en-US" sz="3000" b="1" dirty="0">
                <a:solidFill>
                  <a:srgbClr val="1E2A44"/>
                </a:solidFill>
                <a:latin typeface="Calibri" pitchFamily="34" charset="0"/>
                <a:ea typeface="Calibri" pitchFamily="34" charset="-122"/>
                <a:cs typeface="Calibri" pitchFamily="34" charset="-120"/>
              </a:rPr>
              <a:t>Try It Yourself: Sorting Visualizers</a:t>
            </a:r>
            <a:endParaRPr lang="en-US" sz="3000" dirty="0"/>
          </a:p>
        </p:txBody>
      </p:sp>
      <p:sp>
        <p:nvSpPr>
          <p:cNvPr id="4" name="Text 4"/>
          <p:cNvSpPr txBox="1"/>
          <p:nvPr/>
        </p:nvSpPr>
        <p:spPr>
          <a:xfrm>
            <a:off x="502920" y="1152144"/>
            <a:ext cx="10881360" cy="384048"/>
          </a:xfrm>
          <a:prstGeom prst="rect">
            <a:avLst/>
          </a:prstGeom>
          <a:noFill/>
          <a:ln/>
        </p:spPr>
        <p:txBody>
          <a:bodyPr wrap="square" lIns="0" tIns="0" rIns="0" bIns="0" rtlCol="0" anchor="ctr"/>
          <a:lstStyle/>
          <a:p>
            <a:pPr marL="0" indent="0" algn="l">
              <a:buNone/>
            </a:pPr>
            <a:r>
              <a:rPr lang="en-US" sz="1350" dirty="0">
                <a:solidFill>
                  <a:srgbClr val="595959"/>
                </a:solidFill>
                <a:latin typeface="Calibri" pitchFamily="34" charset="0"/>
                <a:ea typeface="Calibri" pitchFamily="34" charset="-122"/>
                <a:cs typeface="Calibri" pitchFamily="34" charset="-120"/>
              </a:rPr>
              <a:t>Free tools to explore every algorithm step-by-step, with your own arrays.</a:t>
            </a:r>
            <a:endParaRPr lang="en-US" sz="1350" dirty="0"/>
          </a:p>
        </p:txBody>
      </p:sp>
      <p:sp>
        <p:nvSpPr>
          <p:cNvPr id="5" name="Shape 5"/>
          <p:cNvSpPr/>
          <p:nvPr/>
        </p:nvSpPr>
        <p:spPr>
          <a:xfrm>
            <a:off x="502920" y="1828800"/>
            <a:ext cx="5212080" cy="2100000"/>
          </a:xfrm>
          <a:prstGeom prst="roundRect">
            <a:avLst>
              <a:gd name="adj" fmla="val 7500"/>
            </a:avLst>
          </a:prstGeom>
          <a:solidFill>
            <a:srgbClr val="EEF3FC"/>
          </a:solidFill>
          <a:ln/>
        </p:spPr>
        <p:txBody>
          <a:bodyPr wrap="square" lIns="182880" tIns="137160" rIns="182880" bIns="137160" anchor="t"/>
          <a:lstStyle/>
          <a:p>
            <a:pPr marL="0" indent="0">
              <a:buNone/>
            </a:pPr>
            <a:r>
              <a:rPr lang="en-US" sz="1300" b="1" dirty="0">
                <a:solidFill>
                  <a:srgbClr val="1E2A44"/>
                </a:solidFill>
                <a:latin typeface="Calibri" pitchFamily="34" charset="0"/>
              </a:rPr>
              <a:t>VisuAlgo</a:t>
            </a:r>
            <a:endParaRPr lang="en-US" sz="1300" dirty="0"/>
          </a:p>
          <a:p>
            <a:pPr marL="0" indent="0">
              <a:buNone/>
            </a:pPr>
            <a:r>
              <a:rPr lang="en-US" sz="1150" b="1" dirty="0">
                <a:solidFill>
                  <a:srgbClr val="4472C4"/>
                </a:solidFill>
                <a:latin typeface="Courier New" pitchFamily="34" charset="0"/>
                <a:hlinkClick r:id="rId2"/>
              </a:rPr>
              <a:t>visualgo.net/en/sorting</a:t>
            </a:r>
            <a:endParaRPr lang="en-US" sz="1150" dirty="0"/>
          </a:p>
          <a:p>
            <a:pPr marL="0" indent="0">
              <a:lnSpc>
                <a:spcPct val="115000"/>
              </a:lnSpc>
              <a:buNone/>
            </a:pPr>
            <a:r>
              <a:rPr lang="en-US" sz="1100" dirty="0">
                <a:solidFill>
                  <a:srgbClr val="333F50"/>
                </a:solidFill>
                <a:latin typeface="Calibri" pitchFamily="34" charset="0"/>
              </a:rPr>
              <a:t>Type in your own array and watch it sort, with the pseudocode highlighted live as each line runs. Covers bubble, selection, insertion, merge, quick, and radix sort. Built at NUS and used in university courses worldwide.</a:t>
            </a:r>
            <a:endParaRPr lang="en-US" sz="1100" dirty="0"/>
          </a:p>
        </p:txBody>
      </p:sp>
      <p:sp>
        <p:nvSpPr>
          <p:cNvPr id="6" name="Shape 6"/>
          <p:cNvSpPr/>
          <p:nvPr/>
        </p:nvSpPr>
        <p:spPr>
          <a:xfrm>
            <a:off x="6400800" y="1828800"/>
            <a:ext cx="5287975" cy="2100000"/>
          </a:xfrm>
          <a:prstGeom prst="roundRect">
            <a:avLst>
              <a:gd name="adj" fmla="val 7500"/>
            </a:avLst>
          </a:prstGeom>
          <a:solidFill>
            <a:srgbClr val="FBE4D5"/>
          </a:solidFill>
          <a:ln/>
        </p:spPr>
        <p:txBody>
          <a:bodyPr wrap="square" lIns="182880" tIns="137160" rIns="182880" bIns="137160" anchor="t"/>
          <a:lstStyle/>
          <a:p>
            <a:pPr marL="0" indent="0">
              <a:buNone/>
            </a:pPr>
            <a:r>
              <a:rPr lang="en-US" sz="1300" b="1" dirty="0">
                <a:solidFill>
                  <a:srgbClr val="1E2A44"/>
                </a:solidFill>
                <a:latin typeface="Calibri" pitchFamily="34" charset="0"/>
              </a:rPr>
              <a:t>USF Sorting Visualizations</a:t>
            </a:r>
            <a:endParaRPr lang="en-US" sz="1300" dirty="0"/>
          </a:p>
          <a:p>
            <a:pPr marL="0" indent="0">
              <a:buNone/>
            </a:pPr>
            <a:r>
              <a:rPr lang="en-US" sz="1150" b="1" dirty="0">
                <a:solidFill>
                  <a:srgbClr val="4472C4"/>
                </a:solidFill>
                <a:latin typeface="Courier New" pitchFamily="34" charset="0"/>
                <a:hlinkClick r:id="rId3"/>
              </a:rPr>
              <a:t>cs.usfca.edu/~galles/visualization</a:t>
            </a:r>
            <a:endParaRPr lang="en-US" sz="1150" dirty="0"/>
          </a:p>
          <a:p>
            <a:pPr marL="0" indent="0">
              <a:lnSpc>
                <a:spcPct val="115000"/>
              </a:lnSpc>
              <a:buNone/>
            </a:pPr>
            <a:r>
              <a:rPr lang="en-US" sz="1100" dirty="0">
                <a:solidFill>
                  <a:srgbClr val="333F50"/>
                </a:solidFill>
                <a:latin typeface="Calibri" pitchFamily="34" charset="0"/>
              </a:rPr>
              <a:t>A simple, no-clutter tool by David Galles (University of San Francisco): type a custom array, hit go, and watch it sort at an adjustable speed. Great for quickly projecting in class.</a:t>
            </a:r>
            <a:endParaRPr lang="en-US" sz="1100" dirty="0"/>
          </a:p>
        </p:txBody>
      </p:sp>
      <p:sp>
        <p:nvSpPr>
          <p:cNvPr id="7" name="Shape 7"/>
          <p:cNvSpPr/>
          <p:nvPr/>
        </p:nvSpPr>
        <p:spPr>
          <a:xfrm>
            <a:off x="502920" y="4300000"/>
            <a:ext cx="11185855" cy="700000"/>
          </a:xfrm>
          <a:prstGeom prst="roundRect">
            <a:avLst>
              <a:gd name="adj" fmla="val 11111"/>
            </a:avLst>
          </a:prstGeom>
          <a:solidFill>
            <a:srgbClr val="1E2A44"/>
          </a:solidFill>
          <a:ln/>
        </p:spPr>
        <p:txBody>
          <a:bodyPr/>
          <a:lstStyle/>
          <a:p>
            <a:endParaRPr lang="en-US"/>
          </a:p>
        </p:txBody>
      </p:sp>
      <p:sp>
        <p:nvSpPr>
          <p:cNvPr id="8" name="Text 8"/>
          <p:cNvSpPr txBox="1"/>
          <p:nvPr/>
        </p:nvSpPr>
        <p:spPr>
          <a:xfrm>
            <a:off x="502920" y="4300000"/>
            <a:ext cx="11185855" cy="7000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Try it in class:  pull up either site and sort  [6, 4, 3, 8, 1, 5, 2, 7]  yourself.</a:t>
            </a:r>
            <a:endParaRPr lang="en-US" sz="1500" dirty="0"/>
          </a:p>
        </p:txBody>
      </p:sp>
      <p:sp>
        <p:nvSpPr>
          <p:cNvPr id="9" name="Text 9"/>
          <p:cNvSpPr txBox="1"/>
          <p:nvPr/>
        </p:nvSpPr>
        <p:spPr>
          <a:xfrm>
            <a:off x="502920" y="6547104"/>
            <a:ext cx="8229600" cy="237744"/>
          </a:xfrm>
          <a:prstGeom prst="rect">
            <a:avLst/>
          </a:prstGeom>
          <a:noFill/>
          <a:ln/>
        </p:spPr>
        <p:txBody>
          <a:bodyPr wrap="square" lIns="0" tIns="0" rIns="0" bIns="0" rtlCol="0" anchor="ctr"/>
          <a:lstStyle/>
          <a:p>
            <a:pPr marL="0" indent="0" algn="l">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 ·  Sep 21</a:t>
            </a:r>
            <a:endParaRPr lang="en-US" sz="850" dirty="0"/>
          </a:p>
        </p:txBody>
      </p:sp>
      <p:sp>
        <p:nvSpPr>
          <p:cNvPr id="10" name="Text 10"/>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1291</TotalTime>
  <Words>2490</Words>
  <Application>Microsoft Macintosh PowerPoint</Application>
  <PresentationFormat>Widescreen</PresentationFormat>
  <Paragraphs>398</Paragraphs>
  <Slides>15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MergeSort – Recursion Tree</vt:lpstr>
      <vt:lpstr>Schematic of recursive calls</vt:lpstr>
      <vt:lpstr>Actual Runtime of MergeSort</vt:lpstr>
      <vt:lpstr>Analysis</vt:lpstr>
      <vt:lpstr>Recursion tree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Tanwistha Saha</cp:lastModifiedBy>
  <cp:revision>102</cp:revision>
  <dcterms:created xsi:type="dcterms:W3CDTF">2026-09-17T23:23:03Z</dcterms:created>
  <dcterms:modified xsi:type="dcterms:W3CDTF">2026-09-21T18:27:49Z</dcterms:modified>
</cp:coreProperties>
</file>