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71" r:id="rId4"/>
    <p:sldId id="272" r:id="rId5"/>
    <p:sldId id="277" r:id="rId6"/>
    <p:sldId id="261" r:id="rId7"/>
    <p:sldId id="276" r:id="rId8"/>
    <p:sldId id="263" r:id="rId9"/>
    <p:sldId id="278" r:id="rId10"/>
    <p:sldId id="265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70"/>
  </p:normalViewPr>
  <p:slideViewPr>
    <p:cSldViewPr snapToGrid="0" snapToObjects="1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455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90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 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and insertion sort crawl at O(n²).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3977640"/>
            <a:ext cx="384048" cy="320040"/>
          </a:xfrm>
          <a:prstGeom prst="roundRect">
            <a:avLst>
              <a:gd name="adj" fmla="val 11429"/>
            </a:avLst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75904" y="3611880"/>
            <a:ext cx="384048" cy="685800"/>
          </a:xfrm>
          <a:prstGeom prst="roundRect">
            <a:avLst>
              <a:gd name="adj" fmla="val 9524"/>
            </a:avLst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87968" y="3154680"/>
            <a:ext cx="384048" cy="1143000"/>
          </a:xfrm>
          <a:prstGeom prst="roundRect">
            <a:avLst>
              <a:gd name="adj" fmla="val 9524"/>
            </a:avLst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00032" y="2606040"/>
            <a:ext cx="384048" cy="1691640"/>
          </a:xfrm>
          <a:prstGeom prst="roundRect">
            <a:avLst>
              <a:gd name="adj" fmla="val 9524"/>
            </a:avLst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12096" y="1965960"/>
            <a:ext cx="384048" cy="2331720"/>
          </a:xfrm>
          <a:prstGeom prst="roundRect">
            <a:avLst>
              <a:gd name="adj" fmla="val 9524"/>
            </a:avLst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O(n²)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576072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9DB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75904" y="5605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9DB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87968" y="548640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9DB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400032" y="5394960"/>
            <a:ext cx="384048" cy="594360"/>
          </a:xfrm>
          <a:prstGeom prst="roundRect">
            <a:avLst>
              <a:gd name="adj" fmla="val 9524"/>
            </a:avLst>
          </a:prstGeom>
          <a:solidFill>
            <a:srgbClr val="9DB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912096" y="5330952"/>
            <a:ext cx="384048" cy="658368"/>
          </a:xfrm>
          <a:prstGeom prst="roundRect">
            <a:avLst>
              <a:gd name="adj" fmla="val 9524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0" y="6062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O(n log 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21240" y="502920"/>
            <a:ext cx="1417320" cy="1417320"/>
          </a:xfrm>
          <a:prstGeom prst="ellipse">
            <a:avLst/>
          </a:prstGeom>
          <a:solidFill>
            <a:srgbClr val="EEF3FC"/>
          </a:solidFill>
          <a:ln w="19050">
            <a:solidFill>
              <a:srgbClr val="C9D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921240" y="5029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Session 8  ·  September 18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ASYMPTOTIC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Recursive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Roughgarden's notation (Algorithms Illuminated): every divide-and-conquer running time satisfies a recurrence of this 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 ≤  a · T(n/b)  +  O(</a:t>
            </a:r>
            <a:r>
              <a:rPr lang="en-US" sz="30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3000" b="1" baseline="30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545738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090672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01568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recursive calls made by the algorithm (a ≥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2978" y="3017520"/>
            <a:ext cx="3545738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60138" y="3090672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60138" y="3401568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by which each recursive call shrinks the input, so subproblems have size n/b (b &gt;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43037" y="3017520"/>
            <a:ext cx="3545738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80197" y="3090672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3401568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of the work done outside the recursive calls — the “combining step” (d ≥ 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BE4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251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  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exactly this recurrence to analyze Strassen's matrix multiplication algorithm: T(n) ≤ 7·T(n/2) + O(n²) — that is, a=7, b=2, d=2 — solved with the master method to get O(n^log₂ 7) = O(n^2.81).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we'll apply the same master method to sorting algorithms — and see how the choice of a, b, and d determines whether an algorithm runs in O(n²) or O(n log n).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031C4B5E-F1CB-D4ED-9C2B-9AEB892ADE13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THE MASTER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Method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Roughgarden's formulation: compare a, the number of subproblems, against b^d, the per-level growth of the combining work.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79464"/>
              </p:ext>
            </p:extLst>
          </p:nvPr>
        </p:nvGraphicFramePr>
        <p:xfrm>
          <a:off x="502920" y="1874520"/>
          <a:ext cx="11091672" cy="1965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r>
                        <a:rPr lang="en-US" sz="12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 subproblems exactly balance the combining work at every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</a:t>
                      </a:r>
                      <a:r>
                        <a:rPr lang="en-US" sz="12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200" baseline="300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 b</a:t>
                      </a:r>
                      <a:r>
                        <a:rPr lang="en-US" sz="12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 the combining step dominates every level of recursion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</a:t>
                      </a:r>
                      <a:r>
                        <a:rPr lang="en-US" sz="12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200" baseline="300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 b</a:t>
                      </a:r>
                      <a:r>
                        <a:rPr lang="en-US" sz="1200" baseline="30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 the recursive calls dominate — governed by the number of leaves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</a:t>
                      </a:r>
                      <a:r>
                        <a:rPr lang="en-US" sz="12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n^log</a:t>
                      </a:r>
                      <a:r>
                        <a:rPr lang="en-US" sz="1200" baseline="-250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aseline="-250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1200" dirty="0" err="1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977640"/>
            <a:ext cx="11185855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416052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it. 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(the number of subproblems) to b^d (how fast the combining work would need to grow to keep pace).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= </a:t>
            </a:r>
            <a:r>
              <a:rPr lang="en-US" sz="1300" dirty="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b^d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work is balanced across all </a:t>
            </a:r>
            <a:r>
              <a:rPr lang="en-US" sz="1300" dirty="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r>
              <a:rPr lang="en-US" sz="1300" baseline="-25000" dirty="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300" dirty="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levels of the recursion tree (Case 1).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&lt; b^d, work shrinks geometrically going down the tree and the root level dominates (Case 2).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&gt; b^d, work grows geometrically and the many leaves dominate (Case 3).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6F88AE8E-436C-3D1B-24D8-7C1053BA564A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Method in Action: Strassen's Algorithm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last session — a worked example of Case 3.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847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671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≤ 7·T(n/2) + O(n²)   →   a = 7, b = 2, d =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70632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743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to b^d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b^d = 2² = 4, and a = 7 &gt; 4   →   Case 3 applies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66744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639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master method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O(n^log₂ 7) = O(n^2.81)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2788920"/>
          </a:xfrm>
          <a:prstGeom prst="roundRect">
            <a:avLst>
              <a:gd name="adj" fmla="val 3279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543800" y="201168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COMPARISON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33172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/ naive block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578608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543800" y="3154680"/>
            <a:ext cx="3916375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543800" y="329184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Strassen's algorithm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538728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</a:t>
            </a:r>
            <a:r>
              <a:rPr lang="en-US" sz="2600" b="1" baseline="300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</a:t>
            </a: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06908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recursive multiplications (7 instead of 8) lowers the exponent asymptotically — not just the constant factor.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85855" cy="685800"/>
          </a:xfrm>
          <a:prstGeom prst="roundRect">
            <a:avLst>
              <a:gd name="adj" fmla="val 10667"/>
            </a:avLst>
          </a:prstGeom>
          <a:solidFill>
            <a:srgbClr val="FBE4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31520" y="507492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this same divide-and-conquer lens to sorting — but first, three classic elementary approaches to compare it against.</a:t>
            </a:r>
          </a:p>
          <a:p>
            <a:pPr marL="0" indent="0">
              <a:buNone/>
            </a:pPr>
            <a:endParaRPr lang="en-US" sz="1300" dirty="0">
              <a:solidFill>
                <a:srgbClr val="333F5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Sample array: [5, 2, 8, 1, 4]</a:t>
            </a:r>
            <a:endParaRPr lang="en-US" sz="1300" b="1" dirty="0"/>
          </a:p>
        </p:txBody>
      </p:sp>
      <p:sp>
        <p:nvSpPr>
          <p:cNvPr id="28" name="Text 26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FE2502BF-8F8E-F8F5-D960-0DD50431AC1C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neighbors, swap them if they're out of order — the biggest card 'bubbles' to the 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neighbors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949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7957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1615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7957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5623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89280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5623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53288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56946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20954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24612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638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down the row, looking at each pair of neighbors.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42816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2428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45736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if out of order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24281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27939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491947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95604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91947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559612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63270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59612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27278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30936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27278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694944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8601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4197096" y="31638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swapped!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242816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 bigger than 2, so they trade places.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763256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82712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9827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8485632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bubbles to the end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98271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01928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98271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865936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869594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65936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933602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37260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33602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001268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1004925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001268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068933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1072591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068933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65" name="Text 63"/>
          <p:cNvSpPr txBox="1"/>
          <p:nvPr/>
        </p:nvSpPr>
        <p:spPr>
          <a:xfrm>
            <a:off x="10597896" y="31638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placed!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7982712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full pass, the largest card (8) has bubbled to the last spot.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 another full pass over what's left — 2, 5, 1, 4 — bubbling the next-largest card into place, until the whole row is sorted.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502920" y="45720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LOOKS IN CODE  — for reference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2920" y="484632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24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704088" y="4992624"/>
            <a:ext cx="5175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BubbleSort(A, n):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n-2: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= 0 to n-2-i: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A[j] &gt; A[j+1]: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swap(A[j], A[j+1])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63640" y="4846320"/>
            <a:ext cx="5425135" cy="118872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6464808" y="4974336"/>
            <a:ext cx="50227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is one full pass — one walk down the row comparing neighbors.
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adaptive (as written):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comparing every pair, even once the row is already sorted.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26EBD703-5E02-3420-033B-7DB453E50C38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Sort: Complexity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mean quadratic behavior in the typical case, regardless of input order.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091672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already sorted (with an early-exit “swapped” flag)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sorted in reverse order — every comparison causes a swap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order — roughly half of all comparisons cause a swap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977640"/>
            <a:ext cx="3545738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 txBox="1"/>
          <p:nvPr/>
        </p:nvSpPr>
        <p:spPr>
          <a:xfrm>
            <a:off x="640080" y="4069080"/>
            <a:ext cx="327141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n(n−1)/2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693615"/>
            <a:ext cx="336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in the worst case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3977640"/>
            <a:ext cx="3545738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60138" y="4069080"/>
            <a:ext cx="327141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14418" y="4693615"/>
            <a:ext cx="336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 — sorts in place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43037" y="3977640"/>
            <a:ext cx="3545738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80197" y="4069080"/>
            <a:ext cx="327141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234477" y="4693615"/>
            <a:ext cx="336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elements keep their relative order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4406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both loops scale with n, the total work grows as n² — doubling the input roughly quadruples the running time.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61FCAE77-3635-1709-CED8-154741B1BCA7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it the way you'd sort a hand of playing cards — one card at a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sorted hand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9496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05256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34440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71016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103120" y="269748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139696" y="27157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269748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984248" y="348386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holding 2, 5, 8 — already in order. You draw the next card: 1.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29992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42816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428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45736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room, right to left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42816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08576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645152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08576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974336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010912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974336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5340096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376672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340096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343400" y="2194560"/>
            <a:ext cx="365760" cy="457200"/>
          </a:xfrm>
          <a:prstGeom prst="roundRect">
            <a:avLst>
              <a:gd name="adj" fmla="val 17500"/>
            </a:avLst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34340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242816" y="26517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42816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smaller than 8, 5, and 2 — so each one slides over to make room.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763256" y="29992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982712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9827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485632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it into place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982712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8019288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7982712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8348472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385048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8348472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8714232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750808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714232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079992" y="27889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9116568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9079992" y="27889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56" name="Text 54"/>
          <p:cNvSpPr txBox="1"/>
          <p:nvPr/>
        </p:nvSpPr>
        <p:spPr>
          <a:xfrm>
            <a:off x="7982712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1 drops into the open spot. Your hand is sorted again: 1, 2, 5, 8.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4480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LOOKS IN CODE  — for reference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" y="475488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24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704088" y="4901184"/>
            <a:ext cx="5175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InsertionSort(A, n):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1 to n-1: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A[i]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i - 1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j &gt;= 0 and A[j] &gt; key: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A[j+1] = A[j];  j = j - 1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A[j+1] = key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63640" y="4754880"/>
            <a:ext cx="5425135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6464808" y="4882896"/>
            <a:ext cx="502279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“key”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the card you drew; the </a:t>
            </a: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is the sliding-over step, one card at a time.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 that's nearly sorted already needs barely any sliding.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Q: How does the array look like after first two passes of insertion sort?</a:t>
            </a:r>
            <a:r>
              <a:rPr lang="en-US" sz="1200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[walk through the steps of the algorithm on a sample array]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798FE6EA-1176-10F8-1BFF-3A260F775F34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Sort: Complexity &amp; Comparison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Θ(n²) worst case as bubble sort, but with a practical edge on nearly-sorted data.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091672" cy="2880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  (with early-exit flag)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  (already sorted)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  (reverse sorted)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  (reverse sorted)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with early-exit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naturally fast on nearly-sorted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 / In-place?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93776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E4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493776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Θ(n²). 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small or nearly-sorted inputs, but too slow at scale. One more elementary sort to look at — Selection Sort — before we change strategy entirely.</a:t>
            </a:r>
            <a:endParaRPr lang="en-US" sz="1300" dirty="0"/>
          </a:p>
        </p:txBody>
      </p:sp>
      <p:sp>
        <p:nvSpPr>
          <p:cNvPr id="5" name="Text 6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0C9A646C-22B0-D0B4-EA61-CFAF6EF0E908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find the smallest card left and swap it to the front.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unsorted cards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949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7957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1615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7957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5623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89280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5623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53288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56946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20954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24612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five cards are in place yet.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42816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2428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745736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smallest one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24281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27939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24281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491947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5604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91947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59612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63270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559612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27278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30936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27278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694944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98601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43" name="Text 41"/>
          <p:cNvSpPr txBox="1"/>
          <p:nvPr/>
        </p:nvSpPr>
        <p:spPr>
          <a:xfrm>
            <a:off x="6181344" y="31638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242816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card in the group — 1 is the smallest.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763256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982712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79827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485632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it to the front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98271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 w="22225">
            <a:solidFill>
              <a:srgbClr val="C55A11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801928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98271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865936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869594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65936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933602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937260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933602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001268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1004925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1001268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1068933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C9D6F0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1072591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1068933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64" name="Text 62"/>
          <p:cNvSpPr txBox="1"/>
          <p:nvPr/>
        </p:nvSpPr>
        <p:spPr>
          <a:xfrm>
            <a:off x="7891272" y="31638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placed!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982712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5 swap places. The front spot is now sorted for good.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 it all again on what's left — 2, 8, 5, 4 — finding the next-smallest card and growing the sorted part by one, every round.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502920" y="45720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LOOKS IN CODE  — for reference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" y="484632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24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704088" y="4992624"/>
            <a:ext cx="5175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SelectionSort(A, n):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n-2: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minIdx = i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= i+1 to n-1: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A[j] &lt; A[minIdx]: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minIdx = j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swap(A[i], A[minIdx])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263640" y="4846320"/>
            <a:ext cx="5425135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6464808" y="4974336"/>
            <a:ext cx="5022799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“minIdx”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tracks which card looks smallest so far; the inner loop is the “scan the group” step.
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adaptive: </a:t>
            </a: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scans the whole remaining group, even if it's already sorted.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Q: How does the array look like after first two passes of selection sort?</a:t>
            </a:r>
            <a:r>
              <a:rPr lang="en-US" sz="1200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 [walk through the steps of the algorithm on a sample array]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>
              <a:solidFill>
                <a:srgbClr val="333F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32D81D97-91A8-F7D5-B040-B663DD7F4A16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Sort: Complexity &amp; Comparison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Θ(n²) comparisons — but far fewer swaps than bubble sort.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091672" cy="2971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swaps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shifts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n−1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with early-exit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always scans all remaining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(in the standard implementation)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2064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BE4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512064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Θ(n²). 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small or nearly-sorted inputs, but too slow at scale. We need a fundamentally different strategy — divide and conquer.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" name="Text 21">
            <a:extLst>
              <a:ext uri="{FF2B5EF4-FFF2-40B4-BE49-F238E27FC236}">
                <a16:creationId xmlns:a16="http://schemas.microsoft.com/office/drawing/2014/main" id="{68A39764-4B58-7A05-05ED-A5FA3B286A74}"/>
              </a:ext>
            </a:extLst>
          </p:cNvPr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 and Conquer  ·  Sep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statement that holds every single time you pause the loop — no matter when you check.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2 cards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949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7957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1615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7957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5623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89280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5623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53288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56946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20954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24612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16382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sorted ✓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5 are already in order. The rest just haven't been touched yet.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42816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2428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45736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4 cards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24281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27939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491947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95604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91947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559612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63270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59612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27278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30936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27278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694944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8601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4242816" y="31638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sorted ✓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242816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5, 8 — still in order, no matter when you check.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763256" y="254203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82712" y="178308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9827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8485632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at the very end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982712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019288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982712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8659368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8695944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659368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9336024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372600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336024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0012680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10049256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0012680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0689336" y="2331720"/>
            <a:ext cx="566928" cy="786384"/>
          </a:xfrm>
          <a:prstGeom prst="roundRect">
            <a:avLst>
              <a:gd name="adj" fmla="val 12903"/>
            </a:avLst>
          </a:prstGeom>
          <a:solidFill>
            <a:srgbClr val="4472C4"/>
          </a:solidFill>
          <a:ln w="19050">
            <a:solidFill>
              <a:srgbClr val="4472C4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10725912" y="2350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0689336" y="233172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65" name="Text 63"/>
          <p:cNvSpPr txBox="1"/>
          <p:nvPr/>
        </p:nvSpPr>
        <p:spPr>
          <a:xfrm>
            <a:off x="7982712" y="316382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sorted ✓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7982712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placed — “always sorted” now covers the whole hand.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with 0 cards, and each round keeps it true for the next — so it's still true after all n cards. That's the whole proof, checked in three places: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02920" y="457200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731520" y="47183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CHECK FOR INSERTION SORT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731520" y="5010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 </a:t>
            </a: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with 0 cards placed — trivially.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5330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 </a:t>
            </a: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before placing a card ⇒ still true after.</a:t>
            </a:r>
            <a:endParaRPr lang="en-US" sz="1150" dirty="0"/>
          </a:p>
        </p:txBody>
      </p:sp>
      <p:sp>
        <p:nvSpPr>
          <p:cNvPr id="72" name="Text 70"/>
          <p:cNvSpPr txBox="1"/>
          <p:nvPr/>
        </p:nvSpPr>
        <p:spPr>
          <a:xfrm>
            <a:off x="731520" y="56509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 </a:t>
            </a: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after all n cards ⇒ the whole hand is sorted.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263640" y="4572000"/>
            <a:ext cx="5425135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6464808" y="4709160"/>
            <a:ext cx="502279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other sorts: </a:t>
            </a:r>
            <a:r>
              <a:rPr lang="en-US" sz="1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— “the last i are the i largest, sorted.” Selection Sort — “A[0..i−1] holds the i smallest, sorted.”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</a:t>
            </a:r>
            <a:r>
              <a:rPr lang="en-US" sz="1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proves itself by induction on the recursive calls (next slide)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502920" y="65471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&amp; Divide-and-Conquer  ·  Week 4  ·  Session 8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1123157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2244</Words>
  <Application>Microsoft Macintosh PowerPoint</Application>
  <PresentationFormat>Widescreen</PresentationFormat>
  <Paragraphs>387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57</cp:revision>
  <dcterms:created xsi:type="dcterms:W3CDTF">2026-09-17T23:23:03Z</dcterms:created>
  <dcterms:modified xsi:type="dcterms:W3CDTF">2026-09-18T19:56:46Z</dcterms:modified>
</cp:coreProperties>
</file>