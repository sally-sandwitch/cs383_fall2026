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67" r:id="rId3"/>
    <p:sldId id="268" r:id="rId4"/>
    <p:sldId id="269" r:id="rId5"/>
    <p:sldId id="275" r:id="rId6"/>
    <p:sldId id="276" r:id="rId7"/>
    <p:sldId id="277" r:id="rId8"/>
    <p:sldId id="270" r:id="rId9"/>
    <p:sldId id="278" r:id="rId10"/>
    <p:sldId id="27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623"/>
  </p:normalViewPr>
  <p:slideViewPr>
    <p:cSldViewPr snapToGrid="0" snapToObjects="1">
      <p:cViewPr varScale="1">
        <p:scale>
          <a:sx n="117" d="100"/>
          <a:sy n="117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886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Reference: https://</a:t>
            </a:r>
            <a:r>
              <a:rPr lang="en-US" dirty="0" err="1"/>
              <a:t>web.stanford.edu</a:t>
            </a:r>
            <a:r>
              <a:rPr lang="en-US" dirty="0"/>
              <a:t>/class/archive/cs/cs161/cs161.1176/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039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Reference: https://</a:t>
            </a:r>
            <a:r>
              <a:rPr lang="en-US" dirty="0" err="1"/>
              <a:t>web.stanford.edu</a:t>
            </a:r>
            <a:r>
              <a:rPr lang="en-US" dirty="0"/>
              <a:t>/class/archive/cs/cs161/cs161.1176/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519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Reference: https://</a:t>
            </a:r>
            <a:r>
              <a:rPr lang="en-US" dirty="0" err="1"/>
              <a:t>web.stanford.edu</a:t>
            </a:r>
            <a:r>
              <a:rPr lang="en-US" dirty="0"/>
              <a:t>/class/archive/cs/cs161/cs161.1176/</a:t>
            </a:r>
          </a:p>
        </p:txBody>
      </p:sp>
    </p:spTree>
    <p:extLst>
      <p:ext uri="{BB962C8B-B14F-4D97-AF65-F5344CB8AC3E}">
        <p14:creationId xmlns:p14="http://schemas.microsoft.com/office/powerpoint/2010/main" val="430651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7955280" y="4540250"/>
            <a:ext cx="502920" cy="274320"/>
          </a:xfrm>
          <a:prstGeom prst="roundRect">
            <a:avLst>
              <a:gd name="adj" fmla="val 9000"/>
            </a:avLst>
          </a:prstGeom>
          <a:solidFill>
            <a:srgbClr val="4472C4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2"/>
          <p:cNvSpPr/>
          <p:nvPr/>
        </p:nvSpPr>
        <p:spPr>
          <a:xfrm>
            <a:off x="8717280" y="4174490"/>
            <a:ext cx="502920" cy="640080"/>
          </a:xfrm>
          <a:prstGeom prst="roundRect">
            <a:avLst>
              <a:gd name="adj" fmla="val 9000"/>
            </a:avLst>
          </a:prstGeom>
          <a:solidFill>
            <a:srgbClr val="4472C4">
              <a:alpha val="63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3"/>
          <p:cNvSpPr/>
          <p:nvPr/>
        </p:nvSpPr>
        <p:spPr>
          <a:xfrm>
            <a:off x="9479280" y="3717290"/>
            <a:ext cx="502920" cy="1097280"/>
          </a:xfrm>
          <a:prstGeom prst="roundRect">
            <a:avLst>
              <a:gd name="adj" fmla="val 9000"/>
            </a:avLst>
          </a:prstGeom>
          <a:solidFill>
            <a:srgbClr val="4472C4">
              <a:alpha val="7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4"/>
          <p:cNvSpPr/>
          <p:nvPr/>
        </p:nvSpPr>
        <p:spPr>
          <a:xfrm>
            <a:off x="10241280" y="3168650"/>
            <a:ext cx="502920" cy="1645920"/>
          </a:xfrm>
          <a:prstGeom prst="roundRect">
            <a:avLst>
              <a:gd name="adj" fmla="val 9000"/>
            </a:avLst>
          </a:prstGeom>
          <a:solidFill>
            <a:srgbClr val="4472C4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5"/>
          <p:cNvSpPr/>
          <p:nvPr/>
        </p:nvSpPr>
        <p:spPr>
          <a:xfrm>
            <a:off x="11003280" y="2437130"/>
            <a:ext cx="502920" cy="2377440"/>
          </a:xfrm>
          <a:prstGeom prst="roundRect">
            <a:avLst>
              <a:gd name="adj" fmla="val 9000"/>
            </a:avLst>
          </a:prstGeom>
          <a:solidFill>
            <a:srgbClr val="4472C4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6"/>
          <p:cNvSpPr/>
          <p:nvPr/>
        </p:nvSpPr>
        <p:spPr>
          <a:xfrm>
            <a:off x="7818120" y="2117090"/>
            <a:ext cx="3825240" cy="0"/>
          </a:xfrm>
          <a:prstGeom prst="line">
            <a:avLst/>
          </a:prstGeom>
          <a:noFill/>
          <a:ln w="25400">
            <a:noFill/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7"/>
          <p:cNvSpPr/>
          <p:nvPr/>
        </p:nvSpPr>
        <p:spPr>
          <a:xfrm>
            <a:off x="7818120" y="179705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&lt;= c · f(n)</a:t>
            </a:r>
          </a:p>
        </p:txBody>
      </p:sp>
      <p:sp>
        <p:nvSpPr>
          <p:cNvPr id="108" name="Text 108"/>
          <p:cNvSpPr/>
          <p:nvPr/>
        </p:nvSpPr>
        <p:spPr>
          <a:xfrm>
            <a:off x="7818120" y="486029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</a:t>
            </a:r>
          </a:p>
        </p:txBody>
      </p:sp>
      <p:sp>
        <p:nvSpPr>
          <p:cNvPr id="109" name="Text 109"/>
          <p:cNvSpPr/>
          <p:nvPr/>
        </p:nvSpPr>
        <p:spPr>
          <a:xfrm>
            <a:off x="731520" y="210312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>
                <a:solidFill>
                  <a:srgbClr val="333F50"/>
                </a:solidFill>
                <a:latin typeface="Calibri Light" pitchFamily="34" charset="0"/>
                <a:ea typeface="Cambria" pitchFamily="34" charset="-122"/>
                <a:cs typeface="Cambria" pitchFamily="34" charset="-120"/>
              </a:rPr>
              <a:t>ASYMPTOTIC NOTATION</a:t>
            </a:r>
          </a:p>
        </p:txBody>
      </p:sp>
      <p:sp>
        <p:nvSpPr>
          <p:cNvPr id="110" name="Text 110"/>
          <p:cNvSpPr/>
          <p:nvPr/>
        </p:nvSpPr>
        <p:spPr>
          <a:xfrm>
            <a:off x="731520" y="28803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5A11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&amp; Examples</a:t>
            </a:r>
          </a:p>
        </p:txBody>
      </p:sp>
      <p:sp>
        <p:nvSpPr>
          <p:cNvPr id="111" name="Text 111"/>
          <p:cNvSpPr/>
          <p:nvPr/>
        </p:nvSpPr>
        <p:spPr>
          <a:xfrm>
            <a:off x="731520" y="3611880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compare algorithms without counting every single operation?</a:t>
            </a:r>
          </a:p>
        </p:txBody>
      </p:sp>
      <p:sp>
        <p:nvSpPr>
          <p:cNvPr id="112" name="Shape 112"/>
          <p:cNvSpPr/>
          <p:nvPr/>
        </p:nvSpPr>
        <p:spPr>
          <a:xfrm>
            <a:off x="731520" y="4252056"/>
            <a:ext cx="1280160" cy="0"/>
          </a:xfrm>
          <a:prstGeom prst="line">
            <a:avLst/>
          </a:prstGeom>
          <a:noFill/>
          <a:ln w="381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3"/>
          <p:cNvSpPr/>
          <p:nvPr/>
        </p:nvSpPr>
        <p:spPr>
          <a:xfrm>
            <a:off x="731520" y="4631786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Analysis and Design</a:t>
            </a:r>
          </a:p>
        </p:txBody>
      </p:sp>
      <p:sp>
        <p:nvSpPr>
          <p:cNvPr id="114" name="Text 114"/>
          <p:cNvSpPr/>
          <p:nvPr/>
        </p:nvSpPr>
        <p:spPr>
          <a:xfrm>
            <a:off x="731520" y="4951826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Tanwistha Saha</a:t>
            </a:r>
          </a:p>
        </p:txBody>
      </p:sp>
      <p:sp>
        <p:nvSpPr>
          <p:cNvPr id="115" name="Text 115"/>
          <p:cNvSpPr/>
          <p:nvPr/>
        </p:nvSpPr>
        <p:spPr>
          <a:xfrm>
            <a:off x="731520" y="5331556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Session 6  ·  September 14</a:t>
            </a:r>
          </a:p>
        </p:txBody>
      </p:sp>
      <p:sp>
        <p:nvSpPr>
          <p:cNvPr id="116" name="Footer 116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 &amp; Big-O  ·  Sep 14</a:t>
            </a:r>
          </a:p>
        </p:txBody>
      </p:sp>
      <p:sp>
        <p:nvSpPr>
          <p:cNvPr id="117" name="Slide Number 117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BRIDGE</a:t>
            </a:r>
          </a:p>
        </p:txBody>
      </p:sp>
      <p:sp>
        <p:nvSpPr>
          <p:cNvPr id="102" name="Text 10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4546A"/>
                </a:solidFill>
                <a:latin typeface="Calibri Light" pitchFamily="34" charset="0"/>
                <a:ea typeface="Cambria" pitchFamily="34" charset="-122"/>
                <a:cs typeface="Cambria" pitchFamily="34" charset="-120"/>
              </a:rPr>
              <a:t>Last week: one curve. Today: a language for every curve.</a:t>
            </a:r>
          </a:p>
        </p:txBody>
      </p:sp>
      <p:sp>
        <p:nvSpPr>
          <p:cNvPr id="103" name="Text 10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 &amp; Big-O  ·  Sep 14</a:t>
            </a:r>
          </a:p>
        </p:txBody>
      </p:sp>
      <p:sp>
        <p:nvSpPr>
          <p:cNvPr id="104" name="Text 104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05" name="Shape 105"/>
          <p:cNvSpPr/>
          <p:nvPr/>
        </p:nvSpPr>
        <p:spPr>
          <a:xfrm>
            <a:off x="548640" y="18745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1B103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Text 106"/>
          <p:cNvSpPr/>
          <p:nvPr/>
        </p:nvSpPr>
        <p:spPr>
          <a:xfrm>
            <a:off x="868680" y="21488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11 — LOG₂N</a:t>
            </a:r>
          </a:p>
        </p:txBody>
      </p:sp>
      <p:sp>
        <p:nvSpPr>
          <p:cNvPr id="107" name="Text 107"/>
          <p:cNvSpPr/>
          <p:nvPr/>
        </p:nvSpPr>
        <p:spPr>
          <a:xfrm>
            <a:off x="868680" y="256032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specific shape</a:t>
            </a:r>
          </a:p>
        </p:txBody>
      </p:sp>
      <p:sp>
        <p:nvSpPr>
          <p:cNvPr id="108" name="Text 108"/>
          <p:cNvSpPr/>
          <p:nvPr/>
        </p:nvSpPr>
        <p:spPr>
          <a:xfrm>
            <a:off x="868680" y="3154680"/>
            <a:ext cx="461772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talked about logarithmic growth rates for functions like </a:t>
            </a:r>
            <a:r>
              <a:rPr lang="en-US" sz="1400" err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count_halving</a:t>
            </a: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gave us exactly one growth curve: log₂n.</a:t>
            </a:r>
          </a:p>
        </p:txBody>
      </p:sp>
      <p:sp>
        <p:nvSpPr>
          <p:cNvPr id="109" name="Shape 109"/>
          <p:cNvSpPr/>
          <p:nvPr/>
        </p:nvSpPr>
        <p:spPr>
          <a:xfrm>
            <a:off x="868680" y="448044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10"/>
          <p:cNvSpPr/>
          <p:nvPr/>
        </p:nvSpPr>
        <p:spPr>
          <a:xfrm>
            <a:off x="868680" y="461772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— but only for this one pattern of recursion. </a:t>
            </a:r>
          </a:p>
        </p:txBody>
      </p:sp>
      <p:sp>
        <p:nvSpPr>
          <p:cNvPr id="111" name="Shape 111"/>
          <p:cNvSpPr/>
          <p:nvPr/>
        </p:nvSpPr>
        <p:spPr>
          <a:xfrm>
            <a:off x="6355080" y="18745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D6DC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2"/>
          <p:cNvSpPr/>
          <p:nvPr/>
        </p:nvSpPr>
        <p:spPr>
          <a:xfrm>
            <a:off x="6675120" y="21488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ANY SHAPE</a:t>
            </a:r>
          </a:p>
        </p:txBody>
      </p:sp>
      <p:sp>
        <p:nvSpPr>
          <p:cNvPr id="113" name="Text 113"/>
          <p:cNvSpPr/>
          <p:nvPr/>
        </p:nvSpPr>
        <p:spPr>
          <a:xfrm>
            <a:off x="6675120" y="256032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Ω, Θ of f(n)</a:t>
            </a:r>
          </a:p>
        </p:txBody>
      </p:sp>
      <p:sp>
        <p:nvSpPr>
          <p:cNvPr id="114" name="Text 114"/>
          <p:cNvSpPr/>
          <p:nvPr/>
        </p:nvSpPr>
        <p:spPr>
          <a:xfrm>
            <a:off x="6675120" y="3154680"/>
            <a:ext cx="461772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notation describes the growth of ANY function — while ignoring constants and lower-order terms that stop mattering at scale.</a:t>
            </a:r>
          </a:p>
        </p:txBody>
      </p:sp>
      <p:sp>
        <p:nvSpPr>
          <p:cNvPr id="115" name="Shape 115"/>
          <p:cNvSpPr/>
          <p:nvPr/>
        </p:nvSpPr>
        <p:spPr>
          <a:xfrm>
            <a:off x="6675120" y="448044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6"/>
          <p:cNvSpPr/>
          <p:nvPr/>
        </p:nvSpPr>
        <p:spPr>
          <a:xfrm>
            <a:off x="6675120" y="461772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rigor Roughgarden's textbook uses for every algorithm we study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20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</a:p>
        </p:txBody>
      </p:sp>
      <p:sp>
        <p:nvSpPr>
          <p:cNvPr id="202" name="Text 20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44546A"/>
                </a:solidFill>
                <a:latin typeface="Calibri Light" pitchFamily="34" charset="0"/>
                <a:ea typeface="Cambria" pitchFamily="34" charset="-122"/>
                <a:cs typeface="Cambria" pitchFamily="34" charset="-120"/>
              </a:rPr>
              <a:t>We only care about growth once n gets large</a:t>
            </a:r>
          </a:p>
        </p:txBody>
      </p:sp>
      <p:sp>
        <p:nvSpPr>
          <p:cNvPr id="203" name="Text 20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 &amp; Big-O  ·  Sep 14</a:t>
            </a:r>
          </a:p>
        </p:txBody>
      </p:sp>
      <p:sp>
        <p:nvSpPr>
          <p:cNvPr id="204" name="Text 204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05" name="Shape 205"/>
          <p:cNvSpPr/>
          <p:nvPr/>
        </p:nvSpPr>
        <p:spPr>
          <a:xfrm>
            <a:off x="548640" y="18745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1B103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6" name="Text 206"/>
          <p:cNvSpPr/>
          <p:nvPr/>
        </p:nvSpPr>
        <p:spPr>
          <a:xfrm>
            <a:off x="868680" y="21488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DON'T MATTER AT SCALE</a:t>
            </a:r>
          </a:p>
        </p:txBody>
      </p:sp>
      <p:sp>
        <p:nvSpPr>
          <p:cNvPr id="207" name="Text 207"/>
          <p:cNvSpPr/>
          <p:nvPr/>
        </p:nvSpPr>
        <p:spPr>
          <a:xfrm>
            <a:off x="868680" y="26060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10</a:t>
            </a:r>
          </a:p>
        </p:txBody>
      </p:sp>
      <p:sp>
        <p:nvSpPr>
          <p:cNvPr id="208" name="Text 208"/>
          <p:cNvSpPr/>
          <p:nvPr/>
        </p:nvSpPr>
        <p:spPr>
          <a:xfrm>
            <a:off x="2148840" y="26060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100n = 1,000</a:t>
            </a:r>
          </a:p>
        </p:txBody>
      </p:sp>
      <p:sp>
        <p:nvSpPr>
          <p:cNvPr id="209" name="Text 209"/>
          <p:cNvSpPr/>
          <p:nvPr/>
        </p:nvSpPr>
        <p:spPr>
          <a:xfrm>
            <a:off x="3840480" y="26060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n² = 100</a:t>
            </a:r>
          </a:p>
        </p:txBody>
      </p:sp>
      <p:sp>
        <p:nvSpPr>
          <p:cNvPr id="210" name="Text 210"/>
          <p:cNvSpPr/>
          <p:nvPr/>
        </p:nvSpPr>
        <p:spPr>
          <a:xfrm>
            <a:off x="868680" y="301752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100</a:t>
            </a:r>
          </a:p>
        </p:txBody>
      </p:sp>
      <p:sp>
        <p:nvSpPr>
          <p:cNvPr id="211" name="Text 211"/>
          <p:cNvSpPr/>
          <p:nvPr/>
        </p:nvSpPr>
        <p:spPr>
          <a:xfrm>
            <a:off x="2148840" y="301752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100n = 10,000</a:t>
            </a:r>
          </a:p>
        </p:txBody>
      </p:sp>
      <p:sp>
        <p:nvSpPr>
          <p:cNvPr id="212" name="Text 212"/>
          <p:cNvSpPr/>
          <p:nvPr/>
        </p:nvSpPr>
        <p:spPr>
          <a:xfrm>
            <a:off x="3840480" y="3017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n² = 10,000</a:t>
            </a:r>
          </a:p>
        </p:txBody>
      </p:sp>
      <p:sp>
        <p:nvSpPr>
          <p:cNvPr id="213" name="Text 213"/>
          <p:cNvSpPr/>
          <p:nvPr/>
        </p:nvSpPr>
        <p:spPr>
          <a:xfrm>
            <a:off x="868680" y="342900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1,000</a:t>
            </a:r>
          </a:p>
        </p:txBody>
      </p:sp>
      <p:sp>
        <p:nvSpPr>
          <p:cNvPr id="214" name="Text 214"/>
          <p:cNvSpPr/>
          <p:nvPr/>
        </p:nvSpPr>
        <p:spPr>
          <a:xfrm>
            <a:off x="2148840" y="342900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100n = 100,000</a:t>
            </a:r>
          </a:p>
        </p:txBody>
      </p:sp>
      <p:sp>
        <p:nvSpPr>
          <p:cNvPr id="215" name="Text 215"/>
          <p:cNvSpPr/>
          <p:nvPr/>
        </p:nvSpPr>
        <p:spPr>
          <a:xfrm>
            <a:off x="3840480" y="34290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n² = 1,000,000</a:t>
            </a:r>
          </a:p>
        </p:txBody>
      </p:sp>
      <p:sp>
        <p:nvSpPr>
          <p:cNvPr id="216" name="Shape 216"/>
          <p:cNvSpPr/>
          <p:nvPr/>
        </p:nvSpPr>
        <p:spPr>
          <a:xfrm>
            <a:off x="868680" y="393192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Text 217"/>
          <p:cNvSpPr/>
          <p:nvPr/>
        </p:nvSpPr>
        <p:spPr>
          <a:xfrm>
            <a:off x="868680" y="406908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how big the constant in front of n, n² always overtakes it eventually.</a:t>
            </a:r>
          </a:p>
        </p:txBody>
      </p:sp>
      <p:sp>
        <p:nvSpPr>
          <p:cNvPr id="218" name="Shape 218"/>
          <p:cNvSpPr/>
          <p:nvPr/>
        </p:nvSpPr>
        <p:spPr>
          <a:xfrm>
            <a:off x="6355080" y="18745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D6DC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9" name="Text 219"/>
          <p:cNvSpPr/>
          <p:nvPr/>
        </p:nvSpPr>
        <p:spPr>
          <a:xfrm>
            <a:off x="6675120" y="21488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DEFINITION: BIG-O</a:t>
            </a:r>
          </a:p>
        </p:txBody>
      </p:sp>
      <p:sp>
        <p:nvSpPr>
          <p:cNvPr id="220" name="Text 220"/>
          <p:cNvSpPr/>
          <p:nvPr/>
        </p:nvSpPr>
        <p:spPr>
          <a:xfrm>
            <a:off x="6675120" y="256032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O(f(n))</a:t>
            </a:r>
          </a:p>
        </p:txBody>
      </p:sp>
      <p:sp>
        <p:nvSpPr>
          <p:cNvPr id="221" name="Text 221"/>
          <p:cNvSpPr/>
          <p:nvPr/>
        </p:nvSpPr>
        <p:spPr>
          <a:xfrm>
            <a:off x="6675120" y="3108960"/>
            <a:ext cx="461772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∃ constants c &gt; 0 and n₀ such that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≤ T(n) ≤ </a:t>
            </a:r>
            <a:r>
              <a:rPr lang="en-US" sz="1400" b="1" dirty="0" err="1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c·f</a:t>
            </a:r>
            <a:r>
              <a:rPr lang="en-US" sz="14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   for all n ≥ n₀</a:t>
            </a:r>
          </a:p>
        </p:txBody>
      </p:sp>
      <p:sp>
        <p:nvSpPr>
          <p:cNvPr id="222" name="Shape 222"/>
          <p:cNvSpPr/>
          <p:nvPr/>
        </p:nvSpPr>
        <p:spPr>
          <a:xfrm>
            <a:off x="6675120" y="420624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Text 223"/>
          <p:cNvSpPr/>
          <p:nvPr/>
        </p:nvSpPr>
        <p:spPr>
          <a:xfrm>
            <a:off x="6675120" y="4343400"/>
            <a:ext cx="4617720" cy="10972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English: f(n) is an upper bound on T(n) once n is large enough — and we may stretch f(n) by any constant 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 30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MORE SHAPES</a:t>
            </a:r>
          </a:p>
        </p:txBody>
      </p:sp>
      <p:sp>
        <p:nvSpPr>
          <p:cNvPr id="302" name="Text 30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44546A"/>
                </a:solidFill>
                <a:latin typeface="Calibri Light" pitchFamily="34" charset="0"/>
                <a:ea typeface="Cambria" pitchFamily="34" charset="-122"/>
                <a:cs typeface="Cambria" pitchFamily="34" charset="-120"/>
              </a:rPr>
              <a:t>One-sided bounds vs. the tight bound</a:t>
            </a:r>
          </a:p>
        </p:txBody>
      </p:sp>
      <p:sp>
        <p:nvSpPr>
          <p:cNvPr id="303" name="Text 30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 &amp; Big-O  ·  Sep 14</a:t>
            </a:r>
          </a:p>
        </p:txBody>
      </p:sp>
      <p:sp>
        <p:nvSpPr>
          <p:cNvPr id="304" name="Text 304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305" name="Shape 305"/>
          <p:cNvSpPr/>
          <p:nvPr/>
        </p:nvSpPr>
        <p:spPr>
          <a:xfrm>
            <a:off x="548640" y="18745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1B103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6" name="Text 306"/>
          <p:cNvSpPr/>
          <p:nvPr/>
        </p:nvSpPr>
        <p:spPr>
          <a:xfrm>
            <a:off x="868680" y="21488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BIG-Ω (OMEGA) — LOWER BOUND</a:t>
            </a:r>
          </a:p>
        </p:txBody>
      </p:sp>
      <p:sp>
        <p:nvSpPr>
          <p:cNvPr id="307" name="Text 307"/>
          <p:cNvSpPr/>
          <p:nvPr/>
        </p:nvSpPr>
        <p:spPr>
          <a:xfrm>
            <a:off x="868680" y="256032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</a:t>
            </a:r>
            <a:r>
              <a:rPr lang="en-US" sz="1600" b="1" dirty="0" err="1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</a:t>
            </a:r>
            <a:r>
              <a:rPr lang="en-US" sz="1600" b="1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(f(n))</a:t>
            </a:r>
          </a:p>
        </p:txBody>
      </p:sp>
      <p:sp>
        <p:nvSpPr>
          <p:cNvPr id="308" name="Text 308"/>
          <p:cNvSpPr/>
          <p:nvPr/>
        </p:nvSpPr>
        <p:spPr>
          <a:xfrm>
            <a:off x="868680" y="310896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∃ c &gt; 0, n₀ such that T(n) ≥ </a:t>
            </a:r>
            <a:r>
              <a:rPr lang="en-US" sz="1300" dirty="0" err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c·f</a:t>
            </a: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(n) for all n ≥ n₀</a:t>
            </a:r>
          </a:p>
        </p:txBody>
      </p:sp>
      <p:sp>
        <p:nvSpPr>
          <p:cNvPr id="309" name="Shape 309"/>
          <p:cNvSpPr/>
          <p:nvPr/>
        </p:nvSpPr>
        <p:spPr>
          <a:xfrm>
            <a:off x="868680" y="397764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Text 310"/>
          <p:cNvSpPr/>
          <p:nvPr/>
        </p:nvSpPr>
        <p:spPr>
          <a:xfrm>
            <a:off x="868680" y="411480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is a floor — T(n) never dips below it (up to a constant), eventually.</a:t>
            </a:r>
          </a:p>
        </p:txBody>
      </p:sp>
      <p:sp>
        <p:nvSpPr>
          <p:cNvPr id="311" name="Text 311"/>
          <p:cNvSpPr/>
          <p:nvPr/>
        </p:nvSpPr>
        <p:spPr>
          <a:xfrm>
            <a:off x="868680" y="493776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an algorithm can’t be faster than this, ever.</a:t>
            </a:r>
          </a:p>
        </p:txBody>
      </p:sp>
      <p:sp>
        <p:nvSpPr>
          <p:cNvPr id="312" name="Shape 312"/>
          <p:cNvSpPr/>
          <p:nvPr/>
        </p:nvSpPr>
        <p:spPr>
          <a:xfrm>
            <a:off x="6355080" y="18745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D6DC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3" name="Text 313"/>
          <p:cNvSpPr/>
          <p:nvPr/>
        </p:nvSpPr>
        <p:spPr>
          <a:xfrm>
            <a:off x="6675120" y="21488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BIG-Θ (THETA) — TIGHT BOUND</a:t>
            </a:r>
          </a:p>
        </p:txBody>
      </p:sp>
      <p:sp>
        <p:nvSpPr>
          <p:cNvPr id="314" name="Text 314"/>
          <p:cNvSpPr/>
          <p:nvPr/>
        </p:nvSpPr>
        <p:spPr>
          <a:xfrm>
            <a:off x="6675120" y="256032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</a:t>
            </a:r>
            <a:r>
              <a:rPr lang="en-US" sz="1600" b="1" dirty="0" err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</a:t>
            </a:r>
            <a:r>
              <a:rPr lang="en-US" sz="160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(f(n))</a:t>
            </a:r>
          </a:p>
        </p:txBody>
      </p:sp>
      <p:sp>
        <p:nvSpPr>
          <p:cNvPr id="315" name="Text 315"/>
          <p:cNvSpPr/>
          <p:nvPr/>
        </p:nvSpPr>
        <p:spPr>
          <a:xfrm>
            <a:off x="6675120" y="310896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O(f(n))  AND  T(n) = </a:t>
            </a:r>
            <a:r>
              <a:rPr lang="en-US" sz="1300" dirty="0" err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</a:t>
            </a:r>
            <a:r>
              <a:rPr lang="en-US" sz="130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(f(n))</a:t>
            </a:r>
          </a:p>
        </p:txBody>
      </p:sp>
      <p:sp>
        <p:nvSpPr>
          <p:cNvPr id="316" name="Shape 316"/>
          <p:cNvSpPr/>
          <p:nvPr/>
        </p:nvSpPr>
        <p:spPr>
          <a:xfrm>
            <a:off x="6675120" y="397764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Text 317"/>
          <p:cNvSpPr/>
          <p:nvPr/>
        </p:nvSpPr>
        <p:spPr>
          <a:xfrm>
            <a:off x="6675120" y="411480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sandwiches T(n) from both sides — the true growth rate, not just a bound.</a:t>
            </a:r>
          </a:p>
        </p:txBody>
      </p:sp>
      <p:sp>
        <p:nvSpPr>
          <p:cNvPr id="318" name="Text 318"/>
          <p:cNvSpPr/>
          <p:nvPr/>
        </p:nvSpPr>
        <p:spPr>
          <a:xfrm>
            <a:off x="6675120" y="493776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is the strongest, most informative statement we can make.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91FF220-D3E0-1D98-8711-ABC328881012}"/>
              </a:ext>
            </a:extLst>
          </p:cNvPr>
          <p:cNvSpPr txBox="1">
            <a:spLocks/>
          </p:cNvSpPr>
          <p:nvPr/>
        </p:nvSpPr>
        <p:spPr>
          <a:xfrm>
            <a:off x="628649" y="1825625"/>
            <a:ext cx="10811741" cy="4351338"/>
          </a:xfrm>
          <a:prstGeom prst="rect">
            <a:avLst/>
          </a:prstGeom>
          <a:ln>
            <a:noFill/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333F50"/>
                </a:solidFill>
                <a:latin typeface="Calibri"/>
              </a:rPr>
              <a:t>To prove T(n) = O(f(n)), you have to come up with constants c &gt; 0 and n</a:t>
            </a:r>
            <a:r>
              <a:rPr lang="en-US" sz="2400" baseline="-25000" dirty="0">
                <a:solidFill>
                  <a:srgbClr val="333F50"/>
                </a:solidFill>
                <a:latin typeface="Calibri"/>
              </a:rPr>
              <a:t>0 </a:t>
            </a:r>
            <a:r>
              <a:rPr lang="en-US" sz="2400" dirty="0">
                <a:solidFill>
                  <a:srgbClr val="333F50"/>
                </a:solidFill>
                <a:latin typeface="Calibri"/>
              </a:rPr>
              <a:t>so that the definition is satisfied.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333F50"/>
                </a:solidFill>
                <a:latin typeface="Calibri"/>
              </a:rPr>
              <a:t>To prove T(n) is </a:t>
            </a:r>
            <a:r>
              <a:rPr lang="en-US" sz="2400" dirty="0">
                <a:solidFill>
                  <a:schemeClr val="accent5"/>
                </a:solidFill>
                <a:latin typeface="Calibri"/>
              </a:rPr>
              <a:t>NOT</a:t>
            </a:r>
            <a:r>
              <a:rPr lang="en-US" sz="2400" dirty="0">
                <a:solidFill>
                  <a:srgbClr val="333F50"/>
                </a:solidFill>
                <a:latin typeface="Calibri"/>
              </a:rPr>
              <a:t> O(f(n)), one way is by contradiction:</a:t>
            </a:r>
          </a:p>
          <a:p>
            <a:pPr lvl="1"/>
            <a:r>
              <a:rPr lang="en-US" sz="2400" dirty="0">
                <a:solidFill>
                  <a:schemeClr val="accent2"/>
                </a:solidFill>
                <a:latin typeface="Calibri"/>
              </a:rPr>
              <a:t>Suppose that someone gives you constants c and n</a:t>
            </a:r>
            <a:r>
              <a:rPr lang="en-US" sz="2400" baseline="-25000" dirty="0">
                <a:solidFill>
                  <a:schemeClr val="accent2"/>
                </a:solidFill>
                <a:latin typeface="Calibri"/>
              </a:rPr>
              <a:t>0</a:t>
            </a:r>
            <a:r>
              <a:rPr lang="en-US" sz="2400" dirty="0">
                <a:solidFill>
                  <a:schemeClr val="accent2"/>
                </a:solidFill>
                <a:latin typeface="Calibri"/>
              </a:rPr>
              <a:t> so that the definition is satisfied.</a:t>
            </a:r>
          </a:p>
          <a:p>
            <a:pPr lvl="1"/>
            <a:r>
              <a:rPr lang="en-US" sz="2400" dirty="0">
                <a:solidFill>
                  <a:schemeClr val="accent2"/>
                </a:solidFill>
                <a:latin typeface="Calibri"/>
              </a:rPr>
              <a:t>Show that this someone must be wrong, by deriving a contradiction.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CA598-41EA-6157-9AD0-4DB402E139D2}"/>
              </a:ext>
            </a:extLst>
          </p:cNvPr>
          <p:cNvSpPr txBox="1"/>
          <p:nvPr/>
        </p:nvSpPr>
        <p:spPr>
          <a:xfrm>
            <a:off x="453302" y="681037"/>
            <a:ext cx="1106424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>
            <a:lvl1pPr indent="0">
              <a:buNone/>
              <a:defRPr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sz="2000" dirty="0"/>
              <a:t>Key Take-aways </a:t>
            </a:r>
          </a:p>
        </p:txBody>
      </p:sp>
      <p:sp>
        <p:nvSpPr>
          <p:cNvPr id="5" name="Footer 5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 &amp; Big-O  ·  Sep 14</a:t>
            </a:r>
          </a:p>
        </p:txBody>
      </p:sp>
      <p:sp>
        <p:nvSpPr>
          <p:cNvPr id="6" name="Slide Number 6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1011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9596-5070-003F-A2DC-2A65B4047BF2}"/>
              </a:ext>
            </a:extLst>
          </p:cNvPr>
          <p:cNvSpPr txBox="1">
            <a:spLocks/>
          </p:cNvSpPr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>
            <a:lvl1pPr indent="0">
              <a:buNone/>
              <a:defRPr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sz="2400" dirty="0" err="1"/>
              <a:t>Ω</a:t>
            </a:r>
            <a:r>
              <a:rPr lang="en-US" sz="2400" dirty="0"/>
              <a:t>(</a:t>
            </a:r>
            <a:r>
              <a:rPr lang="mr-IN" sz="2400" dirty="0"/>
              <a:t>…</a:t>
            </a:r>
            <a:r>
              <a:rPr lang="en-US" sz="2400" dirty="0"/>
              <a:t>) means a lower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EEAFCC-7202-7DF6-948A-558BB83E5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49" y="1825625"/>
                <a:ext cx="9970077" cy="4351338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solidFill>
                      <a:srgbClr val="333F50"/>
                    </a:solidFill>
                    <a:latin typeface="Calibri"/>
                  </a:rPr>
                  <a:t>We say </a:t>
                </a:r>
                <a:r>
                  <a:rPr lang="en-US" sz="2400" dirty="0">
                    <a:solidFill>
                      <a:schemeClr val="accent1"/>
                    </a:solidFill>
                    <a:latin typeface="Calibri"/>
                  </a:rPr>
                  <a:t>“T(n) is </a:t>
                </a:r>
                <a:r>
                  <a:rPr lang="en-US" sz="2400" dirty="0" err="1">
                    <a:solidFill>
                      <a:schemeClr val="accent1"/>
                    </a:solidFill>
                    <a:latin typeface="Calibri"/>
                  </a:rPr>
                  <a:t>Ω</a:t>
                </a:r>
                <a:r>
                  <a:rPr lang="en-US" sz="2400" dirty="0">
                    <a:solidFill>
                      <a:schemeClr val="accent1"/>
                    </a:solidFill>
                    <a:latin typeface="Calibri"/>
                  </a:rPr>
                  <a:t>(f(n))” </a:t>
                </a:r>
                <a:r>
                  <a:rPr lang="en-US" sz="2400" dirty="0">
                    <a:solidFill>
                      <a:srgbClr val="333F50"/>
                    </a:solidFill>
                    <a:latin typeface="Calibri"/>
                  </a:rPr>
                  <a:t>if f(n) grows at most as fast as T(n) as n gets large.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rgbClr val="333F50"/>
                    </a:solidFill>
                    <a:latin typeface="Calibri"/>
                  </a:rPr>
                  <a:t>Formally,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sz="2400" i="1" smtClean="0">
                          <a:latin typeface="Cambria Math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i="0" dirty="0" smtClean="0">
                          <a:solidFill>
                            <a:schemeClr val="tx1"/>
                          </a:solidFill>
                        </a:rPr>
                        <m:t>Ω</m:t>
                      </m:r>
                      <m:d>
                        <m:d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latin typeface="Cambria Math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400" i="1" smtClean="0">
                          <a:latin typeface="Cambria Math" charset="0"/>
                        </a:rPr>
                        <m:t> </m:t>
                      </m:r>
                    </m:oMath>
                  </m:oMathPara>
                </a14:m>
                <a:endParaRPr lang="en-US" sz="2400" i="1" dirty="0">
                  <a:latin typeface="Cambria Math" charset="0"/>
                </a:endParaRPr>
              </a:p>
              <a:p>
                <a:pPr marL="0" indent="0" algn="ctr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⟺</m:t>
                      </m:r>
                    </m:oMath>
                  </m:oMathPara>
                </a14:m>
                <a:endParaRPr lang="en-US" sz="24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 algn="ctr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∃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𝑐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 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&gt;0  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𝑠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   ∀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𝑛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 </m:t>
                      </m:r>
                    </m:oMath>
                  </m:oMathPara>
                </a14:m>
                <a:endParaRPr lang="en-US" sz="24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 algn="ctr">
                  <a:buFont typeface="Arial" pitchFamily="34" charset="0"/>
                  <a:buNone/>
                </a:pPr>
                <a:endParaRPr lang="en-US" sz="240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 algn="ctr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0≤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𝑐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𝑓</m:t>
                      </m:r>
                      <m:d>
                        <m:dPr>
                          <m:ctrlPr>
                            <a:rPr lang="en-US" sz="24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EEAFCC-7202-7DF6-948A-558BB83E5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825625"/>
                <a:ext cx="9970077" cy="4351338"/>
              </a:xfrm>
              <a:prstGeom prst="rect">
                <a:avLst/>
              </a:prstGeom>
              <a:blipFill>
                <a:blip r:embed="rId3"/>
                <a:stretch>
                  <a:fillRect l="-763" t="-11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F0B9744-CFC1-7148-A416-BCB0002AC14D}"/>
              </a:ext>
            </a:extLst>
          </p:cNvPr>
          <p:cNvSpPr txBox="1"/>
          <p:nvPr/>
        </p:nvSpPr>
        <p:spPr>
          <a:xfrm>
            <a:off x="5152138" y="5514533"/>
            <a:ext cx="235176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55A11"/>
                </a:solidFill>
                <a:latin typeface="Calibri"/>
              </a:rPr>
              <a:t>Switched these!!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B11454-429F-5866-EFF8-51CC9062B65B}"/>
              </a:ext>
            </a:extLst>
          </p:cNvPr>
          <p:cNvCxnSpPr>
            <a:cxnSpLocks/>
          </p:cNvCxnSpPr>
          <p:nvPr/>
        </p:nvCxnSpPr>
        <p:spPr>
          <a:xfrm flipV="1">
            <a:off x="6366083" y="5170811"/>
            <a:ext cx="220717" cy="343722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BB1CB9-E983-05C9-E552-FB7930F71087}"/>
              </a:ext>
            </a:extLst>
          </p:cNvPr>
          <p:cNvCxnSpPr>
            <a:cxnSpLocks/>
          </p:cNvCxnSpPr>
          <p:nvPr/>
        </p:nvCxnSpPr>
        <p:spPr>
          <a:xfrm flipH="1" flipV="1">
            <a:off x="5420152" y="5170811"/>
            <a:ext cx="228600" cy="343722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7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 &amp; Big-O  ·  Sep 14</a:t>
            </a:r>
          </a:p>
        </p:txBody>
      </p:sp>
      <p:sp>
        <p:nvSpPr>
          <p:cNvPr id="8" name="Slide Number 8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3510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7032-3036-10C9-ECBC-4F4ADAC1DBEC}"/>
              </a:ext>
            </a:extLst>
          </p:cNvPr>
          <p:cNvSpPr txBox="1">
            <a:spLocks/>
          </p:cNvSpPr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>
            <a:lvl1pPr indent="0">
              <a:buNone/>
              <a:defRPr sz="24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/>
              <a:t>Θ(</a:t>
            </a:r>
            <a:r>
              <a:rPr lang="mr-IN"/>
              <a:t>…</a:t>
            </a:r>
            <a:r>
              <a:rPr lang="en-US"/>
              <a:t>) means both!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4307B-D29B-2FDE-733E-B2A6C28CD42B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7886700" cy="435133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333F50"/>
                </a:solidFill>
                <a:latin typeface="Calibri"/>
              </a:rPr>
              <a:t>We say </a:t>
            </a:r>
            <a:r>
              <a:rPr lang="en-US" sz="2800" dirty="0">
                <a:solidFill>
                  <a:schemeClr val="accent1"/>
                </a:solidFill>
                <a:latin typeface="Calibri"/>
              </a:rPr>
              <a:t>“T(n) is </a:t>
            </a:r>
            <a:r>
              <a:rPr lang="en-US" sz="2800" dirty="0" err="1">
                <a:solidFill>
                  <a:schemeClr val="accent1"/>
                </a:solidFill>
                <a:latin typeface="Calibri"/>
              </a:rPr>
              <a:t>Θ</a:t>
            </a:r>
            <a:r>
              <a:rPr lang="en-US" sz="2800" dirty="0">
                <a:solidFill>
                  <a:schemeClr val="accent1"/>
                </a:solidFill>
                <a:latin typeface="Calibri"/>
              </a:rPr>
              <a:t>(f(n))” </a:t>
            </a:r>
            <a:r>
              <a:rPr lang="en-US" sz="2800" dirty="0">
                <a:solidFill>
                  <a:srgbClr val="333F50"/>
                </a:solidFill>
                <a:latin typeface="Calibri"/>
              </a:rPr>
              <a:t>if:</a:t>
            </a:r>
          </a:p>
          <a:p>
            <a:endParaRPr lang="en-US" sz="2800" dirty="0"/>
          </a:p>
          <a:p>
            <a:pPr marL="457200" lvl="1" indent="0" algn="ctr">
              <a:buFont typeface="Arial" pitchFamily="34" charset="0"/>
              <a:buNone/>
            </a:pPr>
            <a:r>
              <a:rPr lang="en-US" dirty="0">
                <a:solidFill>
                  <a:srgbClr val="333F50"/>
                </a:solidFill>
                <a:latin typeface="Calibri"/>
              </a:rPr>
              <a:t>T(n) = O(f(n))</a:t>
            </a:r>
          </a:p>
          <a:p>
            <a:pPr marL="457200" lvl="1" indent="0" algn="ctr">
              <a:buFont typeface="Arial" pitchFamily="34" charset="0"/>
              <a:buNone/>
            </a:pPr>
            <a:r>
              <a:rPr lang="en-US" i="1" dirty="0">
                <a:solidFill>
                  <a:schemeClr val="accent2"/>
                </a:solidFill>
                <a:latin typeface="Calibri"/>
              </a:rPr>
              <a:t>-AND-</a:t>
            </a:r>
          </a:p>
          <a:p>
            <a:pPr marL="457200" lvl="1" indent="0" algn="ctr">
              <a:buFont typeface="Arial" pitchFamily="34" charset="0"/>
              <a:buNone/>
            </a:pPr>
            <a:r>
              <a:rPr lang="en-US" dirty="0">
                <a:solidFill>
                  <a:srgbClr val="333F50"/>
                </a:solidFill>
                <a:latin typeface="Calibri"/>
              </a:rPr>
              <a:t>T(n) = </a:t>
            </a:r>
            <a:r>
              <a:rPr lang="en-US" dirty="0" err="1">
                <a:solidFill>
                  <a:srgbClr val="333F50"/>
                </a:solidFill>
                <a:latin typeface="Calibri"/>
              </a:rPr>
              <a:t>Ω</a:t>
            </a:r>
            <a:r>
              <a:rPr lang="en-US" dirty="0">
                <a:solidFill>
                  <a:srgbClr val="333F50"/>
                </a:solidFill>
                <a:latin typeface="Calibri"/>
              </a:rPr>
              <a:t>(f(n))</a:t>
            </a:r>
          </a:p>
          <a:p>
            <a:endParaRPr lang="en-US" sz="2800" dirty="0"/>
          </a:p>
        </p:txBody>
      </p:sp>
      <p:sp>
        <p:nvSpPr>
          <p:cNvPr id="4" name="Footer 4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 &amp; Big-O  ·  Sep 14</a:t>
            </a:r>
          </a:p>
        </p:txBody>
      </p:sp>
      <p:sp>
        <p:nvSpPr>
          <p:cNvPr id="5" name="Slide Number 5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80320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 40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</a:p>
        </p:txBody>
      </p:sp>
      <p:sp>
        <p:nvSpPr>
          <p:cNvPr id="402" name="Text 40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44546A"/>
                </a:solidFill>
                <a:latin typeface="Calibri Light" pitchFamily="34" charset="0"/>
                <a:ea typeface="Cambria" pitchFamily="34" charset="-122"/>
                <a:cs typeface="Cambria" pitchFamily="34" charset="-120"/>
              </a:rPr>
              <a:t>Proving 5n² + 3n + 2 = O(n²)</a:t>
            </a:r>
          </a:p>
        </p:txBody>
      </p:sp>
      <p:sp>
        <p:nvSpPr>
          <p:cNvPr id="403" name="Text 40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 &amp; Big-O  ·  Sep 14</a:t>
            </a:r>
          </a:p>
        </p:txBody>
      </p:sp>
      <p:sp>
        <p:nvSpPr>
          <p:cNvPr id="404" name="Text 404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  <p:sp>
        <p:nvSpPr>
          <p:cNvPr id="405" name="Shape 405"/>
          <p:cNvSpPr/>
          <p:nvPr/>
        </p:nvSpPr>
        <p:spPr>
          <a:xfrm>
            <a:off x="548640" y="18745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1B103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6" name="Text 406"/>
          <p:cNvSpPr/>
          <p:nvPr/>
        </p:nvSpPr>
        <p:spPr>
          <a:xfrm>
            <a:off x="868680" y="21488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IT NUMERICALLY  (c = 10)</a:t>
            </a:r>
          </a:p>
        </p:txBody>
      </p:sp>
      <p:sp>
        <p:nvSpPr>
          <p:cNvPr id="407" name="Text 407"/>
          <p:cNvSpPr/>
          <p:nvPr/>
        </p:nvSpPr>
        <p:spPr>
          <a:xfrm>
            <a:off x="868680" y="2606040"/>
            <a:ext cx="1462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</a:p>
        </p:txBody>
      </p:sp>
      <p:sp>
        <p:nvSpPr>
          <p:cNvPr id="408" name="Text 408"/>
          <p:cNvSpPr/>
          <p:nvPr/>
        </p:nvSpPr>
        <p:spPr>
          <a:xfrm>
            <a:off x="2377440" y="2606040"/>
            <a:ext cx="1462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5n²+3n+2</a:t>
            </a:r>
          </a:p>
        </p:txBody>
      </p:sp>
      <p:sp>
        <p:nvSpPr>
          <p:cNvPr id="409" name="Text 409"/>
          <p:cNvSpPr/>
          <p:nvPr/>
        </p:nvSpPr>
        <p:spPr>
          <a:xfrm>
            <a:off x="3840480" y="26060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10n²</a:t>
            </a:r>
          </a:p>
        </p:txBody>
      </p:sp>
      <p:sp>
        <p:nvSpPr>
          <p:cNvPr id="410" name="Shape 410"/>
          <p:cNvSpPr/>
          <p:nvPr/>
        </p:nvSpPr>
        <p:spPr>
          <a:xfrm>
            <a:off x="868680" y="297180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Text 411"/>
          <p:cNvSpPr/>
          <p:nvPr/>
        </p:nvSpPr>
        <p:spPr>
          <a:xfrm>
            <a:off x="868680" y="3063240"/>
            <a:ext cx="1462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</a:p>
        </p:txBody>
      </p:sp>
      <p:sp>
        <p:nvSpPr>
          <p:cNvPr id="412" name="Text 412"/>
          <p:cNvSpPr/>
          <p:nvPr/>
        </p:nvSpPr>
        <p:spPr>
          <a:xfrm>
            <a:off x="2377440" y="3063240"/>
            <a:ext cx="1462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</a:p>
        </p:txBody>
      </p:sp>
      <p:sp>
        <p:nvSpPr>
          <p:cNvPr id="413" name="Text 413"/>
          <p:cNvSpPr/>
          <p:nvPr/>
        </p:nvSpPr>
        <p:spPr>
          <a:xfrm>
            <a:off x="3840480" y="30632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</a:p>
        </p:txBody>
      </p:sp>
      <p:sp>
        <p:nvSpPr>
          <p:cNvPr id="414" name="Text 414"/>
          <p:cNvSpPr/>
          <p:nvPr/>
        </p:nvSpPr>
        <p:spPr>
          <a:xfrm>
            <a:off x="868680" y="3429000"/>
            <a:ext cx="1462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</a:p>
        </p:txBody>
      </p:sp>
      <p:sp>
        <p:nvSpPr>
          <p:cNvPr id="415" name="Text 415"/>
          <p:cNvSpPr/>
          <p:nvPr/>
        </p:nvSpPr>
        <p:spPr>
          <a:xfrm>
            <a:off x="2377440" y="3429000"/>
            <a:ext cx="1462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</a:p>
        </p:txBody>
      </p:sp>
      <p:sp>
        <p:nvSpPr>
          <p:cNvPr id="416" name="Text 416"/>
          <p:cNvSpPr/>
          <p:nvPr/>
        </p:nvSpPr>
        <p:spPr>
          <a:xfrm>
            <a:off x="3840480" y="34290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</a:p>
        </p:txBody>
      </p:sp>
      <p:sp>
        <p:nvSpPr>
          <p:cNvPr id="417" name="Text 417"/>
          <p:cNvSpPr/>
          <p:nvPr/>
        </p:nvSpPr>
        <p:spPr>
          <a:xfrm>
            <a:off x="868680" y="3794760"/>
            <a:ext cx="1462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</a:p>
        </p:txBody>
      </p:sp>
      <p:sp>
        <p:nvSpPr>
          <p:cNvPr id="418" name="Text 418"/>
          <p:cNvSpPr/>
          <p:nvPr/>
        </p:nvSpPr>
        <p:spPr>
          <a:xfrm>
            <a:off x="2377440" y="3794760"/>
            <a:ext cx="1462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</a:t>
            </a:r>
          </a:p>
        </p:txBody>
      </p:sp>
      <p:sp>
        <p:nvSpPr>
          <p:cNvPr id="419" name="Text 419"/>
          <p:cNvSpPr/>
          <p:nvPr/>
        </p:nvSpPr>
        <p:spPr>
          <a:xfrm>
            <a:off x="3840480" y="37947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</a:p>
        </p:txBody>
      </p:sp>
      <p:sp>
        <p:nvSpPr>
          <p:cNvPr id="420" name="Text 420"/>
          <p:cNvSpPr/>
          <p:nvPr/>
        </p:nvSpPr>
        <p:spPr>
          <a:xfrm>
            <a:off x="868680" y="4160520"/>
            <a:ext cx="1462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</a:p>
        </p:txBody>
      </p:sp>
      <p:sp>
        <p:nvSpPr>
          <p:cNvPr id="421" name="Text 421"/>
          <p:cNvSpPr/>
          <p:nvPr/>
        </p:nvSpPr>
        <p:spPr>
          <a:xfrm>
            <a:off x="2377440" y="4160520"/>
            <a:ext cx="1462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532</a:t>
            </a:r>
          </a:p>
        </p:txBody>
      </p:sp>
      <p:sp>
        <p:nvSpPr>
          <p:cNvPr id="422" name="Text 422"/>
          <p:cNvSpPr/>
          <p:nvPr/>
        </p:nvSpPr>
        <p:spPr>
          <a:xfrm>
            <a:off x="3840480" y="4160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</a:t>
            </a:r>
          </a:p>
        </p:txBody>
      </p:sp>
      <p:sp>
        <p:nvSpPr>
          <p:cNvPr id="423" name="Text 423"/>
          <p:cNvSpPr/>
          <p:nvPr/>
        </p:nvSpPr>
        <p:spPr>
          <a:xfrm>
            <a:off x="868680" y="461772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10n² stays on top for every n ≥ 1.</a:t>
            </a:r>
          </a:p>
        </p:txBody>
      </p:sp>
      <p:sp>
        <p:nvSpPr>
          <p:cNvPr id="424" name="Shape 424"/>
          <p:cNvSpPr/>
          <p:nvPr/>
        </p:nvSpPr>
        <p:spPr>
          <a:xfrm>
            <a:off x="6355080" y="18745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D6DC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5" name="Text 425"/>
          <p:cNvSpPr/>
          <p:nvPr/>
        </p:nvSpPr>
        <p:spPr>
          <a:xfrm>
            <a:off x="6675120" y="21488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</a:p>
        </p:txBody>
      </p:sp>
      <p:sp>
        <p:nvSpPr>
          <p:cNvPr id="426" name="Text 426"/>
          <p:cNvSpPr/>
          <p:nvPr/>
        </p:nvSpPr>
        <p:spPr>
          <a:xfrm>
            <a:off x="6675120" y="256032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 = 10, n₀ = 1.</a:t>
            </a:r>
          </a:p>
        </p:txBody>
      </p:sp>
      <p:sp>
        <p:nvSpPr>
          <p:cNvPr id="427" name="Text 427"/>
          <p:cNvSpPr/>
          <p:nvPr/>
        </p:nvSpPr>
        <p:spPr>
          <a:xfrm>
            <a:off x="6675120" y="297180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≥ 1:  n ≤ n²  and  1 ≤ n², so</a:t>
            </a:r>
          </a:p>
        </p:txBody>
      </p:sp>
      <p:sp>
        <p:nvSpPr>
          <p:cNvPr id="428" name="Text 428"/>
          <p:cNvSpPr/>
          <p:nvPr/>
        </p:nvSpPr>
        <p:spPr>
          <a:xfrm>
            <a:off x="6675120" y="361188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5n²+3n+2 ≤ 5n²+3n²+2n² = 10n²</a:t>
            </a:r>
          </a:p>
        </p:txBody>
      </p:sp>
      <p:sp>
        <p:nvSpPr>
          <p:cNvPr id="429" name="Shape 429"/>
          <p:cNvSpPr/>
          <p:nvPr/>
        </p:nvSpPr>
        <p:spPr>
          <a:xfrm>
            <a:off x="6675120" y="425196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Text 430"/>
          <p:cNvSpPr/>
          <p:nvPr/>
        </p:nvSpPr>
        <p:spPr>
          <a:xfrm>
            <a:off x="6675120" y="4389120"/>
            <a:ext cx="4617720" cy="10972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constant and lower-order term gets absorbed into c. This is exactly why we say 5n²+3n+2 IS n², asymptotically.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 40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</a:p>
        </p:txBody>
      </p:sp>
      <p:sp>
        <p:nvSpPr>
          <p:cNvPr id="402" name="Text 40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44546A"/>
                </a:solidFill>
                <a:latin typeface="Calibri Light" pitchFamily="34" charset="0"/>
                <a:ea typeface="Cambria" pitchFamily="34" charset="-122"/>
                <a:cs typeface="Cambria" pitchFamily="34" charset="-120"/>
              </a:rPr>
              <a:t>One function, all three asymptotic bounds</a:t>
            </a:r>
          </a:p>
        </p:txBody>
      </p:sp>
      <p:sp>
        <p:nvSpPr>
          <p:cNvPr id="403" name="Text 40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 &amp; Big-O  ·  Sep 14</a:t>
            </a:r>
          </a:p>
        </p:txBody>
      </p:sp>
      <p:sp>
        <p:nvSpPr>
          <p:cNvPr id="404" name="Text 404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</a:p>
        </p:txBody>
      </p:sp>
      <p:sp>
        <p:nvSpPr>
          <p:cNvPr id="405" name="Shape 405"/>
          <p:cNvSpPr/>
          <p:nvPr/>
        </p:nvSpPr>
        <p:spPr>
          <a:xfrm>
            <a:off x="548640" y="18745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1B103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6" name="Text 406"/>
          <p:cNvSpPr/>
          <p:nvPr/>
        </p:nvSpPr>
        <p:spPr>
          <a:xfrm>
            <a:off x="868680" y="21488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SANDWICH  (n ≥ 1)</a:t>
            </a:r>
          </a:p>
        </p:txBody>
      </p:sp>
      <p:sp>
        <p:nvSpPr>
          <p:cNvPr id="407" name="Text 407"/>
          <p:cNvSpPr/>
          <p:nvPr/>
        </p:nvSpPr>
        <p:spPr>
          <a:xfrm>
            <a:off x="868680" y="260604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</a:p>
        </p:txBody>
      </p:sp>
      <p:sp>
        <p:nvSpPr>
          <p:cNvPr id="408" name="Text 408"/>
          <p:cNvSpPr/>
          <p:nvPr/>
        </p:nvSpPr>
        <p:spPr>
          <a:xfrm>
            <a:off x="1600200" y="260604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</a:t>
            </a:r>
          </a:p>
        </p:txBody>
      </p:sp>
      <p:sp>
        <p:nvSpPr>
          <p:cNvPr id="409" name="Text 409"/>
          <p:cNvSpPr/>
          <p:nvPr/>
        </p:nvSpPr>
        <p:spPr>
          <a:xfrm>
            <a:off x="2788920" y="260604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5n² ≤ f(n) ≤ 10n²</a:t>
            </a:r>
          </a:p>
        </p:txBody>
      </p:sp>
      <p:sp>
        <p:nvSpPr>
          <p:cNvPr id="410" name="Shape 410"/>
          <p:cNvSpPr/>
          <p:nvPr/>
        </p:nvSpPr>
        <p:spPr>
          <a:xfrm>
            <a:off x="868680" y="297180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Text 411"/>
          <p:cNvSpPr/>
          <p:nvPr/>
        </p:nvSpPr>
        <p:spPr>
          <a:xfrm>
            <a:off x="868680" y="306324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</a:p>
        </p:txBody>
      </p:sp>
      <p:sp>
        <p:nvSpPr>
          <p:cNvPr id="412" name="Text 412"/>
          <p:cNvSpPr/>
          <p:nvPr/>
        </p:nvSpPr>
        <p:spPr>
          <a:xfrm>
            <a:off x="1600200" y="306324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</a:p>
        </p:txBody>
      </p:sp>
      <p:sp>
        <p:nvSpPr>
          <p:cNvPr id="413" name="Text 413"/>
          <p:cNvSpPr/>
          <p:nvPr/>
        </p:nvSpPr>
        <p:spPr>
          <a:xfrm>
            <a:off x="2788920" y="306324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≤ 10 ≤ 10</a:t>
            </a:r>
          </a:p>
        </p:txBody>
      </p:sp>
      <p:sp>
        <p:nvSpPr>
          <p:cNvPr id="414" name="Text 414"/>
          <p:cNvSpPr/>
          <p:nvPr/>
        </p:nvSpPr>
        <p:spPr>
          <a:xfrm>
            <a:off x="868680" y="342900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</a:p>
        </p:txBody>
      </p:sp>
      <p:sp>
        <p:nvSpPr>
          <p:cNvPr id="415" name="Text 415"/>
          <p:cNvSpPr/>
          <p:nvPr/>
        </p:nvSpPr>
        <p:spPr>
          <a:xfrm>
            <a:off x="1600200" y="34290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</a:p>
        </p:txBody>
      </p:sp>
      <p:sp>
        <p:nvSpPr>
          <p:cNvPr id="416" name="Text 416"/>
          <p:cNvSpPr/>
          <p:nvPr/>
        </p:nvSpPr>
        <p:spPr>
          <a:xfrm>
            <a:off x="2788920" y="342900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≤ 28 ≤ 40</a:t>
            </a:r>
          </a:p>
        </p:txBody>
      </p:sp>
      <p:sp>
        <p:nvSpPr>
          <p:cNvPr id="417" name="Text 417"/>
          <p:cNvSpPr/>
          <p:nvPr/>
        </p:nvSpPr>
        <p:spPr>
          <a:xfrm>
            <a:off x="868680" y="37947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</a:p>
        </p:txBody>
      </p:sp>
      <p:sp>
        <p:nvSpPr>
          <p:cNvPr id="418" name="Text 418"/>
          <p:cNvSpPr/>
          <p:nvPr/>
        </p:nvSpPr>
        <p:spPr>
          <a:xfrm>
            <a:off x="1600200" y="37947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</a:t>
            </a:r>
          </a:p>
        </p:txBody>
      </p:sp>
      <p:sp>
        <p:nvSpPr>
          <p:cNvPr id="419" name="Text 419"/>
          <p:cNvSpPr/>
          <p:nvPr/>
        </p:nvSpPr>
        <p:spPr>
          <a:xfrm>
            <a:off x="2788920" y="379476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 ≤ 142 ≤ 250</a:t>
            </a:r>
          </a:p>
        </p:txBody>
      </p:sp>
      <p:sp>
        <p:nvSpPr>
          <p:cNvPr id="420" name="Text 420"/>
          <p:cNvSpPr/>
          <p:nvPr/>
        </p:nvSpPr>
        <p:spPr>
          <a:xfrm>
            <a:off x="868680" y="4160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</a:p>
        </p:txBody>
      </p:sp>
      <p:sp>
        <p:nvSpPr>
          <p:cNvPr id="421" name="Text 421"/>
          <p:cNvSpPr/>
          <p:nvPr/>
        </p:nvSpPr>
        <p:spPr>
          <a:xfrm>
            <a:off x="1600200" y="416052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532</a:t>
            </a:r>
          </a:p>
        </p:txBody>
      </p:sp>
      <p:sp>
        <p:nvSpPr>
          <p:cNvPr id="422" name="Text 422"/>
          <p:cNvSpPr/>
          <p:nvPr/>
        </p:nvSpPr>
        <p:spPr>
          <a:xfrm>
            <a:off x="2788920" y="416052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≤ 532 ≤ 1,000</a:t>
            </a:r>
          </a:p>
        </p:txBody>
      </p:sp>
      <p:sp>
        <p:nvSpPr>
          <p:cNvPr id="423" name="Text 423"/>
          <p:cNvSpPr/>
          <p:nvPr/>
        </p:nvSpPr>
        <p:spPr>
          <a:xfrm>
            <a:off x="868680" y="461772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n² sandwich holds for every n ≥ 1.</a:t>
            </a:r>
          </a:p>
        </p:txBody>
      </p:sp>
      <p:sp>
        <p:nvSpPr>
          <p:cNvPr id="424" name="Shape 424"/>
          <p:cNvSpPr/>
          <p:nvPr/>
        </p:nvSpPr>
        <p:spPr>
          <a:xfrm>
            <a:off x="6355080" y="18745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D6DC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5" name="Text 425"/>
          <p:cNvSpPr/>
          <p:nvPr/>
        </p:nvSpPr>
        <p:spPr>
          <a:xfrm>
            <a:off x="6675120" y="21488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THE SAME FUNCTION</a:t>
            </a:r>
          </a:p>
        </p:txBody>
      </p:sp>
      <p:sp>
        <p:nvSpPr>
          <p:cNvPr id="426" name="Text 426"/>
          <p:cNvSpPr/>
          <p:nvPr/>
        </p:nvSpPr>
        <p:spPr>
          <a:xfrm>
            <a:off x="6675120" y="256032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c₁ = 5, c₂ = 10, n₀ = 1.</a:t>
            </a:r>
          </a:p>
        </p:txBody>
      </p:sp>
      <p:sp>
        <p:nvSpPr>
          <p:cNvPr id="427" name="Text 427"/>
          <p:cNvSpPr/>
          <p:nvPr/>
        </p:nvSpPr>
        <p:spPr>
          <a:xfrm>
            <a:off x="6675120" y="297180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n ≥ 1:</a:t>
            </a:r>
          </a:p>
        </p:txBody>
      </p:sp>
      <p:sp>
        <p:nvSpPr>
          <p:cNvPr id="428" name="Text 428"/>
          <p:cNvSpPr/>
          <p:nvPr/>
        </p:nvSpPr>
        <p:spPr>
          <a:xfrm>
            <a:off x="6675120" y="361188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5n² ≤ 5n²+3n+2 ≤ 10n²</a:t>
            </a:r>
          </a:p>
        </p:txBody>
      </p:sp>
      <p:sp>
        <p:nvSpPr>
          <p:cNvPr id="429" name="Shape 429"/>
          <p:cNvSpPr/>
          <p:nvPr/>
        </p:nvSpPr>
        <p:spPr>
          <a:xfrm>
            <a:off x="6675120" y="425196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Text 430"/>
          <p:cNvSpPr/>
          <p:nvPr/>
        </p:nvSpPr>
        <p:spPr>
          <a:xfrm>
            <a:off x="6675120" y="4389120"/>
            <a:ext cx="4617720" cy="10972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200" i="1">
                <a:solidFill>
                  <a:srgbClr val="333F50"/>
                </a:solidFill>
                <a:latin typeface="Calibri"/>
              </a:rPr>
              <a:t>Lower bound:  f(n) = Ω(n²)</a:t>
            </a:r>
          </a:p>
          <a:p>
            <a:pPr>
              <a:spcAft>
                <a:spcPts val="300"/>
              </a:spcAft>
            </a:pPr>
            <a:r>
              <a:rPr sz="1200" i="1">
                <a:solidFill>
                  <a:srgbClr val="333F50"/>
                </a:solidFill>
                <a:latin typeface="Calibri"/>
              </a:rPr>
              <a:t>Upper bound:  f(n) = O(n²)</a:t>
            </a:r>
          </a:p>
          <a:p>
            <a:pPr>
              <a:spcAft>
                <a:spcPts val="300"/>
              </a:spcAft>
            </a:pPr>
            <a:r>
              <a:rPr sz="1200" i="1">
                <a:solidFill>
                  <a:srgbClr val="333F50"/>
                </a:solidFill>
                <a:latin typeface="Calibri"/>
              </a:rPr>
              <a:t>Both match:  f(n) = Θ(n²).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D092CA-F02E-CFD5-3A66-2E811CD26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 401">
            <a:extLst>
              <a:ext uri="{FF2B5EF4-FFF2-40B4-BE49-F238E27FC236}">
                <a16:creationId xmlns:a16="http://schemas.microsoft.com/office/drawing/2014/main" id="{A54C2156-2FDD-D634-15C7-917958FA9C66}"/>
              </a:ext>
            </a:extLst>
          </p:cNvPr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WORKED EXAMPLES (ON BOARD)</a:t>
            </a:r>
          </a:p>
        </p:txBody>
      </p:sp>
      <p:sp>
        <p:nvSpPr>
          <p:cNvPr id="402" name="Text 402">
            <a:extLst>
              <a:ext uri="{FF2B5EF4-FFF2-40B4-BE49-F238E27FC236}">
                <a16:creationId xmlns:a16="http://schemas.microsoft.com/office/drawing/2014/main" id="{D1D80A0E-9E47-6CB6-C25F-2CE0F5B3F3C0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4546A"/>
                </a:solidFill>
                <a:latin typeface="Calibri Light" pitchFamily="34" charset="0"/>
                <a:ea typeface="Cambria" pitchFamily="34" charset="-122"/>
                <a:cs typeface="Cambria" pitchFamily="34" charset="-120"/>
              </a:rPr>
              <a:t>Sample Questions</a:t>
            </a:r>
          </a:p>
        </p:txBody>
      </p:sp>
      <p:sp>
        <p:nvSpPr>
          <p:cNvPr id="403" name="Text 403">
            <a:extLst>
              <a:ext uri="{FF2B5EF4-FFF2-40B4-BE49-F238E27FC236}">
                <a16:creationId xmlns:a16="http://schemas.microsoft.com/office/drawing/2014/main" id="{7AB39641-A1DE-DFAC-D6DB-A586FD91C42C}"/>
              </a:ext>
            </a:extLst>
          </p:cNvPr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Asymptotic Notation &amp; Big-O  ·  Sep 14</a:t>
            </a:r>
          </a:p>
        </p:txBody>
      </p:sp>
      <p:sp>
        <p:nvSpPr>
          <p:cNvPr id="404" name="Text 404">
            <a:extLst>
              <a:ext uri="{FF2B5EF4-FFF2-40B4-BE49-F238E27FC236}">
                <a16:creationId xmlns:a16="http://schemas.microsoft.com/office/drawing/2014/main" id="{99F0EF5E-0744-F93F-278A-346EF5495156}"/>
              </a:ext>
            </a:extLst>
          </p:cNvPr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</a:p>
        </p:txBody>
      </p:sp>
      <p:sp>
        <p:nvSpPr>
          <p:cNvPr id="410" name="Shape 410">
            <a:extLst>
              <a:ext uri="{FF2B5EF4-FFF2-40B4-BE49-F238E27FC236}">
                <a16:creationId xmlns:a16="http://schemas.microsoft.com/office/drawing/2014/main" id="{B75AD1BE-5216-6A21-7FC6-1302F103D3C9}"/>
              </a:ext>
            </a:extLst>
          </p:cNvPr>
          <p:cNvSpPr/>
          <p:nvPr/>
        </p:nvSpPr>
        <p:spPr>
          <a:xfrm>
            <a:off x="868680" y="297180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9">
            <a:extLst>
              <a:ext uri="{FF2B5EF4-FFF2-40B4-BE49-F238E27FC236}">
                <a16:creationId xmlns:a16="http://schemas.microsoft.com/office/drawing/2014/main" id="{969BE462-D2DD-7432-D394-0875C6E72F3D}"/>
              </a:ext>
            </a:extLst>
          </p:cNvPr>
          <p:cNvSpPr/>
          <p:nvPr/>
        </p:nvSpPr>
        <p:spPr>
          <a:xfrm>
            <a:off x="6675120" y="4251960"/>
            <a:ext cx="4617720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CCB418-9843-B083-DE0B-D29F7BEB5A06}"/>
              </a:ext>
            </a:extLst>
          </p:cNvPr>
          <p:cNvSpPr txBox="1"/>
          <p:nvPr/>
        </p:nvSpPr>
        <p:spPr>
          <a:xfrm>
            <a:off x="548640" y="1672566"/>
            <a:ext cx="47333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Check if the following is true: n = O(</a:t>
            </a:r>
            <a:r>
              <a:rPr lang="en-US" dirty="0" err="1"/>
              <a:t>nlogn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2. Stirling’s approximation i.e. log(n!) = </a:t>
            </a:r>
            <a:r>
              <a:rPr lang="en-US" dirty="0" err="1"/>
              <a:t>Θ</a:t>
            </a:r>
            <a:r>
              <a:rPr lang="en-US" dirty="0"/>
              <a:t>(</a:t>
            </a:r>
            <a:r>
              <a:rPr lang="en-US" dirty="0" err="1"/>
              <a:t>nlogn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576978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1145</Words>
  <Application>Microsoft Macintosh PowerPoint</Application>
  <PresentationFormat>Widescreen</PresentationFormat>
  <Paragraphs>149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Tanwistha Saha</cp:lastModifiedBy>
  <cp:revision>55</cp:revision>
  <dcterms:created xsi:type="dcterms:W3CDTF">2026-08-21T20:49:11Z</dcterms:created>
  <dcterms:modified xsi:type="dcterms:W3CDTF">2026-09-14T20:03:17Z</dcterms:modified>
</cp:coreProperties>
</file>