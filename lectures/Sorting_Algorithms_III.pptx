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23" d="100"/>
          <a:sy n="123" d="100"/>
        </p:scale>
        <p:origin x="3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142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594360"/>
            <a:ext cx="73152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CS 383 ALGORITHMS ANALYSIS AND DESIGN</a:t>
            </a:r>
            <a:endParaRPr lang="en-US" sz="1200" dirty="0"/>
          </a:p>
        </p:txBody>
      </p:sp>
      <p:sp>
        <p:nvSpPr>
          <p:cNvPr id="3" name="Text 1"/>
          <p:cNvSpPr txBox="1"/>
          <p:nvPr/>
        </p:nvSpPr>
        <p:spPr>
          <a:xfrm>
            <a:off x="502920" y="960120"/>
            <a:ext cx="7498080" cy="914400"/>
          </a:xfrm>
          <a:prstGeom prst="rect">
            <a:avLst/>
          </a:prstGeom>
          <a:noFill/>
          <a:ln/>
        </p:spPr>
        <p:txBody>
          <a:bodyPr wrap="square" lIns="0" tIns="0" rIns="0" bIns="0" rtlCol="0" anchor="ctr"/>
          <a:lstStyle/>
          <a:p>
            <a:pPr marL="0" indent="0">
              <a:buNone/>
            </a:pPr>
            <a:r>
              <a:rPr lang="en-US" sz="4200" b="1" dirty="0">
                <a:solidFill>
                  <a:srgbClr val="1E2A44"/>
                </a:solidFill>
                <a:latin typeface="Calibri" pitchFamily="34" charset="0"/>
                <a:ea typeface="Calibri" pitchFamily="34" charset="-122"/>
                <a:cs typeface="Calibri" pitchFamily="34" charset="-120"/>
              </a:rPr>
              <a:t>Sorting Algorithms - III</a:t>
            </a:r>
            <a:endParaRPr lang="en-US" sz="4200" dirty="0"/>
          </a:p>
        </p:txBody>
      </p:sp>
      <p:sp>
        <p:nvSpPr>
          <p:cNvPr id="4" name="Text 2"/>
          <p:cNvSpPr txBox="1"/>
          <p:nvPr/>
        </p:nvSpPr>
        <p:spPr>
          <a:xfrm>
            <a:off x="502920" y="1783080"/>
            <a:ext cx="7315200" cy="457200"/>
          </a:xfrm>
          <a:prstGeom prst="rect">
            <a:avLst/>
          </a:prstGeom>
          <a:noFill/>
          <a:ln/>
        </p:spPr>
        <p:txBody>
          <a:bodyPr wrap="square" lIns="0" tIns="0" rIns="0" bIns="0" rtlCol="0" anchor="ctr"/>
          <a:lstStyle/>
          <a:p>
            <a:pPr marL="0" indent="0">
              <a:buNone/>
            </a:pPr>
            <a:r>
              <a:rPr lang="en-US" sz="1900" b="1" dirty="0" err="1">
                <a:solidFill>
                  <a:srgbClr val="C55A11"/>
                </a:solidFill>
                <a:latin typeface="Calibri" pitchFamily="34" charset="0"/>
                <a:ea typeface="Calibri" pitchFamily="34" charset="-122"/>
                <a:cs typeface="Calibri" pitchFamily="34" charset="-120"/>
              </a:rPr>
              <a:t>QuickSort</a:t>
            </a:r>
            <a:endParaRPr lang="en-US" sz="1900" dirty="0"/>
          </a:p>
        </p:txBody>
      </p:sp>
      <p:sp>
        <p:nvSpPr>
          <p:cNvPr id="5" name="Text 3"/>
          <p:cNvSpPr txBox="1"/>
          <p:nvPr/>
        </p:nvSpPr>
        <p:spPr>
          <a:xfrm>
            <a:off x="502920" y="2331720"/>
            <a:ext cx="6949440" cy="548640"/>
          </a:xfrm>
          <a:prstGeom prst="rect">
            <a:avLst/>
          </a:prstGeom>
          <a:noFill/>
          <a:ln/>
        </p:spPr>
        <p:txBody>
          <a:bodyPr wrap="square" lIns="0" tIns="0" rIns="0" bIns="0" rtlCol="0" anchor="ctr"/>
          <a:lstStyle/>
          <a:p>
            <a:pPr marL="0" indent="0">
              <a:buNone/>
            </a:pPr>
            <a:r>
              <a:rPr lang="en-US" sz="1400" i="1" dirty="0">
                <a:solidFill>
                  <a:srgbClr val="595959"/>
                </a:solidFill>
                <a:latin typeface="Calibri" pitchFamily="34" charset="0"/>
                <a:cs typeface="Calibri" pitchFamily="34" charset="-120"/>
              </a:rPr>
              <a:t>A fast divide-and-conquer sorting algorithm – but the heavy lifting moves to a different step.</a:t>
            </a:r>
            <a:endParaRPr lang="en-US" sz="1400" dirty="0"/>
          </a:p>
        </p:txBody>
      </p:sp>
      <p:sp>
        <p:nvSpPr>
          <p:cNvPr id="6" name="Shape 4"/>
          <p:cNvSpPr/>
          <p:nvPr/>
        </p:nvSpPr>
        <p:spPr>
          <a:xfrm>
            <a:off x="7863840" y="3977640"/>
            <a:ext cx="384048" cy="320040"/>
          </a:xfrm>
          <a:prstGeom prst="roundRect">
            <a:avLst>
              <a:gd name="adj" fmla="val 11429"/>
            </a:avLst>
          </a:prstGeom>
          <a:solidFill>
            <a:srgbClr val="F4B183"/>
          </a:solidFill>
          <a:ln/>
        </p:spPr>
        <p:txBody>
          <a:bodyPr/>
          <a:lstStyle/>
          <a:p>
            <a:endParaRPr lang="en-US"/>
          </a:p>
        </p:txBody>
      </p:sp>
      <p:sp>
        <p:nvSpPr>
          <p:cNvPr id="7" name="Shape 5"/>
          <p:cNvSpPr/>
          <p:nvPr/>
        </p:nvSpPr>
        <p:spPr>
          <a:xfrm>
            <a:off x="8375904" y="3611880"/>
            <a:ext cx="384048" cy="685800"/>
          </a:xfrm>
          <a:prstGeom prst="roundRect">
            <a:avLst>
              <a:gd name="adj" fmla="val 9524"/>
            </a:avLst>
          </a:prstGeom>
          <a:solidFill>
            <a:srgbClr val="F4B183"/>
          </a:solidFill>
          <a:ln/>
        </p:spPr>
        <p:txBody>
          <a:bodyPr/>
          <a:lstStyle/>
          <a:p>
            <a:endParaRPr lang="en-US"/>
          </a:p>
        </p:txBody>
      </p:sp>
      <p:sp>
        <p:nvSpPr>
          <p:cNvPr id="8" name="Shape 6"/>
          <p:cNvSpPr/>
          <p:nvPr/>
        </p:nvSpPr>
        <p:spPr>
          <a:xfrm>
            <a:off x="8887968" y="3154680"/>
            <a:ext cx="384048" cy="1143000"/>
          </a:xfrm>
          <a:prstGeom prst="roundRect">
            <a:avLst>
              <a:gd name="adj" fmla="val 9524"/>
            </a:avLst>
          </a:prstGeom>
          <a:solidFill>
            <a:srgbClr val="F4B183"/>
          </a:solidFill>
          <a:ln/>
        </p:spPr>
        <p:txBody>
          <a:bodyPr/>
          <a:lstStyle/>
          <a:p>
            <a:endParaRPr lang="en-US"/>
          </a:p>
        </p:txBody>
      </p:sp>
      <p:sp>
        <p:nvSpPr>
          <p:cNvPr id="9" name="Shape 7"/>
          <p:cNvSpPr/>
          <p:nvPr/>
        </p:nvSpPr>
        <p:spPr>
          <a:xfrm>
            <a:off x="9400032" y="2606040"/>
            <a:ext cx="384048" cy="1691640"/>
          </a:xfrm>
          <a:prstGeom prst="roundRect">
            <a:avLst>
              <a:gd name="adj" fmla="val 9524"/>
            </a:avLst>
          </a:prstGeom>
          <a:solidFill>
            <a:srgbClr val="F4B183"/>
          </a:solidFill>
          <a:ln/>
        </p:spPr>
        <p:txBody>
          <a:bodyPr/>
          <a:lstStyle/>
          <a:p>
            <a:endParaRPr lang="en-US"/>
          </a:p>
        </p:txBody>
      </p:sp>
      <p:sp>
        <p:nvSpPr>
          <p:cNvPr id="10" name="Shape 8"/>
          <p:cNvSpPr/>
          <p:nvPr/>
        </p:nvSpPr>
        <p:spPr>
          <a:xfrm>
            <a:off x="9912096" y="1965960"/>
            <a:ext cx="384048" cy="2331720"/>
          </a:xfrm>
          <a:prstGeom prst="roundRect">
            <a:avLst>
              <a:gd name="adj" fmla="val 9524"/>
            </a:avLst>
          </a:prstGeom>
          <a:solidFill>
            <a:srgbClr val="C55A11"/>
          </a:solidFill>
          <a:ln/>
        </p:spPr>
        <p:txBody>
          <a:bodyPr/>
          <a:lstStyle/>
          <a:p>
            <a:endParaRPr lang="en-US"/>
          </a:p>
        </p:txBody>
      </p:sp>
      <p:sp>
        <p:nvSpPr>
          <p:cNvPr id="11" name="Text 9"/>
          <p:cNvSpPr txBox="1"/>
          <p:nvPr/>
        </p:nvSpPr>
        <p:spPr>
          <a:xfrm>
            <a:off x="7772400" y="4370832"/>
            <a:ext cx="2743200" cy="274320"/>
          </a:xfrm>
          <a:prstGeom prst="rect">
            <a:avLst/>
          </a:prstGeom>
          <a:noFill/>
          <a:ln/>
        </p:spPr>
        <p:txBody>
          <a:bodyPr wrap="square" lIns="0" tIns="0" rIns="0" bIns="0" rtlCol="0" anchor="ctr"/>
          <a:lstStyle/>
          <a:p>
            <a:pPr marL="0" indent="0">
              <a:buNone/>
            </a:pPr>
            <a:r>
              <a:rPr lang="en-US" sz="1200" b="1" dirty="0">
                <a:solidFill>
                  <a:srgbClr val="C55A11"/>
                </a:solidFill>
                <a:latin typeface="Calibri" pitchFamily="34" charset="0"/>
                <a:ea typeface="Calibri" pitchFamily="34" charset="-122"/>
                <a:cs typeface="Calibri" pitchFamily="34" charset="-120"/>
              </a:rPr>
              <a:t>Before: O(n²)</a:t>
            </a:r>
            <a:endParaRPr lang="en-US" sz="1200" dirty="0"/>
          </a:p>
        </p:txBody>
      </p:sp>
      <p:sp>
        <p:nvSpPr>
          <p:cNvPr id="12" name="Shape 10"/>
          <p:cNvSpPr/>
          <p:nvPr/>
        </p:nvSpPr>
        <p:spPr>
          <a:xfrm>
            <a:off x="7863840" y="5760720"/>
            <a:ext cx="384048" cy="228600"/>
          </a:xfrm>
          <a:prstGeom prst="roundRect">
            <a:avLst>
              <a:gd name="adj" fmla="val 16000"/>
            </a:avLst>
          </a:prstGeom>
          <a:solidFill>
            <a:srgbClr val="9DB4E0"/>
          </a:solidFill>
          <a:ln/>
        </p:spPr>
        <p:txBody>
          <a:bodyPr/>
          <a:lstStyle/>
          <a:p>
            <a:endParaRPr lang="en-US"/>
          </a:p>
        </p:txBody>
      </p:sp>
      <p:sp>
        <p:nvSpPr>
          <p:cNvPr id="13" name="Shape 11"/>
          <p:cNvSpPr/>
          <p:nvPr/>
        </p:nvSpPr>
        <p:spPr>
          <a:xfrm>
            <a:off x="8375904" y="5605272"/>
            <a:ext cx="384048" cy="384048"/>
          </a:xfrm>
          <a:prstGeom prst="roundRect">
            <a:avLst>
              <a:gd name="adj" fmla="val 9524"/>
            </a:avLst>
          </a:prstGeom>
          <a:solidFill>
            <a:srgbClr val="9DB4E0"/>
          </a:solidFill>
          <a:ln/>
        </p:spPr>
        <p:txBody>
          <a:bodyPr/>
          <a:lstStyle/>
          <a:p>
            <a:endParaRPr lang="en-US"/>
          </a:p>
        </p:txBody>
      </p:sp>
      <p:sp>
        <p:nvSpPr>
          <p:cNvPr id="14" name="Shape 12"/>
          <p:cNvSpPr/>
          <p:nvPr/>
        </p:nvSpPr>
        <p:spPr>
          <a:xfrm>
            <a:off x="8887968" y="5486400"/>
            <a:ext cx="384048" cy="502920"/>
          </a:xfrm>
          <a:prstGeom prst="roundRect">
            <a:avLst>
              <a:gd name="adj" fmla="val 9524"/>
            </a:avLst>
          </a:prstGeom>
          <a:solidFill>
            <a:srgbClr val="9DB4E0"/>
          </a:solidFill>
          <a:ln/>
        </p:spPr>
        <p:txBody>
          <a:bodyPr/>
          <a:lstStyle/>
          <a:p>
            <a:endParaRPr lang="en-US"/>
          </a:p>
        </p:txBody>
      </p:sp>
      <p:sp>
        <p:nvSpPr>
          <p:cNvPr id="15" name="Shape 13"/>
          <p:cNvSpPr/>
          <p:nvPr/>
        </p:nvSpPr>
        <p:spPr>
          <a:xfrm>
            <a:off x="9400032" y="5394960"/>
            <a:ext cx="384048" cy="594360"/>
          </a:xfrm>
          <a:prstGeom prst="roundRect">
            <a:avLst>
              <a:gd name="adj" fmla="val 9524"/>
            </a:avLst>
          </a:prstGeom>
          <a:solidFill>
            <a:srgbClr val="9DB4E0"/>
          </a:solidFill>
          <a:ln/>
        </p:spPr>
        <p:txBody>
          <a:bodyPr/>
          <a:lstStyle/>
          <a:p>
            <a:endParaRPr lang="en-US"/>
          </a:p>
        </p:txBody>
      </p:sp>
      <p:sp>
        <p:nvSpPr>
          <p:cNvPr id="16" name="Shape 14"/>
          <p:cNvSpPr/>
          <p:nvPr/>
        </p:nvSpPr>
        <p:spPr>
          <a:xfrm>
            <a:off x="9912096" y="5330952"/>
            <a:ext cx="384048" cy="658368"/>
          </a:xfrm>
          <a:prstGeom prst="roundRect">
            <a:avLst>
              <a:gd name="adj" fmla="val 9524"/>
            </a:avLst>
          </a:prstGeom>
          <a:solidFill>
            <a:srgbClr val="4472C4"/>
          </a:solidFill>
          <a:ln/>
        </p:spPr>
        <p:txBody>
          <a:bodyPr/>
          <a:lstStyle/>
          <a:p>
            <a:endParaRPr lang="en-US"/>
          </a:p>
        </p:txBody>
      </p:sp>
      <p:sp>
        <p:nvSpPr>
          <p:cNvPr id="17" name="Text 15"/>
          <p:cNvSpPr txBox="1"/>
          <p:nvPr/>
        </p:nvSpPr>
        <p:spPr>
          <a:xfrm>
            <a:off x="7772400" y="6062472"/>
            <a:ext cx="2926080" cy="274320"/>
          </a:xfrm>
          <a:prstGeom prst="rect">
            <a:avLst/>
          </a:prstGeom>
          <a:noFill/>
          <a:ln/>
        </p:spPr>
        <p:txBody>
          <a:bodyPr wrap="square" lIns="0" tIns="0" rIns="0" bIns="0" rtlCol="0" anchor="ctr"/>
          <a:lstStyle/>
          <a:p>
            <a:pPr marL="0" indent="0">
              <a:buNone/>
            </a:pPr>
            <a:r>
              <a:rPr lang="en-US" sz="1200" b="1" dirty="0">
                <a:solidFill>
                  <a:srgbClr val="4472C4"/>
                </a:solidFill>
                <a:latin typeface="Calibri" pitchFamily="34" charset="0"/>
                <a:ea typeface="Calibri" pitchFamily="34" charset="-122"/>
                <a:cs typeface="Calibri" pitchFamily="34" charset="-120"/>
              </a:rPr>
              <a:t>After: O(n log n)</a:t>
            </a:r>
            <a:endParaRPr lang="en-US" sz="1200" dirty="0"/>
          </a:p>
        </p:txBody>
      </p:sp>
      <p:sp>
        <p:nvSpPr>
          <p:cNvPr id="18" name="Shape 16"/>
          <p:cNvSpPr/>
          <p:nvPr/>
        </p:nvSpPr>
        <p:spPr>
          <a:xfrm>
            <a:off x="9921240" y="502920"/>
            <a:ext cx="1417320" cy="1417320"/>
          </a:xfrm>
          <a:prstGeom prst="ellipse">
            <a:avLst/>
          </a:prstGeom>
          <a:solidFill>
            <a:srgbClr val="EEF3FC"/>
          </a:solidFill>
          <a:ln w="19050">
            <a:solidFill>
              <a:srgbClr val="C9D6F0"/>
            </a:solidFill>
            <a:prstDash val="solid"/>
          </a:ln>
        </p:spPr>
        <p:txBody>
          <a:bodyPr/>
          <a:lstStyle/>
          <a:p>
            <a:endParaRPr lang="en-US"/>
          </a:p>
        </p:txBody>
      </p:sp>
      <p:sp>
        <p:nvSpPr>
          <p:cNvPr id="19" name="Text 17"/>
          <p:cNvSpPr txBox="1"/>
          <p:nvPr/>
        </p:nvSpPr>
        <p:spPr>
          <a:xfrm>
            <a:off x="9921240" y="502920"/>
            <a:ext cx="1417320" cy="1417320"/>
          </a:xfrm>
          <a:prstGeom prst="rect">
            <a:avLst/>
          </a:prstGeom>
          <a:noFill/>
          <a:ln/>
        </p:spPr>
        <p:txBody>
          <a:bodyPr wrap="square" lIns="0" tIns="0" rIns="0" bIns="0" rtlCol="0" anchor="ctr"/>
          <a:lstStyle/>
          <a:p>
            <a:pPr marL="0" indent="0" algn="ctr">
              <a:lnSpc>
                <a:spcPct val="100000"/>
              </a:lnSpc>
              <a:buNone/>
            </a:pPr>
            <a:r>
              <a:rPr lang="en-US" sz="1300" b="1" dirty="0">
                <a:solidFill>
                  <a:srgbClr val="4472C4"/>
                </a:solidFill>
                <a:latin typeface="Calibri" pitchFamily="34" charset="0"/>
                <a:ea typeface="Calibri" pitchFamily="34" charset="-122"/>
                <a:cs typeface="Calibri" pitchFamily="34" charset="-120"/>
              </a:rPr>
              <a:t>divide</a:t>
            </a:r>
            <a:endParaRPr lang="en-US" sz="1300" dirty="0"/>
          </a:p>
          <a:p>
            <a:pPr marL="0" indent="0" algn="ctr">
              <a:lnSpc>
                <a:spcPct val="100000"/>
              </a:lnSpc>
              <a:buNone/>
            </a:pPr>
            <a:r>
              <a:rPr lang="en-US" sz="1300" b="1" dirty="0">
                <a:solidFill>
                  <a:srgbClr val="4472C4"/>
                </a:solidFill>
                <a:latin typeface="Calibri" pitchFamily="34" charset="0"/>
                <a:ea typeface="Calibri" pitchFamily="34" charset="-122"/>
                <a:cs typeface="Calibri" pitchFamily="34" charset="-120"/>
              </a:rPr>
              <a:t>&amp;</a:t>
            </a:r>
            <a:endParaRPr lang="en-US" sz="1300" dirty="0"/>
          </a:p>
          <a:p>
            <a:pPr marL="0" indent="0" algn="ctr">
              <a:lnSpc>
                <a:spcPct val="100000"/>
              </a:lnSpc>
              <a:buNone/>
            </a:pPr>
            <a:r>
              <a:rPr lang="en-US" sz="1300" b="1" dirty="0">
                <a:solidFill>
                  <a:srgbClr val="4472C4"/>
                </a:solidFill>
                <a:latin typeface="Calibri" pitchFamily="34" charset="0"/>
                <a:ea typeface="Calibri" pitchFamily="34" charset="-122"/>
                <a:cs typeface="Calibri" pitchFamily="34" charset="-120"/>
              </a:rPr>
              <a:t>conquer</a:t>
            </a:r>
            <a:endParaRPr lang="en-US" sz="1300" dirty="0"/>
          </a:p>
        </p:txBody>
      </p:sp>
      <p:sp>
        <p:nvSpPr>
          <p:cNvPr id="20" name="Shape 18"/>
          <p:cNvSpPr/>
          <p:nvPr/>
        </p:nvSpPr>
        <p:spPr>
          <a:xfrm>
            <a:off x="502920" y="5897880"/>
            <a:ext cx="6949440" cy="0"/>
          </a:xfrm>
          <a:prstGeom prst="line">
            <a:avLst/>
          </a:prstGeom>
          <a:noFill/>
          <a:ln w="12700">
            <a:solidFill>
              <a:srgbClr val="D9D9D9"/>
            </a:solidFill>
            <a:prstDash val="solid"/>
          </a:ln>
        </p:spPr>
        <p:txBody>
          <a:bodyPr/>
          <a:lstStyle/>
          <a:p>
            <a:endParaRPr lang="en-US"/>
          </a:p>
        </p:txBody>
      </p:sp>
      <p:sp>
        <p:nvSpPr>
          <p:cNvPr id="21" name="Text 19"/>
          <p:cNvSpPr txBox="1"/>
          <p:nvPr/>
        </p:nvSpPr>
        <p:spPr>
          <a:xfrm>
            <a:off x="502920" y="5989320"/>
            <a:ext cx="365760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Tanwistha Saha</a:t>
            </a:r>
            <a:endParaRPr lang="en-US" sz="1300" dirty="0"/>
          </a:p>
        </p:txBody>
      </p:sp>
      <p:sp>
        <p:nvSpPr>
          <p:cNvPr id="22" name="Text 20"/>
          <p:cNvSpPr txBox="1"/>
          <p:nvPr/>
        </p:nvSpPr>
        <p:spPr>
          <a:xfrm>
            <a:off x="502920" y="6263640"/>
            <a:ext cx="5486400" cy="274320"/>
          </a:xfrm>
          <a:prstGeom prst="rect">
            <a:avLst/>
          </a:prstGeom>
          <a:noFill/>
          <a:ln/>
        </p:spPr>
        <p:txBody>
          <a:bodyPr wrap="square" lIns="0" tIns="0" rIns="0" bIns="0" rtlCol="0" anchor="ctr"/>
          <a:lstStyle/>
          <a:p>
            <a:pPr marL="0" indent="0">
              <a:buNone/>
            </a:pPr>
            <a:r>
              <a:rPr lang="en-US" sz="1100" dirty="0">
                <a:solidFill>
                  <a:srgbClr val="595959"/>
                </a:solidFill>
                <a:latin typeface="Calibri" pitchFamily="34" charset="0"/>
                <a:ea typeface="Calibri" pitchFamily="34" charset="-122"/>
                <a:cs typeface="Calibri" pitchFamily="34" charset="-120"/>
              </a:rPr>
              <a:t>Week 4  ·  Session 10  ·  September 23</a:t>
            </a:r>
            <a:endParaRPr lang="en-US" sz="1100" dirty="0"/>
          </a:p>
        </p:txBody>
      </p:sp>
      <p:sp>
        <p:nvSpPr>
          <p:cNvPr id="23" name="Text 21"/>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a:t>
            </a:r>
            <a:r>
              <a:rPr lang="en-US" sz="850">
                <a:solidFill>
                  <a:srgbClr val="595959"/>
                </a:solidFill>
                <a:latin typeface="Calibri" pitchFamily="34" charset="0"/>
                <a:ea typeface="Calibri" pitchFamily="34" charset="-122"/>
                <a:cs typeface="Calibri" pitchFamily="34" charset="-120"/>
              </a:rPr>
              <a:t>Sorting Algorithms III  </a:t>
            </a:r>
            <a:r>
              <a:rPr lang="en-US" sz="850" dirty="0">
                <a:solidFill>
                  <a:srgbClr val="595959"/>
                </a:solidFill>
                <a:latin typeface="Calibri" pitchFamily="34" charset="0"/>
                <a:ea typeface="Calibri" pitchFamily="34" charset="-122"/>
                <a:cs typeface="Calibri" pitchFamily="34" charset="-120"/>
              </a:rPr>
              <a:t>·  Sep 23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658368"/>
            <a:ext cx="73152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1"/>
          <p:cNvSpPr txBox="1"/>
          <p:nvPr/>
        </p:nvSpPr>
        <p:spPr>
          <a:xfrm>
            <a:off x="502920" y="932688"/>
            <a:ext cx="9144000" cy="822960"/>
          </a:xfrm>
          <a:prstGeom prst="rect">
            <a:avLst/>
          </a:prstGeom>
          <a:noFill/>
          <a:ln/>
        </p:spPr>
        <p:txBody>
          <a:bodyPr wrap="square" lIns="0" tIns="0" rIns="0" bIns="0" rtlCol="0" anchor="ctr"/>
          <a:lstStyle/>
          <a:p>
            <a:pPr marL="0" indent="0">
              <a:buNone/>
            </a:pPr>
            <a:r>
              <a:rPr lang="en-US" sz="4000" b="1" dirty="0" err="1">
                <a:solidFill>
                  <a:srgbClr val="1E2A44"/>
                </a:solidFill>
                <a:latin typeface="Calibri" pitchFamily="34" charset="0"/>
                <a:ea typeface="Calibri" pitchFamily="34" charset="-122"/>
                <a:cs typeface="Calibri" pitchFamily="34" charset="-120"/>
              </a:rPr>
              <a:t>QuickSort</a:t>
            </a:r>
            <a:endParaRPr lang="en-US" sz="4000" dirty="0"/>
          </a:p>
        </p:txBody>
      </p:sp>
      <p:sp>
        <p:nvSpPr>
          <p:cNvPr id="4" name="Text 2"/>
          <p:cNvSpPr txBox="1"/>
          <p:nvPr/>
        </p:nvSpPr>
        <p:spPr>
          <a:xfrm>
            <a:off x="502920" y="1691640"/>
            <a:ext cx="9692640" cy="54864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Another divide-and-conquer recipe for sorting — this time, doing the hard work on the way down so there's nothing left to do on the way back up.</a:t>
            </a:r>
            <a:endParaRPr lang="en-US" sz="1500" dirty="0"/>
          </a:p>
        </p:txBody>
      </p:sp>
      <p:sp>
        <p:nvSpPr>
          <p:cNvPr id="5" name="Shape 3"/>
          <p:cNvSpPr/>
          <p:nvPr/>
        </p:nvSpPr>
        <p:spPr>
          <a:xfrm>
            <a:off x="502920" y="2606040"/>
            <a:ext cx="384048" cy="384048"/>
          </a:xfrm>
          <a:prstGeom prst="ellipse">
            <a:avLst/>
          </a:prstGeom>
          <a:solidFill>
            <a:srgbClr val="4472C4"/>
          </a:solidFill>
          <a:ln/>
        </p:spPr>
        <p:txBody>
          <a:bodyPr/>
          <a:lstStyle/>
          <a:p>
            <a:endParaRPr lang="en-US"/>
          </a:p>
        </p:txBody>
      </p:sp>
      <p:sp>
        <p:nvSpPr>
          <p:cNvPr id="6" name="Text 4"/>
          <p:cNvSpPr txBox="1"/>
          <p:nvPr/>
        </p:nvSpPr>
        <p:spPr>
          <a:xfrm>
            <a:off x="502920" y="260604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051560" y="2569464"/>
            <a:ext cx="45720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Choose a pivot</a:t>
            </a:r>
            <a:endParaRPr lang="en-US" sz="1500" dirty="0"/>
          </a:p>
        </p:txBody>
      </p:sp>
      <p:sp>
        <p:nvSpPr>
          <p:cNvPr id="8" name="Text 6"/>
          <p:cNvSpPr txBox="1"/>
          <p:nvPr/>
        </p:nvSpPr>
        <p:spPr>
          <a:xfrm>
            <a:off x="1051560" y="2862072"/>
            <a:ext cx="457200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Pick one element of the array to compare everything else against.</a:t>
            </a:r>
            <a:endParaRPr lang="en-US" sz="1300" dirty="0"/>
          </a:p>
        </p:txBody>
      </p:sp>
      <p:sp>
        <p:nvSpPr>
          <p:cNvPr id="9" name="Shape 7"/>
          <p:cNvSpPr/>
          <p:nvPr/>
        </p:nvSpPr>
        <p:spPr>
          <a:xfrm>
            <a:off x="502920" y="3429000"/>
            <a:ext cx="384048" cy="384048"/>
          </a:xfrm>
          <a:prstGeom prst="ellipse">
            <a:avLst/>
          </a:prstGeom>
          <a:solidFill>
            <a:srgbClr val="4472C4"/>
          </a:solidFill>
          <a:ln/>
        </p:spPr>
        <p:txBody>
          <a:bodyPr/>
          <a:lstStyle/>
          <a:p>
            <a:endParaRPr lang="en-US"/>
          </a:p>
        </p:txBody>
      </p:sp>
      <p:sp>
        <p:nvSpPr>
          <p:cNvPr id="10" name="Text 8"/>
          <p:cNvSpPr txBox="1"/>
          <p:nvPr/>
        </p:nvSpPr>
        <p:spPr>
          <a:xfrm>
            <a:off x="502920" y="342900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1051560" y="3392424"/>
            <a:ext cx="45720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Partition</a:t>
            </a:r>
            <a:endParaRPr lang="en-US" sz="1500" dirty="0"/>
          </a:p>
        </p:txBody>
      </p:sp>
      <p:sp>
        <p:nvSpPr>
          <p:cNvPr id="12" name="Text 10"/>
          <p:cNvSpPr txBox="1"/>
          <p:nvPr/>
        </p:nvSpPr>
        <p:spPr>
          <a:xfrm>
            <a:off x="1051560" y="3685032"/>
            <a:ext cx="457200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Rearrange the array in place: smaller than pivot on the left, larger on the right.</a:t>
            </a:r>
            <a:endParaRPr lang="en-US" sz="1300" dirty="0"/>
          </a:p>
        </p:txBody>
      </p:sp>
      <p:sp>
        <p:nvSpPr>
          <p:cNvPr id="13" name="Shape 11"/>
          <p:cNvSpPr/>
          <p:nvPr/>
        </p:nvSpPr>
        <p:spPr>
          <a:xfrm>
            <a:off x="502920" y="4251960"/>
            <a:ext cx="384048" cy="384048"/>
          </a:xfrm>
          <a:prstGeom prst="ellipse">
            <a:avLst/>
          </a:prstGeom>
          <a:solidFill>
            <a:srgbClr val="4472C4"/>
          </a:solidFill>
          <a:ln/>
        </p:spPr>
        <p:txBody>
          <a:bodyPr/>
          <a:lstStyle/>
          <a:p>
            <a:endParaRPr lang="en-US"/>
          </a:p>
        </p:txBody>
      </p:sp>
      <p:sp>
        <p:nvSpPr>
          <p:cNvPr id="14" name="Text 12"/>
          <p:cNvSpPr txBox="1"/>
          <p:nvPr/>
        </p:nvSpPr>
        <p:spPr>
          <a:xfrm>
            <a:off x="502920" y="4251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051560" y="4215384"/>
            <a:ext cx="45720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Recurse — no combine needed</a:t>
            </a:r>
            <a:endParaRPr lang="en-US" sz="1500" dirty="0"/>
          </a:p>
        </p:txBody>
      </p:sp>
      <p:sp>
        <p:nvSpPr>
          <p:cNvPr id="16" name="Text 14"/>
          <p:cNvSpPr txBox="1"/>
          <p:nvPr/>
        </p:nvSpPr>
        <p:spPr>
          <a:xfrm>
            <a:off x="1051560" y="4507992"/>
            <a:ext cx="457200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Sort each side independently. The pivot is already in its final position.</a:t>
            </a:r>
            <a:endParaRPr lang="en-US" sz="1300" dirty="0"/>
          </a:p>
        </p:txBody>
      </p:sp>
      <p:sp>
        <p:nvSpPr>
          <p:cNvPr id="17" name="Shape 15"/>
          <p:cNvSpPr/>
          <p:nvPr/>
        </p:nvSpPr>
        <p:spPr>
          <a:xfrm>
            <a:off x="6263640" y="2606040"/>
            <a:ext cx="5394960" cy="2148840"/>
          </a:xfrm>
          <a:prstGeom prst="roundRect">
            <a:avLst>
              <a:gd name="adj" fmla="val 3404"/>
            </a:avLst>
          </a:prstGeom>
          <a:solidFill>
            <a:srgbClr val="EEF3FC"/>
          </a:solidFill>
          <a:ln/>
        </p:spPr>
        <p:txBody>
          <a:bodyPr/>
          <a:lstStyle/>
          <a:p>
            <a:endParaRPr lang="en-US"/>
          </a:p>
        </p:txBody>
      </p:sp>
      <p:sp>
        <p:nvSpPr>
          <p:cNvPr id="18" name="Text 16"/>
          <p:cNvSpPr txBox="1"/>
          <p:nvPr/>
        </p:nvSpPr>
        <p:spPr>
          <a:xfrm>
            <a:off x="6537960" y="2788920"/>
            <a:ext cx="484632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Today's lecture</a:t>
            </a:r>
            <a:endParaRPr lang="en-US" sz="1300" dirty="0"/>
          </a:p>
        </p:txBody>
      </p:sp>
      <p:sp>
        <p:nvSpPr>
          <p:cNvPr id="19" name="Text 17"/>
          <p:cNvSpPr txBox="1"/>
          <p:nvPr/>
        </p:nvSpPr>
        <p:spPr>
          <a:xfrm>
            <a:off x="6537960" y="3108960"/>
            <a:ext cx="4846320" cy="155448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333F50"/>
                </a:solidFill>
                <a:latin typeface="Calibri" pitchFamily="34" charset="0"/>
                <a:ea typeface="Calibri" pitchFamily="34" charset="-122"/>
                <a:cs typeface="Calibri" pitchFamily="34" charset="-120"/>
              </a:rPr>
              <a:t>Where </a:t>
            </a:r>
            <a:r>
              <a:rPr lang="en-US" sz="1250" dirty="0" err="1">
                <a:solidFill>
                  <a:srgbClr val="333F50"/>
                </a:solidFill>
                <a:latin typeface="Calibri" pitchFamily="34" charset="0"/>
                <a:ea typeface="Calibri" pitchFamily="34" charset="-122"/>
                <a:cs typeface="Calibri" pitchFamily="34" charset="-120"/>
              </a:rPr>
              <a:t>MergeSort's</a:t>
            </a:r>
            <a:r>
              <a:rPr lang="en-US" sz="1250" dirty="0">
                <a:solidFill>
                  <a:srgbClr val="333F50"/>
                </a:solidFill>
                <a:latin typeface="Calibri" pitchFamily="34" charset="0"/>
                <a:ea typeface="Calibri" pitchFamily="34" charset="-122"/>
                <a:cs typeface="Calibri" pitchFamily="34" charset="-120"/>
              </a:rPr>
              <a:t> Θ(n) extra space costs us</a:t>
            </a:r>
            <a:endParaRPr lang="en-US" sz="1250" dirty="0"/>
          </a:p>
          <a:p>
            <a:pPr marL="177800" indent="-177800">
              <a:lnSpc>
                <a:spcPct val="115000"/>
              </a:lnSpc>
              <a:spcAft>
                <a:spcPts val="800"/>
              </a:spcAft>
              <a:buSzPct val="100000"/>
              <a:buChar char="•"/>
            </a:pPr>
            <a:r>
              <a:rPr lang="en-US" sz="1250" dirty="0">
                <a:solidFill>
                  <a:srgbClr val="333F50"/>
                </a:solidFill>
                <a:latin typeface="Calibri" pitchFamily="34" charset="0"/>
                <a:ea typeface="Calibri" pitchFamily="34" charset="-122"/>
                <a:cs typeface="Calibri" pitchFamily="34" charset="-120"/>
              </a:rPr>
              <a:t>Partitioning in place, and the pivot invariant</a:t>
            </a:r>
            <a:endParaRPr lang="en-US" sz="1250" dirty="0"/>
          </a:p>
          <a:p>
            <a:pPr marL="177800" indent="-177800">
              <a:lnSpc>
                <a:spcPct val="115000"/>
              </a:lnSpc>
              <a:spcAft>
                <a:spcPts val="800"/>
              </a:spcAft>
              <a:buSzPct val="100000"/>
              <a:buChar char="•"/>
            </a:pPr>
            <a:r>
              <a:rPr lang="en-US" sz="1250" dirty="0">
                <a:solidFill>
                  <a:srgbClr val="333F50"/>
                </a:solidFill>
                <a:latin typeface="Calibri" pitchFamily="34" charset="0"/>
                <a:ea typeface="Calibri" pitchFamily="34" charset="-122"/>
                <a:cs typeface="Calibri" pitchFamily="34" charset="-120"/>
              </a:rPr>
              <a:t>A worked example, by hand</a:t>
            </a:r>
            <a:endParaRPr lang="en-US" sz="1250" dirty="0"/>
          </a:p>
          <a:p>
            <a:pPr marL="177800" indent="-177800">
              <a:lnSpc>
                <a:spcPct val="115000"/>
              </a:lnSpc>
              <a:spcAft>
                <a:spcPts val="800"/>
              </a:spcAft>
              <a:buSzPct val="100000"/>
              <a:buChar char="•"/>
            </a:pPr>
            <a:r>
              <a:rPr lang="en-US" sz="1250" dirty="0">
                <a:solidFill>
                  <a:srgbClr val="333F50"/>
                </a:solidFill>
                <a:latin typeface="Calibri" pitchFamily="34" charset="0"/>
                <a:ea typeface="Calibri" pitchFamily="34" charset="-122"/>
                <a:cs typeface="Calibri" pitchFamily="34" charset="-120"/>
              </a:rPr>
              <a:t>Why a single bad pivot choice gives Θ(n²)</a:t>
            </a:r>
            <a:endParaRPr lang="en-US" sz="1250" dirty="0"/>
          </a:p>
          <a:p>
            <a:pPr marL="177800" indent="-177800">
              <a:lnSpc>
                <a:spcPct val="115000"/>
              </a:lnSpc>
              <a:spcAft>
                <a:spcPts val="800"/>
              </a:spcAft>
              <a:buSzPct val="100000"/>
              <a:buChar char="•"/>
            </a:pPr>
            <a:r>
              <a:rPr lang="en-US" sz="1250" dirty="0">
                <a:solidFill>
                  <a:srgbClr val="333F50"/>
                </a:solidFill>
                <a:latin typeface="Calibri" pitchFamily="34" charset="0"/>
                <a:ea typeface="Calibri" pitchFamily="34" charset="-122"/>
                <a:cs typeface="Calibri" pitchFamily="34" charset="-120"/>
              </a:rPr>
              <a:t>The randomized fix, and why it works</a:t>
            </a:r>
            <a:endParaRPr lang="en-US" sz="1250" dirty="0"/>
          </a:p>
        </p:txBody>
      </p:sp>
      <p:sp>
        <p:nvSpPr>
          <p:cNvPr id="20" name="Text 18"/>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21" name="Text 19"/>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RECAP</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Where </a:t>
            </a:r>
            <a:r>
              <a:rPr lang="en-US" sz="2800" b="1" dirty="0" err="1">
                <a:solidFill>
                  <a:srgbClr val="1E2A44"/>
                </a:solidFill>
                <a:latin typeface="Calibri" pitchFamily="34" charset="0"/>
                <a:ea typeface="Calibri" pitchFamily="34" charset="-122"/>
                <a:cs typeface="Calibri" pitchFamily="34" charset="-120"/>
              </a:rPr>
              <a:t>MergeSort</a:t>
            </a:r>
            <a:r>
              <a:rPr lang="en-US" sz="2800" b="1" dirty="0">
                <a:solidFill>
                  <a:srgbClr val="1E2A44"/>
                </a:solidFill>
                <a:latin typeface="Calibri" pitchFamily="34" charset="0"/>
                <a:ea typeface="Calibri" pitchFamily="34" charset="-122"/>
                <a:cs typeface="Calibri" pitchFamily="34" charset="-120"/>
              </a:rPr>
              <a:t> Falls Short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Θ(n log n) in every case is great — but that guarantee comes at a price.</a:t>
            </a:r>
            <a:endParaRPr lang="en-US" sz="1350" dirty="0"/>
          </a:p>
        </p:txBody>
      </p:sp>
      <p:sp>
        <p:nvSpPr>
          <p:cNvPr id="5" name="Shape 3"/>
          <p:cNvSpPr/>
          <p:nvPr/>
        </p:nvSpPr>
        <p:spPr>
          <a:xfrm>
            <a:off x="502920" y="1874520"/>
            <a:ext cx="5349240" cy="3749040"/>
          </a:xfrm>
          <a:prstGeom prst="roundRect">
            <a:avLst>
              <a:gd name="adj" fmla="val 1951"/>
            </a:avLst>
          </a:prstGeom>
          <a:solidFill>
            <a:srgbClr val="FBE4D5"/>
          </a:solidFill>
          <a:ln/>
        </p:spPr>
        <p:txBody>
          <a:bodyPr/>
          <a:lstStyle/>
          <a:p>
            <a:endParaRPr lang="en-US"/>
          </a:p>
        </p:txBody>
      </p:sp>
      <p:sp>
        <p:nvSpPr>
          <p:cNvPr id="6" name="Text 4"/>
          <p:cNvSpPr txBox="1"/>
          <p:nvPr/>
        </p:nvSpPr>
        <p:spPr>
          <a:xfrm>
            <a:off x="777240" y="2084832"/>
            <a:ext cx="4800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The cost of </a:t>
            </a:r>
            <a:r>
              <a:rPr lang="en-US" sz="1500" b="1" dirty="0" err="1">
                <a:solidFill>
                  <a:srgbClr val="1E2A44"/>
                </a:solidFill>
                <a:latin typeface="Calibri" pitchFamily="34" charset="0"/>
                <a:ea typeface="Calibri" pitchFamily="34" charset="-122"/>
                <a:cs typeface="Calibri" pitchFamily="34" charset="-120"/>
              </a:rPr>
              <a:t>MergeSort</a:t>
            </a:r>
            <a:endParaRPr lang="en-US" sz="1500" dirty="0"/>
          </a:p>
        </p:txBody>
      </p:sp>
      <p:sp>
        <p:nvSpPr>
          <p:cNvPr id="7" name="Text 5"/>
          <p:cNvSpPr txBox="1"/>
          <p:nvPr/>
        </p:nvSpPr>
        <p:spPr>
          <a:xfrm>
            <a:off x="777240" y="2450592"/>
            <a:ext cx="4800600" cy="301752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300" dirty="0">
                <a:solidFill>
                  <a:srgbClr val="333F50"/>
                </a:solidFill>
                <a:latin typeface="Calibri" pitchFamily="34" charset="0"/>
                <a:ea typeface="Calibri" pitchFamily="34" charset="-122"/>
                <a:cs typeface="Calibri" pitchFamily="34" charset="-120"/>
              </a:rPr>
              <a:t>Merge needs a </a:t>
            </a:r>
            <a:r>
              <a:rPr lang="en-US" sz="1300" b="1" dirty="0">
                <a:solidFill>
                  <a:srgbClr val="333F50"/>
                </a:solidFill>
                <a:latin typeface="Calibri" pitchFamily="34" charset="0"/>
                <a:ea typeface="Calibri" pitchFamily="34" charset="-122"/>
                <a:cs typeface="Calibri" pitchFamily="34" charset="-120"/>
              </a:rPr>
              <a:t>Θ(n)-size auxiliary array at every level </a:t>
            </a:r>
            <a:r>
              <a:rPr lang="en-US" sz="1300" dirty="0">
                <a:solidFill>
                  <a:srgbClr val="333F50"/>
                </a:solidFill>
                <a:latin typeface="Calibri" pitchFamily="34" charset="0"/>
                <a:ea typeface="Calibri" pitchFamily="34" charset="-122"/>
                <a:cs typeface="Calibri" pitchFamily="34" charset="-120"/>
              </a:rPr>
              <a:t>— it is not in place.</a:t>
            </a:r>
            <a:endParaRPr lang="en-US" sz="1300" dirty="0"/>
          </a:p>
          <a:p>
            <a:pPr marL="177800" indent="-177800">
              <a:lnSpc>
                <a:spcPct val="115000"/>
              </a:lnSpc>
              <a:spcAft>
                <a:spcPts val="1200"/>
              </a:spcAft>
              <a:buSzPct val="100000"/>
              <a:buChar char="•"/>
            </a:pPr>
            <a:r>
              <a:rPr lang="en-US" sz="1300" dirty="0">
                <a:solidFill>
                  <a:srgbClr val="333F50"/>
                </a:solidFill>
                <a:latin typeface="Calibri" pitchFamily="34" charset="0"/>
                <a:ea typeface="Calibri" pitchFamily="34" charset="-122"/>
                <a:cs typeface="Calibri" pitchFamily="34" charset="-120"/>
              </a:rPr>
              <a:t>Allocating and copying into that buffer has a real, measurable constant-factor cost.</a:t>
            </a:r>
            <a:endParaRPr lang="en-US" sz="1300" dirty="0"/>
          </a:p>
          <a:p>
            <a:pPr marL="177800" indent="-177800">
              <a:lnSpc>
                <a:spcPct val="115000"/>
              </a:lnSpc>
              <a:spcAft>
                <a:spcPts val="1200"/>
              </a:spcAft>
              <a:buSzPct val="100000"/>
              <a:buChar char="•"/>
            </a:pPr>
            <a:r>
              <a:rPr lang="en-US" sz="1300" dirty="0">
                <a:solidFill>
                  <a:srgbClr val="333F50"/>
                </a:solidFill>
                <a:latin typeface="Calibri" pitchFamily="34" charset="0"/>
                <a:ea typeface="Calibri" pitchFamily="34" charset="-122"/>
                <a:cs typeface="Calibri" pitchFamily="34" charset="-120"/>
              </a:rPr>
              <a:t>Extra memory traffic means more cache misses — the asymptotics look clean, but the wall-clock time isn't free.</a:t>
            </a:r>
            <a:endParaRPr lang="en-US" sz="1300" dirty="0"/>
          </a:p>
        </p:txBody>
      </p:sp>
      <p:sp>
        <p:nvSpPr>
          <p:cNvPr id="8" name="Shape 6"/>
          <p:cNvSpPr/>
          <p:nvPr/>
        </p:nvSpPr>
        <p:spPr>
          <a:xfrm>
            <a:off x="6309360" y="1874520"/>
            <a:ext cx="5349240" cy="3749040"/>
          </a:xfrm>
          <a:prstGeom prst="roundRect">
            <a:avLst>
              <a:gd name="adj" fmla="val 1951"/>
            </a:avLst>
          </a:prstGeom>
          <a:solidFill>
            <a:srgbClr val="EEF3FC"/>
          </a:solidFill>
          <a:ln/>
        </p:spPr>
        <p:txBody>
          <a:bodyPr/>
          <a:lstStyle/>
          <a:p>
            <a:endParaRPr lang="en-US"/>
          </a:p>
        </p:txBody>
      </p:sp>
      <p:sp>
        <p:nvSpPr>
          <p:cNvPr id="9" name="Text 7"/>
          <p:cNvSpPr txBox="1"/>
          <p:nvPr/>
        </p:nvSpPr>
        <p:spPr>
          <a:xfrm>
            <a:off x="6583680" y="2084832"/>
            <a:ext cx="4800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What </a:t>
            </a:r>
            <a:r>
              <a:rPr lang="en-US" sz="1500" b="1" dirty="0" err="1">
                <a:solidFill>
                  <a:srgbClr val="1E2A44"/>
                </a:solidFill>
                <a:latin typeface="Calibri" pitchFamily="34" charset="0"/>
                <a:ea typeface="Calibri" pitchFamily="34" charset="-122"/>
                <a:cs typeface="Calibri" pitchFamily="34" charset="-120"/>
              </a:rPr>
              <a:t>QuickSort</a:t>
            </a:r>
            <a:r>
              <a:rPr lang="en-US" sz="1500" b="1" dirty="0">
                <a:solidFill>
                  <a:srgbClr val="1E2A44"/>
                </a:solidFill>
                <a:latin typeface="Calibri" pitchFamily="34" charset="0"/>
                <a:ea typeface="Calibri" pitchFamily="34" charset="-122"/>
                <a:cs typeface="Calibri" pitchFamily="34" charset="-120"/>
              </a:rPr>
              <a:t> promises</a:t>
            </a:r>
            <a:endParaRPr lang="en-US" sz="1500" dirty="0"/>
          </a:p>
        </p:txBody>
      </p:sp>
      <p:sp>
        <p:nvSpPr>
          <p:cNvPr id="10" name="Text 8"/>
          <p:cNvSpPr txBox="1"/>
          <p:nvPr/>
        </p:nvSpPr>
        <p:spPr>
          <a:xfrm>
            <a:off x="6583680" y="2450592"/>
            <a:ext cx="4800600" cy="301752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300" dirty="0">
                <a:solidFill>
                  <a:srgbClr val="333F50"/>
                </a:solidFill>
                <a:latin typeface="Calibri" pitchFamily="34" charset="0"/>
                <a:ea typeface="Calibri" pitchFamily="34" charset="-122"/>
                <a:cs typeface="Calibri" pitchFamily="34" charset="-120"/>
              </a:rPr>
              <a:t>Sorts the array in place — </a:t>
            </a:r>
            <a:r>
              <a:rPr lang="en-US" sz="1300" b="1" dirty="0">
                <a:solidFill>
                  <a:srgbClr val="333F50"/>
                </a:solidFill>
                <a:latin typeface="Calibri" pitchFamily="34" charset="0"/>
                <a:ea typeface="Calibri" pitchFamily="34" charset="-122"/>
                <a:cs typeface="Calibri" pitchFamily="34" charset="-120"/>
              </a:rPr>
              <a:t>only O(log n) extra space for the recursion, no second array.</a:t>
            </a:r>
            <a:endParaRPr lang="en-US" sz="1300" b="1" dirty="0"/>
          </a:p>
          <a:p>
            <a:pPr marL="177800" indent="-177800">
              <a:lnSpc>
                <a:spcPct val="115000"/>
              </a:lnSpc>
              <a:spcAft>
                <a:spcPts val="1200"/>
              </a:spcAft>
              <a:buSzPct val="100000"/>
              <a:buChar char="•"/>
            </a:pPr>
            <a:r>
              <a:rPr lang="en-US" sz="1300" dirty="0">
                <a:solidFill>
                  <a:srgbClr val="333F50"/>
                </a:solidFill>
                <a:latin typeface="Calibri" pitchFamily="34" charset="0"/>
                <a:ea typeface="Calibri" pitchFamily="34" charset="-122"/>
                <a:cs typeface="Calibri" pitchFamily="34" charset="-120"/>
              </a:rPr>
              <a:t>Same Θ(n log n) shape, on average, as Merge Sort.</a:t>
            </a:r>
            <a:endParaRPr lang="en-US" sz="1300" dirty="0"/>
          </a:p>
          <a:p>
            <a:pPr marL="177800" indent="-177800">
              <a:lnSpc>
                <a:spcPct val="115000"/>
              </a:lnSpc>
              <a:spcAft>
                <a:spcPts val="1200"/>
              </a:spcAft>
              <a:buSzPct val="100000"/>
              <a:buChar char="•"/>
            </a:pPr>
            <a:r>
              <a:rPr lang="en-US" sz="1300" dirty="0">
                <a:solidFill>
                  <a:srgbClr val="333F50"/>
                </a:solidFill>
                <a:latin typeface="Calibri" pitchFamily="34" charset="0"/>
                <a:ea typeface="Calibri" pitchFamily="34" charset="-122"/>
                <a:cs typeface="Calibri" pitchFamily="34" charset="-120"/>
              </a:rPr>
              <a:t>Smaller constants in practice: fewer allocations, better cache locality — often faster despite matching asymptotics.</a:t>
            </a:r>
            <a:endParaRPr lang="en-US" sz="1300" dirty="0"/>
          </a:p>
        </p:txBody>
      </p:sp>
      <p:sp>
        <p:nvSpPr>
          <p:cNvPr id="11" name="Text 9"/>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2" name="Text 1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The Big Idea: Do the Work on the Way Down</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Quicksort keeps the three-step recipe, but moves the effort to a different step.</a:t>
            </a:r>
            <a:endParaRPr lang="en-US" sz="1350" dirty="0"/>
          </a:p>
        </p:txBody>
      </p:sp>
      <p:sp>
        <p:nvSpPr>
          <p:cNvPr id="5" name="Text 3"/>
          <p:cNvSpPr txBox="1"/>
          <p:nvPr/>
        </p:nvSpPr>
        <p:spPr>
          <a:xfrm>
            <a:off x="502920" y="1636776"/>
            <a:ext cx="365760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Merge Sort</a:t>
            </a:r>
            <a:endParaRPr lang="en-US" sz="1300" dirty="0"/>
          </a:p>
        </p:txBody>
      </p:sp>
      <p:sp>
        <p:nvSpPr>
          <p:cNvPr id="6" name="Shape 4"/>
          <p:cNvSpPr/>
          <p:nvPr/>
        </p:nvSpPr>
        <p:spPr>
          <a:xfrm>
            <a:off x="502920" y="1965960"/>
            <a:ext cx="3246120" cy="1234440"/>
          </a:xfrm>
          <a:prstGeom prst="roundRect">
            <a:avLst>
              <a:gd name="adj" fmla="val 5926"/>
            </a:avLst>
          </a:prstGeom>
          <a:solidFill>
            <a:srgbClr val="EEF3FC"/>
          </a:solidFill>
          <a:ln/>
        </p:spPr>
        <p:txBody>
          <a:bodyPr/>
          <a:lstStyle/>
          <a:p>
            <a:endParaRPr lang="en-US"/>
          </a:p>
        </p:txBody>
      </p:sp>
      <p:sp>
        <p:nvSpPr>
          <p:cNvPr id="7" name="Text 5"/>
          <p:cNvSpPr txBox="1"/>
          <p:nvPr/>
        </p:nvSpPr>
        <p:spPr>
          <a:xfrm>
            <a:off x="685800" y="2075688"/>
            <a:ext cx="288036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Divide — trivial</a:t>
            </a:r>
            <a:endParaRPr lang="en-US" sz="1300" dirty="0"/>
          </a:p>
        </p:txBody>
      </p:sp>
      <p:sp>
        <p:nvSpPr>
          <p:cNvPr id="8" name="Text 6"/>
          <p:cNvSpPr txBox="1"/>
          <p:nvPr/>
        </p:nvSpPr>
        <p:spPr>
          <a:xfrm>
            <a:off x="685800" y="2386584"/>
            <a:ext cx="2880360" cy="722376"/>
          </a:xfrm>
          <a:prstGeom prst="rect">
            <a:avLst/>
          </a:prstGeom>
          <a:noFill/>
          <a:ln/>
        </p:spPr>
        <p:txBody>
          <a:bodyPr wrap="square" lIns="0" tIns="0" rIns="0" bIns="0" rtlCol="0" anchor="t"/>
          <a:lstStyle/>
          <a:p>
            <a:pPr marL="0" indent="0">
              <a:lnSpc>
                <a:spcPct val="110000"/>
              </a:lnSpc>
              <a:buNone/>
            </a:pPr>
            <a:r>
              <a:rPr lang="en-US" sz="1100" dirty="0">
                <a:solidFill>
                  <a:srgbClr val="333F50"/>
                </a:solidFill>
                <a:latin typeface="Calibri" pitchFamily="34" charset="0"/>
                <a:ea typeface="Calibri" pitchFamily="34" charset="-122"/>
                <a:cs typeface="Calibri" pitchFamily="34" charset="-120"/>
              </a:rPr>
              <a:t>Split at the midpoint. No comparisons needed.</a:t>
            </a:r>
            <a:endParaRPr lang="en-US" sz="1100" dirty="0"/>
          </a:p>
        </p:txBody>
      </p:sp>
      <p:sp>
        <p:nvSpPr>
          <p:cNvPr id="9" name="Text 7"/>
          <p:cNvSpPr txBox="1"/>
          <p:nvPr/>
        </p:nvSpPr>
        <p:spPr>
          <a:xfrm>
            <a:off x="3749040" y="1965960"/>
            <a:ext cx="256032" cy="1234440"/>
          </a:xfrm>
          <a:prstGeom prst="rect">
            <a:avLst/>
          </a:prstGeom>
          <a:noFill/>
          <a:ln/>
        </p:spPr>
        <p:txBody>
          <a:bodyPr wrap="square" lIns="0" tIns="0" rIns="0" bIns="0" rtlCol="0" anchor="ctr"/>
          <a:lstStyle/>
          <a:p>
            <a:pPr marL="0" indent="0" algn="ctr">
              <a:buNone/>
            </a:pPr>
            <a:r>
              <a:rPr lang="en-US" sz="2000" b="1" dirty="0">
                <a:solidFill>
                  <a:srgbClr val="595959"/>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005072" y="1965960"/>
            <a:ext cx="3246120" cy="1234440"/>
          </a:xfrm>
          <a:prstGeom prst="roundRect">
            <a:avLst>
              <a:gd name="adj" fmla="val 5926"/>
            </a:avLst>
          </a:prstGeom>
          <a:solidFill>
            <a:srgbClr val="F4F5F7"/>
          </a:solidFill>
          <a:ln/>
        </p:spPr>
        <p:txBody>
          <a:bodyPr/>
          <a:lstStyle/>
          <a:p>
            <a:endParaRPr lang="en-US"/>
          </a:p>
        </p:txBody>
      </p:sp>
      <p:sp>
        <p:nvSpPr>
          <p:cNvPr id="11" name="Text 9"/>
          <p:cNvSpPr txBox="1"/>
          <p:nvPr/>
        </p:nvSpPr>
        <p:spPr>
          <a:xfrm>
            <a:off x="4187952" y="2075688"/>
            <a:ext cx="288036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Conquer</a:t>
            </a:r>
            <a:endParaRPr lang="en-US" sz="1300" dirty="0"/>
          </a:p>
        </p:txBody>
      </p:sp>
      <p:sp>
        <p:nvSpPr>
          <p:cNvPr id="12" name="Text 10"/>
          <p:cNvSpPr txBox="1"/>
          <p:nvPr/>
        </p:nvSpPr>
        <p:spPr>
          <a:xfrm>
            <a:off x="4187952" y="2386584"/>
            <a:ext cx="2880360" cy="722376"/>
          </a:xfrm>
          <a:prstGeom prst="rect">
            <a:avLst/>
          </a:prstGeom>
          <a:noFill/>
          <a:ln/>
        </p:spPr>
        <p:txBody>
          <a:bodyPr wrap="square" lIns="0" tIns="0" rIns="0" bIns="0" rtlCol="0" anchor="t"/>
          <a:lstStyle/>
          <a:p>
            <a:pPr marL="0" indent="0">
              <a:lnSpc>
                <a:spcPct val="110000"/>
              </a:lnSpc>
              <a:buNone/>
            </a:pPr>
            <a:r>
              <a:rPr lang="en-US" sz="1100" dirty="0">
                <a:solidFill>
                  <a:srgbClr val="333F50"/>
                </a:solidFill>
                <a:latin typeface="Calibri" pitchFamily="34" charset="0"/>
                <a:ea typeface="Calibri" pitchFamily="34" charset="-122"/>
                <a:cs typeface="Calibri" pitchFamily="34" charset="-120"/>
              </a:rPr>
              <a:t>Recursively sort each half.</a:t>
            </a:r>
            <a:endParaRPr lang="en-US" sz="1100" dirty="0"/>
          </a:p>
        </p:txBody>
      </p:sp>
      <p:sp>
        <p:nvSpPr>
          <p:cNvPr id="13" name="Text 11"/>
          <p:cNvSpPr txBox="1"/>
          <p:nvPr/>
        </p:nvSpPr>
        <p:spPr>
          <a:xfrm>
            <a:off x="7251192" y="1965960"/>
            <a:ext cx="256032" cy="1234440"/>
          </a:xfrm>
          <a:prstGeom prst="rect">
            <a:avLst/>
          </a:prstGeom>
          <a:noFill/>
          <a:ln/>
        </p:spPr>
        <p:txBody>
          <a:bodyPr wrap="square" lIns="0" tIns="0" rIns="0" bIns="0" rtlCol="0" anchor="ctr"/>
          <a:lstStyle/>
          <a:p>
            <a:pPr marL="0" indent="0" algn="ctr">
              <a:buNone/>
            </a:pPr>
            <a:r>
              <a:rPr lang="en-US" sz="2000" b="1" dirty="0">
                <a:solidFill>
                  <a:srgbClr val="595959"/>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7507224" y="1965960"/>
            <a:ext cx="3246120" cy="1234440"/>
          </a:xfrm>
          <a:prstGeom prst="roundRect">
            <a:avLst>
              <a:gd name="adj" fmla="val 5926"/>
            </a:avLst>
          </a:prstGeom>
          <a:solidFill>
            <a:srgbClr val="FBE4D5"/>
          </a:solidFill>
          <a:ln/>
        </p:spPr>
        <p:txBody>
          <a:bodyPr/>
          <a:lstStyle/>
          <a:p>
            <a:endParaRPr lang="en-US"/>
          </a:p>
        </p:txBody>
      </p:sp>
      <p:sp>
        <p:nvSpPr>
          <p:cNvPr id="15" name="Text 13"/>
          <p:cNvSpPr txBox="1"/>
          <p:nvPr/>
        </p:nvSpPr>
        <p:spPr>
          <a:xfrm>
            <a:off x="7690104" y="2075688"/>
            <a:ext cx="288036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Combine — the hard part</a:t>
            </a:r>
            <a:endParaRPr lang="en-US" sz="1300" dirty="0"/>
          </a:p>
        </p:txBody>
      </p:sp>
      <p:sp>
        <p:nvSpPr>
          <p:cNvPr id="16" name="Text 14"/>
          <p:cNvSpPr txBox="1"/>
          <p:nvPr/>
        </p:nvSpPr>
        <p:spPr>
          <a:xfrm>
            <a:off x="7690104" y="2386584"/>
            <a:ext cx="2880360" cy="722376"/>
          </a:xfrm>
          <a:prstGeom prst="rect">
            <a:avLst/>
          </a:prstGeom>
          <a:noFill/>
          <a:ln/>
        </p:spPr>
        <p:txBody>
          <a:bodyPr wrap="square" lIns="0" tIns="0" rIns="0" bIns="0" rtlCol="0" anchor="t"/>
          <a:lstStyle/>
          <a:p>
            <a:pPr marL="0" indent="0">
              <a:lnSpc>
                <a:spcPct val="110000"/>
              </a:lnSpc>
              <a:buNone/>
            </a:pPr>
            <a:r>
              <a:rPr lang="en-US" sz="1100" dirty="0">
                <a:solidFill>
                  <a:srgbClr val="333F50"/>
                </a:solidFill>
                <a:latin typeface="Calibri" pitchFamily="34" charset="0"/>
                <a:ea typeface="Calibri" pitchFamily="34" charset="-122"/>
                <a:cs typeface="Calibri" pitchFamily="34" charset="-120"/>
              </a:rPr>
              <a:t>Θ(n) merge: walk both halves and interleave in order.</a:t>
            </a:r>
            <a:endParaRPr lang="en-US" sz="1100" dirty="0"/>
          </a:p>
        </p:txBody>
      </p:sp>
      <p:sp>
        <p:nvSpPr>
          <p:cNvPr id="17" name="Text 15"/>
          <p:cNvSpPr txBox="1"/>
          <p:nvPr/>
        </p:nvSpPr>
        <p:spPr>
          <a:xfrm>
            <a:off x="502920" y="3191256"/>
            <a:ext cx="365760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Quick Sort</a:t>
            </a:r>
            <a:endParaRPr lang="en-US" sz="1300" dirty="0"/>
          </a:p>
        </p:txBody>
      </p:sp>
      <p:sp>
        <p:nvSpPr>
          <p:cNvPr id="18" name="Shape 16"/>
          <p:cNvSpPr/>
          <p:nvPr/>
        </p:nvSpPr>
        <p:spPr>
          <a:xfrm>
            <a:off x="502920" y="3520440"/>
            <a:ext cx="3246120" cy="1234440"/>
          </a:xfrm>
          <a:prstGeom prst="roundRect">
            <a:avLst>
              <a:gd name="adj" fmla="val 5926"/>
            </a:avLst>
          </a:prstGeom>
          <a:solidFill>
            <a:srgbClr val="FBE4D5"/>
          </a:solidFill>
          <a:ln/>
        </p:spPr>
        <p:txBody>
          <a:bodyPr/>
          <a:lstStyle/>
          <a:p>
            <a:endParaRPr lang="en-US"/>
          </a:p>
        </p:txBody>
      </p:sp>
      <p:sp>
        <p:nvSpPr>
          <p:cNvPr id="19" name="Text 17"/>
          <p:cNvSpPr txBox="1"/>
          <p:nvPr/>
        </p:nvSpPr>
        <p:spPr>
          <a:xfrm>
            <a:off x="685800" y="3630168"/>
            <a:ext cx="288036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Divide — the hard part</a:t>
            </a:r>
            <a:endParaRPr lang="en-US" sz="1300" dirty="0"/>
          </a:p>
        </p:txBody>
      </p:sp>
      <p:sp>
        <p:nvSpPr>
          <p:cNvPr id="20" name="Text 18"/>
          <p:cNvSpPr txBox="1"/>
          <p:nvPr/>
        </p:nvSpPr>
        <p:spPr>
          <a:xfrm>
            <a:off x="685800" y="3941064"/>
            <a:ext cx="2880360" cy="722376"/>
          </a:xfrm>
          <a:prstGeom prst="rect">
            <a:avLst/>
          </a:prstGeom>
          <a:noFill/>
          <a:ln/>
        </p:spPr>
        <p:txBody>
          <a:bodyPr wrap="square" lIns="0" tIns="0" rIns="0" bIns="0" rtlCol="0" anchor="t"/>
          <a:lstStyle/>
          <a:p>
            <a:pPr marL="0" indent="0">
              <a:lnSpc>
                <a:spcPct val="110000"/>
              </a:lnSpc>
              <a:buNone/>
            </a:pPr>
            <a:r>
              <a:rPr lang="en-US" sz="1100" dirty="0">
                <a:solidFill>
                  <a:srgbClr val="333F50"/>
                </a:solidFill>
                <a:latin typeface="Calibri" pitchFamily="34" charset="0"/>
                <a:ea typeface="Calibri" pitchFamily="34" charset="-122"/>
                <a:cs typeface="Calibri" pitchFamily="34" charset="-120"/>
              </a:rPr>
              <a:t>Θ(n) partition: rearrange around a pivot.</a:t>
            </a:r>
            <a:endParaRPr lang="en-US" sz="1100" dirty="0"/>
          </a:p>
        </p:txBody>
      </p:sp>
      <p:sp>
        <p:nvSpPr>
          <p:cNvPr id="21" name="Text 19"/>
          <p:cNvSpPr txBox="1"/>
          <p:nvPr/>
        </p:nvSpPr>
        <p:spPr>
          <a:xfrm>
            <a:off x="3749040" y="3520440"/>
            <a:ext cx="256032" cy="1234440"/>
          </a:xfrm>
          <a:prstGeom prst="rect">
            <a:avLst/>
          </a:prstGeom>
          <a:noFill/>
          <a:ln/>
        </p:spPr>
        <p:txBody>
          <a:bodyPr wrap="square" lIns="0" tIns="0" rIns="0" bIns="0" rtlCol="0" anchor="ctr"/>
          <a:lstStyle/>
          <a:p>
            <a:pPr marL="0" indent="0" algn="ctr">
              <a:buNone/>
            </a:pPr>
            <a:r>
              <a:rPr lang="en-US" sz="2000" b="1" dirty="0">
                <a:solidFill>
                  <a:srgbClr val="595959"/>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4005072" y="3520440"/>
            <a:ext cx="3246120" cy="1234440"/>
          </a:xfrm>
          <a:prstGeom prst="roundRect">
            <a:avLst>
              <a:gd name="adj" fmla="val 5926"/>
            </a:avLst>
          </a:prstGeom>
          <a:solidFill>
            <a:srgbClr val="F4F5F7"/>
          </a:solidFill>
          <a:ln/>
        </p:spPr>
        <p:txBody>
          <a:bodyPr/>
          <a:lstStyle/>
          <a:p>
            <a:endParaRPr lang="en-US"/>
          </a:p>
        </p:txBody>
      </p:sp>
      <p:sp>
        <p:nvSpPr>
          <p:cNvPr id="23" name="Text 21"/>
          <p:cNvSpPr txBox="1"/>
          <p:nvPr/>
        </p:nvSpPr>
        <p:spPr>
          <a:xfrm>
            <a:off x="4187952" y="3630168"/>
            <a:ext cx="288036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Conquer</a:t>
            </a:r>
            <a:endParaRPr lang="en-US" sz="1300" dirty="0"/>
          </a:p>
        </p:txBody>
      </p:sp>
      <p:sp>
        <p:nvSpPr>
          <p:cNvPr id="24" name="Text 22"/>
          <p:cNvSpPr txBox="1"/>
          <p:nvPr/>
        </p:nvSpPr>
        <p:spPr>
          <a:xfrm>
            <a:off x="4187952" y="3941064"/>
            <a:ext cx="2880360" cy="722376"/>
          </a:xfrm>
          <a:prstGeom prst="rect">
            <a:avLst/>
          </a:prstGeom>
          <a:noFill/>
          <a:ln/>
        </p:spPr>
        <p:txBody>
          <a:bodyPr wrap="square" lIns="0" tIns="0" rIns="0" bIns="0" rtlCol="0" anchor="t"/>
          <a:lstStyle/>
          <a:p>
            <a:pPr marL="0" indent="0">
              <a:lnSpc>
                <a:spcPct val="110000"/>
              </a:lnSpc>
              <a:buNone/>
            </a:pPr>
            <a:r>
              <a:rPr lang="en-US" sz="1100" dirty="0">
                <a:solidFill>
                  <a:srgbClr val="333F50"/>
                </a:solidFill>
                <a:latin typeface="Calibri" pitchFamily="34" charset="0"/>
                <a:ea typeface="Calibri" pitchFamily="34" charset="-122"/>
                <a:cs typeface="Calibri" pitchFamily="34" charset="-120"/>
              </a:rPr>
              <a:t>Recursively sort each side.</a:t>
            </a:r>
            <a:endParaRPr lang="en-US" sz="1100" dirty="0"/>
          </a:p>
        </p:txBody>
      </p:sp>
      <p:sp>
        <p:nvSpPr>
          <p:cNvPr id="25" name="Text 23"/>
          <p:cNvSpPr txBox="1"/>
          <p:nvPr/>
        </p:nvSpPr>
        <p:spPr>
          <a:xfrm>
            <a:off x="7251192" y="3520440"/>
            <a:ext cx="256032" cy="1234440"/>
          </a:xfrm>
          <a:prstGeom prst="rect">
            <a:avLst/>
          </a:prstGeom>
          <a:noFill/>
          <a:ln/>
        </p:spPr>
        <p:txBody>
          <a:bodyPr wrap="square" lIns="0" tIns="0" rIns="0" bIns="0" rtlCol="0" anchor="ctr"/>
          <a:lstStyle/>
          <a:p>
            <a:pPr marL="0" indent="0" algn="ctr">
              <a:buNone/>
            </a:pPr>
            <a:r>
              <a:rPr lang="en-US" sz="2000" b="1" dirty="0">
                <a:solidFill>
                  <a:srgbClr val="595959"/>
                </a:solidFill>
                <a:latin typeface="Calibri" pitchFamily="34" charset="0"/>
                <a:ea typeface="Calibri" pitchFamily="34" charset="-122"/>
                <a:cs typeface="Calibri" pitchFamily="34" charset="-120"/>
              </a:rPr>
              <a:t>→</a:t>
            </a:r>
            <a:endParaRPr lang="en-US" sz="2000" dirty="0"/>
          </a:p>
        </p:txBody>
      </p:sp>
      <p:sp>
        <p:nvSpPr>
          <p:cNvPr id="26" name="Shape 24"/>
          <p:cNvSpPr/>
          <p:nvPr/>
        </p:nvSpPr>
        <p:spPr>
          <a:xfrm>
            <a:off x="7507224" y="3520440"/>
            <a:ext cx="3246120" cy="1234440"/>
          </a:xfrm>
          <a:prstGeom prst="roundRect">
            <a:avLst>
              <a:gd name="adj" fmla="val 5926"/>
            </a:avLst>
          </a:prstGeom>
          <a:solidFill>
            <a:srgbClr val="EEF3FC"/>
          </a:solidFill>
          <a:ln/>
        </p:spPr>
        <p:txBody>
          <a:bodyPr/>
          <a:lstStyle/>
          <a:p>
            <a:endParaRPr lang="en-US"/>
          </a:p>
        </p:txBody>
      </p:sp>
      <p:sp>
        <p:nvSpPr>
          <p:cNvPr id="27" name="Text 25"/>
          <p:cNvSpPr txBox="1"/>
          <p:nvPr/>
        </p:nvSpPr>
        <p:spPr>
          <a:xfrm>
            <a:off x="7690104" y="3630168"/>
            <a:ext cx="288036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Combine — free!</a:t>
            </a:r>
            <a:endParaRPr lang="en-US" sz="1300" dirty="0"/>
          </a:p>
        </p:txBody>
      </p:sp>
      <p:sp>
        <p:nvSpPr>
          <p:cNvPr id="28" name="Text 26"/>
          <p:cNvSpPr txBox="1"/>
          <p:nvPr/>
        </p:nvSpPr>
        <p:spPr>
          <a:xfrm>
            <a:off x="7690104" y="3941064"/>
            <a:ext cx="2880360" cy="722376"/>
          </a:xfrm>
          <a:prstGeom prst="rect">
            <a:avLst/>
          </a:prstGeom>
          <a:noFill/>
          <a:ln/>
        </p:spPr>
        <p:txBody>
          <a:bodyPr wrap="square" lIns="0" tIns="0" rIns="0" bIns="0" rtlCol="0" anchor="t"/>
          <a:lstStyle/>
          <a:p>
            <a:pPr marL="0" indent="0">
              <a:lnSpc>
                <a:spcPct val="110000"/>
              </a:lnSpc>
              <a:buNone/>
            </a:pPr>
            <a:r>
              <a:rPr lang="en-US" sz="1100" dirty="0">
                <a:solidFill>
                  <a:srgbClr val="333F50"/>
                </a:solidFill>
                <a:latin typeface="Calibri" pitchFamily="34" charset="0"/>
                <a:ea typeface="Calibri" pitchFamily="34" charset="-122"/>
                <a:cs typeface="Calibri" pitchFamily="34" charset="-120"/>
              </a:rPr>
              <a:t>Nothing to do — the array is already in final order.</a:t>
            </a:r>
            <a:endParaRPr lang="en-US" sz="1100" dirty="0"/>
          </a:p>
        </p:txBody>
      </p:sp>
      <p:sp>
        <p:nvSpPr>
          <p:cNvPr id="29" name="Shape 27"/>
          <p:cNvSpPr/>
          <p:nvPr/>
        </p:nvSpPr>
        <p:spPr>
          <a:xfrm>
            <a:off x="502920" y="5166360"/>
            <a:ext cx="11183112" cy="960120"/>
          </a:xfrm>
          <a:prstGeom prst="roundRect">
            <a:avLst>
              <a:gd name="adj" fmla="val 5714"/>
            </a:avLst>
          </a:prstGeom>
          <a:solidFill>
            <a:srgbClr val="F4F5F7"/>
          </a:solidFill>
          <a:ln/>
        </p:spPr>
        <p:txBody>
          <a:bodyPr/>
          <a:lstStyle/>
          <a:p>
            <a:endParaRPr lang="en-US"/>
          </a:p>
        </p:txBody>
      </p:sp>
      <p:sp>
        <p:nvSpPr>
          <p:cNvPr id="30" name="Text 28"/>
          <p:cNvSpPr txBox="1"/>
          <p:nvPr/>
        </p:nvSpPr>
        <p:spPr>
          <a:xfrm>
            <a:off x="758952" y="531266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Key insight</a:t>
            </a:r>
            <a:endParaRPr lang="en-US" sz="1200" dirty="0"/>
          </a:p>
        </p:txBody>
      </p:sp>
      <p:sp>
        <p:nvSpPr>
          <p:cNvPr id="31" name="Text 29"/>
          <p:cNvSpPr txBox="1"/>
          <p:nvPr/>
        </p:nvSpPr>
        <p:spPr>
          <a:xfrm>
            <a:off x="758952" y="5605272"/>
            <a:ext cx="10671048" cy="41148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Partitioning leaves the pivot in its final sorted position, with everything smaller to its left and everything larger to its right. Once every element enjoys that guarantee, there's nothing left to merge.</a:t>
            </a:r>
            <a:endParaRPr lang="en-US" sz="1250" dirty="0"/>
          </a:p>
        </p:txBody>
      </p:sp>
      <p:sp>
        <p:nvSpPr>
          <p:cNvPr id="32" name="Text 30"/>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33" name="Text 31"/>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DIVIDE AND CONQUER</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err="1">
                <a:solidFill>
                  <a:srgbClr val="1E2A44"/>
                </a:solidFill>
                <a:latin typeface="Calibri" pitchFamily="34" charset="0"/>
                <a:ea typeface="Calibri" pitchFamily="34" charset="-122"/>
                <a:cs typeface="Calibri" pitchFamily="34" charset="-120"/>
              </a:rPr>
              <a:t>QuickSort</a:t>
            </a:r>
            <a:r>
              <a:rPr lang="en-US" sz="2800" b="1" dirty="0">
                <a:solidFill>
                  <a:srgbClr val="1E2A44"/>
                </a:solidFill>
                <a:latin typeface="Calibri" pitchFamily="34" charset="0"/>
                <a:ea typeface="Calibri" pitchFamily="34" charset="-122"/>
                <a:cs typeface="Calibri" pitchFamily="34" charset="-120"/>
              </a:rPr>
              <a:t>: Basic Pseudocode</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Roughgarden's formulation — pick a pivot, partition around it, recurse.</a:t>
            </a:r>
            <a:endParaRPr lang="en-US" sz="1350" dirty="0"/>
          </a:p>
        </p:txBody>
      </p:sp>
      <p:sp>
        <p:nvSpPr>
          <p:cNvPr id="5" name="Shape 3"/>
          <p:cNvSpPr/>
          <p:nvPr/>
        </p:nvSpPr>
        <p:spPr>
          <a:xfrm>
            <a:off x="502920" y="1965960"/>
            <a:ext cx="6400800" cy="2834640"/>
          </a:xfrm>
          <a:prstGeom prst="roundRect">
            <a:avLst>
              <a:gd name="adj" fmla="val 2581"/>
            </a:avLst>
          </a:prstGeom>
          <a:solidFill>
            <a:srgbClr val="24304A"/>
          </a:solidFill>
          <a:ln/>
        </p:spPr>
        <p:txBody>
          <a:bodyPr/>
          <a:lstStyle/>
          <a:p>
            <a:endParaRPr lang="en-US"/>
          </a:p>
        </p:txBody>
      </p:sp>
      <p:sp>
        <p:nvSpPr>
          <p:cNvPr id="6" name="Text 4"/>
          <p:cNvSpPr txBox="1"/>
          <p:nvPr/>
        </p:nvSpPr>
        <p:spPr>
          <a:xfrm>
            <a:off x="704088" y="2093976"/>
            <a:ext cx="6035040" cy="2578608"/>
          </a:xfrm>
          <a:prstGeom prst="rect">
            <a:avLst/>
          </a:prstGeom>
          <a:noFill/>
          <a:ln/>
        </p:spPr>
        <p:txBody>
          <a:bodyPr wrap="square" lIns="0" tIns="0" rIns="0" bIns="0" rtlCol="0" anchor="t"/>
          <a:lstStyle/>
          <a:p>
            <a:pPr marL="0" indent="0">
              <a:lnSpc>
                <a:spcPct val="128000"/>
              </a:lnSpc>
              <a:buNone/>
            </a:pPr>
            <a:r>
              <a:rPr lang="en-US" sz="1450" b="1" dirty="0">
                <a:solidFill>
                  <a:srgbClr val="FFC000"/>
                </a:solidFill>
                <a:latin typeface="Courier New" pitchFamily="34" charset="0"/>
                <a:ea typeface="Courier New" pitchFamily="34" charset="-122"/>
                <a:cs typeface="Courier New" pitchFamily="34" charset="-120"/>
              </a:rPr>
              <a:t>QuickSort</a:t>
            </a:r>
            <a:r>
              <a:rPr lang="en-US" sz="1450" dirty="0">
                <a:solidFill>
                  <a:srgbClr val="FFFFFF"/>
                </a:solidFill>
                <a:latin typeface="Courier New" pitchFamily="34" charset="0"/>
                <a:ea typeface="Courier New" pitchFamily="34" charset="-122"/>
                <a:cs typeface="Courier New" pitchFamily="34" charset="-120"/>
              </a:rPr>
              <a:t>(array A, length n):</a:t>
            </a:r>
            <a:endParaRPr lang="en-US" sz="1450" dirty="0"/>
          </a:p>
          <a:p>
            <a:pPr marL="0" indent="0">
              <a:lnSpc>
                <a:spcPct val="128000"/>
              </a:lnSpc>
              <a:buNone/>
            </a:pPr>
            <a:r>
              <a:rPr lang="en-US" sz="1450" dirty="0">
                <a:solidFill>
                  <a:srgbClr val="FFFFFF"/>
                </a:solidFill>
                <a:latin typeface="Courier New" pitchFamily="34" charset="0"/>
                <a:ea typeface="Courier New" pitchFamily="34" charset="-122"/>
                <a:cs typeface="Courier New" pitchFamily="34" charset="-120"/>
              </a:rPr>
              <a:t>  if n ≤ 1:</a:t>
            </a:r>
            <a:endParaRPr lang="en-US" sz="1450" dirty="0"/>
          </a:p>
          <a:p>
            <a:pPr marL="0" indent="0">
              <a:lnSpc>
                <a:spcPct val="128000"/>
              </a:lnSpc>
              <a:buNone/>
            </a:pPr>
            <a:r>
              <a:rPr lang="en-US" sz="1450" dirty="0">
                <a:solidFill>
                  <a:srgbClr val="FFFFFF"/>
                </a:solidFill>
                <a:latin typeface="Courier New" pitchFamily="34" charset="0"/>
                <a:ea typeface="Courier New" pitchFamily="34" charset="-122"/>
                <a:cs typeface="Courier New" pitchFamily="34" charset="-120"/>
              </a:rPr>
              <a:t>    return</a:t>
            </a:r>
            <a:r>
              <a:rPr lang="en-US" sz="1450" dirty="0">
                <a:solidFill>
                  <a:srgbClr val="8C9BB5"/>
                </a:solidFill>
                <a:latin typeface="Courier New" pitchFamily="34" charset="0"/>
                <a:ea typeface="Courier New" pitchFamily="34" charset="-122"/>
                <a:cs typeface="Courier New" pitchFamily="34" charset="-120"/>
              </a:rPr>
              <a:t>                      // already sorted</a:t>
            </a:r>
            <a:endParaRPr lang="en-US" sz="1450" dirty="0"/>
          </a:p>
          <a:p>
            <a:pPr marL="0" indent="0">
              <a:lnSpc>
                <a:spcPct val="128000"/>
              </a:lnSpc>
              <a:buNone/>
            </a:pPr>
            <a:endParaRPr lang="en-US" sz="1450" dirty="0"/>
          </a:p>
          <a:p>
            <a:pPr marL="0" indent="0">
              <a:lnSpc>
                <a:spcPct val="128000"/>
              </a:lnSpc>
              <a:buNone/>
            </a:pPr>
            <a:r>
              <a:rPr lang="en-US" sz="1450" dirty="0">
                <a:solidFill>
                  <a:srgbClr val="FFFFFF"/>
                </a:solidFill>
                <a:latin typeface="Courier New" pitchFamily="34" charset="0"/>
                <a:ea typeface="Courier New" pitchFamily="34" charset="-122"/>
                <a:cs typeface="Courier New" pitchFamily="34" charset="-120"/>
              </a:rPr>
              <a:t>  p = </a:t>
            </a:r>
            <a:r>
              <a:rPr lang="en-US" sz="1450" b="1" dirty="0">
                <a:solidFill>
                  <a:srgbClr val="FFC000"/>
                </a:solidFill>
                <a:latin typeface="Courier New" pitchFamily="34" charset="0"/>
                <a:ea typeface="Courier New" pitchFamily="34" charset="-122"/>
                <a:cs typeface="Courier New" pitchFamily="34" charset="-120"/>
              </a:rPr>
              <a:t>ChoosePivot</a:t>
            </a:r>
            <a:r>
              <a:rPr lang="en-US" sz="1450" dirty="0">
                <a:solidFill>
                  <a:srgbClr val="FFFFFF"/>
                </a:solidFill>
                <a:latin typeface="Courier New" pitchFamily="34" charset="0"/>
                <a:ea typeface="Courier New" pitchFamily="34" charset="-122"/>
                <a:cs typeface="Courier New" pitchFamily="34" charset="-120"/>
              </a:rPr>
              <a:t>(A, n)</a:t>
            </a:r>
            <a:r>
              <a:rPr lang="en-US" sz="1450" dirty="0">
                <a:solidFill>
                  <a:srgbClr val="8C9BB5"/>
                </a:solidFill>
                <a:latin typeface="Courier New" pitchFamily="34" charset="0"/>
                <a:ea typeface="Courier New" pitchFamily="34" charset="-122"/>
                <a:cs typeface="Courier New" pitchFamily="34" charset="-120"/>
              </a:rPr>
              <a:t>     // pick a pivot element</a:t>
            </a:r>
            <a:endParaRPr lang="en-US" sz="1450" dirty="0"/>
          </a:p>
          <a:p>
            <a:pPr marL="0" indent="0">
              <a:lnSpc>
                <a:spcPct val="128000"/>
              </a:lnSpc>
              <a:buNone/>
            </a:pPr>
            <a:r>
              <a:rPr lang="en-US" sz="1450" dirty="0">
                <a:solidFill>
                  <a:srgbClr val="FFFFFF"/>
                </a:solidFill>
                <a:latin typeface="Courier New" pitchFamily="34" charset="0"/>
                <a:ea typeface="Courier New" pitchFamily="34" charset="-122"/>
                <a:cs typeface="Courier New" pitchFamily="34" charset="-120"/>
              </a:rPr>
              <a:t>  </a:t>
            </a:r>
            <a:r>
              <a:rPr lang="en-US" sz="1450" b="1" dirty="0">
                <a:solidFill>
                  <a:srgbClr val="FFC000"/>
                </a:solidFill>
                <a:latin typeface="Courier New" pitchFamily="34" charset="0"/>
                <a:ea typeface="Courier New" pitchFamily="34" charset="-122"/>
                <a:cs typeface="Courier New" pitchFamily="34" charset="-120"/>
              </a:rPr>
              <a:t>Partition</a:t>
            </a:r>
            <a:r>
              <a:rPr lang="en-US" sz="1450" dirty="0">
                <a:solidFill>
                  <a:srgbClr val="FFFFFF"/>
                </a:solidFill>
                <a:latin typeface="Courier New" pitchFamily="34" charset="0"/>
                <a:ea typeface="Courier New" pitchFamily="34" charset="-122"/>
                <a:cs typeface="Courier New" pitchFamily="34" charset="-120"/>
              </a:rPr>
              <a:t>(A, n, p)</a:t>
            </a:r>
            <a:r>
              <a:rPr lang="en-US" sz="1450" dirty="0">
                <a:solidFill>
                  <a:srgbClr val="8C9BB5"/>
                </a:solidFill>
                <a:latin typeface="Courier New" pitchFamily="34" charset="0"/>
                <a:ea typeface="Courier New" pitchFamily="34" charset="-122"/>
                <a:cs typeface="Courier New" pitchFamily="34" charset="-120"/>
              </a:rPr>
              <a:t>       // </a:t>
            </a:r>
            <a:r>
              <a:rPr lang="en-US" sz="1450" dirty="0">
                <a:solidFill>
                  <a:schemeClr val="accent2"/>
                </a:solidFill>
                <a:latin typeface="Courier New" pitchFamily="34" charset="0"/>
                <a:ea typeface="Courier New" pitchFamily="34" charset="-122"/>
                <a:cs typeface="Courier New" pitchFamily="34" charset="-120"/>
              </a:rPr>
              <a:t>rearrange, in place</a:t>
            </a:r>
            <a:endParaRPr lang="en-US" sz="1450" dirty="0">
              <a:solidFill>
                <a:schemeClr val="accent2"/>
              </a:solidFill>
            </a:endParaRPr>
          </a:p>
          <a:p>
            <a:pPr marL="0" indent="0">
              <a:lnSpc>
                <a:spcPct val="128000"/>
              </a:lnSpc>
              <a:buNone/>
            </a:pPr>
            <a:endParaRPr lang="en-US" sz="1450" dirty="0"/>
          </a:p>
          <a:p>
            <a:pPr marL="0" indent="0">
              <a:lnSpc>
                <a:spcPct val="128000"/>
              </a:lnSpc>
              <a:buNone/>
            </a:pPr>
            <a:r>
              <a:rPr lang="en-US" sz="1450" dirty="0">
                <a:solidFill>
                  <a:srgbClr val="FFFFFF"/>
                </a:solidFill>
                <a:latin typeface="Courier New" pitchFamily="34" charset="0"/>
                <a:ea typeface="Courier New" pitchFamily="34" charset="-122"/>
                <a:cs typeface="Courier New" pitchFamily="34" charset="-120"/>
              </a:rPr>
              <a:t>  QuickSort(left part of A)</a:t>
            </a:r>
            <a:endParaRPr lang="en-US" sz="1450" dirty="0"/>
          </a:p>
          <a:p>
            <a:pPr marL="0" indent="0">
              <a:lnSpc>
                <a:spcPct val="128000"/>
              </a:lnSpc>
              <a:buNone/>
            </a:pPr>
            <a:r>
              <a:rPr lang="en-US" sz="1450" dirty="0">
                <a:solidFill>
                  <a:srgbClr val="FFFFFF"/>
                </a:solidFill>
                <a:latin typeface="Courier New" pitchFamily="34" charset="0"/>
                <a:ea typeface="Courier New" pitchFamily="34" charset="-122"/>
                <a:cs typeface="Courier New" pitchFamily="34" charset="-120"/>
              </a:rPr>
              <a:t>  QuickSort(right part of A)</a:t>
            </a:r>
            <a:endParaRPr lang="en-US" sz="1450" dirty="0"/>
          </a:p>
        </p:txBody>
      </p:sp>
      <p:sp>
        <p:nvSpPr>
          <p:cNvPr id="7" name="Text 5"/>
          <p:cNvSpPr txBox="1"/>
          <p:nvPr/>
        </p:nvSpPr>
        <p:spPr>
          <a:xfrm>
            <a:off x="7543800" y="2011680"/>
            <a:ext cx="4114800" cy="274320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Base case: </a:t>
            </a:r>
            <a:r>
              <a:rPr lang="en-US" sz="1200" dirty="0">
                <a:solidFill>
                  <a:srgbClr val="333F50"/>
                </a:solidFill>
                <a:latin typeface="Calibri" pitchFamily="34" charset="0"/>
                <a:ea typeface="Calibri" pitchFamily="34" charset="-122"/>
                <a:cs typeface="Calibri" pitchFamily="34" charset="-120"/>
              </a:rPr>
              <a:t>arrays of length ≤ 1 are already sorted.</a:t>
            </a:r>
            <a:endParaRPr lang="en-US" sz="1200" dirty="0"/>
          </a:p>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ChoosePivot: </a:t>
            </a:r>
            <a:r>
              <a:rPr lang="en-US" sz="1200" dirty="0">
                <a:solidFill>
                  <a:srgbClr val="333F50"/>
                </a:solidFill>
                <a:latin typeface="Calibri" pitchFamily="34" charset="0"/>
                <a:ea typeface="Calibri" pitchFamily="34" charset="-122"/>
                <a:cs typeface="Calibri" pitchFamily="34" charset="-120"/>
              </a:rPr>
              <a:t>the choice drives everything — we'll spend several slides on it.</a:t>
            </a:r>
            <a:endParaRPr lang="en-US" sz="1200" dirty="0"/>
          </a:p>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Partition: </a:t>
            </a:r>
            <a:r>
              <a:rPr lang="en-US" sz="1200" dirty="0">
                <a:solidFill>
                  <a:srgbClr val="333F50"/>
                </a:solidFill>
                <a:latin typeface="Calibri" pitchFamily="34" charset="0"/>
                <a:ea typeface="Calibri" pitchFamily="34" charset="-122"/>
                <a:cs typeface="Calibri" pitchFamily="34" charset="-120"/>
              </a:rPr>
              <a:t>the real work, done in O(n) time and O(1) extra space.</a:t>
            </a:r>
            <a:endParaRPr lang="en-US" sz="1200" dirty="0"/>
          </a:p>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No merge step: </a:t>
            </a:r>
            <a:r>
              <a:rPr lang="en-US" sz="1200" dirty="0">
                <a:solidFill>
                  <a:srgbClr val="333F50"/>
                </a:solidFill>
                <a:latin typeface="Calibri" pitchFamily="34" charset="0"/>
                <a:ea typeface="Calibri" pitchFamily="34" charset="-122"/>
                <a:cs typeface="Calibri" pitchFamily="34" charset="-120"/>
              </a:rPr>
              <a:t>once both sides are sorted, the whole array is sorted.</a:t>
            </a:r>
          </a:p>
          <a:p>
            <a:pPr marL="177800" indent="-177800">
              <a:lnSpc>
                <a:spcPct val="115000"/>
              </a:lnSpc>
              <a:spcAft>
                <a:spcPts val="800"/>
              </a:spcAft>
              <a:buSzPct val="100000"/>
              <a:buChar char="•"/>
            </a:pPr>
            <a:r>
              <a:rPr lang="en-US" sz="1200" dirty="0">
                <a:solidFill>
                  <a:srgbClr val="333F50"/>
                </a:solidFill>
                <a:latin typeface="Calibri" pitchFamily="34" charset="0"/>
                <a:cs typeface="Calibri" pitchFamily="34" charset="-120"/>
              </a:rPr>
              <a:t>See </a:t>
            </a:r>
            <a:r>
              <a:rPr lang="en-US" sz="1200" dirty="0" err="1">
                <a:solidFill>
                  <a:srgbClr val="333F50"/>
                </a:solidFill>
                <a:latin typeface="Calibri" pitchFamily="34" charset="0"/>
                <a:cs typeface="Calibri" pitchFamily="34" charset="-120"/>
              </a:rPr>
              <a:t>Cormen’s</a:t>
            </a:r>
            <a:r>
              <a:rPr lang="en-US" sz="1200" dirty="0">
                <a:solidFill>
                  <a:srgbClr val="333F50"/>
                </a:solidFill>
                <a:latin typeface="Calibri" pitchFamily="34" charset="0"/>
                <a:cs typeface="Calibri" pitchFamily="34" charset="-120"/>
              </a:rPr>
              <a:t> book or Roughgarden’s book for detailed pseudocode</a:t>
            </a:r>
            <a:endParaRPr lang="en-US" sz="1200" dirty="0"/>
          </a:p>
        </p:txBody>
      </p:sp>
      <p:sp>
        <p:nvSpPr>
          <p:cNvPr id="8" name="Shape 6"/>
          <p:cNvSpPr/>
          <p:nvPr/>
        </p:nvSpPr>
        <p:spPr>
          <a:xfrm>
            <a:off x="502920" y="5074920"/>
            <a:ext cx="11183112" cy="914400"/>
          </a:xfrm>
          <a:prstGeom prst="roundRect">
            <a:avLst>
              <a:gd name="adj" fmla="val 6000"/>
            </a:avLst>
          </a:prstGeom>
          <a:solidFill>
            <a:srgbClr val="F4F5F7"/>
          </a:solidFill>
          <a:ln/>
        </p:spPr>
        <p:txBody>
          <a:bodyPr/>
          <a:lstStyle/>
          <a:p>
            <a:endParaRPr lang="en-US"/>
          </a:p>
        </p:txBody>
      </p:sp>
      <p:sp>
        <p:nvSpPr>
          <p:cNvPr id="9" name="Text 7"/>
          <p:cNvSpPr txBox="1"/>
          <p:nvPr/>
        </p:nvSpPr>
        <p:spPr>
          <a:xfrm>
            <a:off x="758952" y="522122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Key insight</a:t>
            </a:r>
            <a:endParaRPr lang="en-US" sz="1200" dirty="0"/>
          </a:p>
        </p:txBody>
      </p:sp>
      <p:sp>
        <p:nvSpPr>
          <p:cNvPr id="10" name="Text 8"/>
          <p:cNvSpPr txBox="1"/>
          <p:nvPr/>
        </p:nvSpPr>
        <p:spPr>
          <a:xfrm>
            <a:off x="758952" y="5513832"/>
            <a:ext cx="10671048" cy="36576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Unlike Merge Sort, </a:t>
            </a:r>
            <a:r>
              <a:rPr lang="en-US" sz="1250" i="1" u="sng" dirty="0">
                <a:solidFill>
                  <a:srgbClr val="333F50"/>
                </a:solidFill>
                <a:latin typeface="Calibri" pitchFamily="34" charset="0"/>
                <a:ea typeface="Calibri" pitchFamily="34" charset="-122"/>
                <a:cs typeface="Calibri" pitchFamily="34" charset="-120"/>
              </a:rPr>
              <a:t>Quicksort's recursive calls receive an array that has already been rearranged around the pivot</a:t>
            </a:r>
            <a:r>
              <a:rPr lang="en-US" sz="1250" dirty="0">
                <a:solidFill>
                  <a:srgbClr val="333F50"/>
                </a:solidFill>
                <a:latin typeface="Calibri" pitchFamily="34" charset="0"/>
                <a:ea typeface="Calibri" pitchFamily="34" charset="-122"/>
                <a:cs typeface="Calibri" pitchFamily="34" charset="-120"/>
              </a:rPr>
              <a:t>. Sorting each side independently finishes the whole array — combine is implicit.</a:t>
            </a:r>
            <a:endParaRPr lang="en-US" sz="1250" dirty="0"/>
          </a:p>
        </p:txBody>
      </p:sp>
      <p:sp>
        <p:nvSpPr>
          <p:cNvPr id="11" name="Text 9"/>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2" name="Text 1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PARTITIONING</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Partitioning Around a Pivot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One rule underlies everything Quicksort does: the pivot invariant.</a:t>
            </a:r>
            <a:endParaRPr lang="en-US" sz="1350" dirty="0"/>
          </a:p>
        </p:txBody>
      </p:sp>
      <p:sp>
        <p:nvSpPr>
          <p:cNvPr id="5" name="Shape 3"/>
          <p:cNvSpPr/>
          <p:nvPr/>
        </p:nvSpPr>
        <p:spPr>
          <a:xfrm>
            <a:off x="502920" y="2148840"/>
            <a:ext cx="3657600" cy="640080"/>
          </a:xfrm>
          <a:prstGeom prst="roundRect">
            <a:avLst>
              <a:gd name="adj" fmla="val 11429"/>
            </a:avLst>
          </a:prstGeom>
          <a:solidFill>
            <a:srgbClr val="EEF3FC"/>
          </a:solidFill>
          <a:ln/>
        </p:spPr>
        <p:txBody>
          <a:bodyPr/>
          <a:lstStyle/>
          <a:p>
            <a:endParaRPr lang="en-US"/>
          </a:p>
        </p:txBody>
      </p:sp>
      <p:sp>
        <p:nvSpPr>
          <p:cNvPr id="6" name="Text 4"/>
          <p:cNvSpPr txBox="1"/>
          <p:nvPr/>
        </p:nvSpPr>
        <p:spPr>
          <a:xfrm>
            <a:off x="502920" y="2148840"/>
            <a:ext cx="3657600" cy="640080"/>
          </a:xfrm>
          <a:prstGeom prst="rect">
            <a:avLst/>
          </a:prstGeom>
          <a:noFill/>
          <a:ln/>
        </p:spPr>
        <p:txBody>
          <a:bodyPr wrap="square" lIns="0" tIns="0" rIns="0" bIns="0" rtlCol="0" anchor="ctr"/>
          <a:lstStyle/>
          <a:p>
            <a:pPr marL="0" indent="0" algn="ctr">
              <a:buNone/>
            </a:pPr>
            <a:r>
              <a:rPr lang="en-US" sz="2000" b="1" dirty="0">
                <a:solidFill>
                  <a:srgbClr val="1E2A44"/>
                </a:solidFill>
                <a:latin typeface="Courier New" pitchFamily="34" charset="0"/>
                <a:ea typeface="Courier New" pitchFamily="34" charset="-122"/>
                <a:cs typeface="Courier New" pitchFamily="34" charset="-120"/>
              </a:rPr>
              <a:t>≤ p</a:t>
            </a:r>
            <a:endParaRPr lang="en-US" sz="2000" dirty="0"/>
          </a:p>
        </p:txBody>
      </p:sp>
      <p:sp>
        <p:nvSpPr>
          <p:cNvPr id="7" name="Shape 5"/>
          <p:cNvSpPr/>
          <p:nvPr/>
        </p:nvSpPr>
        <p:spPr>
          <a:xfrm>
            <a:off x="4297680" y="2148840"/>
            <a:ext cx="822960" cy="640080"/>
          </a:xfrm>
          <a:prstGeom prst="roundRect">
            <a:avLst>
              <a:gd name="adj" fmla="val 11429"/>
            </a:avLst>
          </a:prstGeom>
          <a:solidFill>
            <a:srgbClr val="FFC000"/>
          </a:solidFill>
          <a:ln/>
        </p:spPr>
        <p:txBody>
          <a:bodyPr/>
          <a:lstStyle/>
          <a:p>
            <a:endParaRPr lang="en-US"/>
          </a:p>
        </p:txBody>
      </p:sp>
      <p:sp>
        <p:nvSpPr>
          <p:cNvPr id="8" name="Text 6"/>
          <p:cNvSpPr txBox="1"/>
          <p:nvPr/>
        </p:nvSpPr>
        <p:spPr>
          <a:xfrm>
            <a:off x="4297680" y="2148840"/>
            <a:ext cx="822960" cy="640080"/>
          </a:xfrm>
          <a:prstGeom prst="rect">
            <a:avLst/>
          </a:prstGeom>
          <a:noFill/>
          <a:ln/>
        </p:spPr>
        <p:txBody>
          <a:bodyPr wrap="square" lIns="0" tIns="0" rIns="0" bIns="0" rtlCol="0" anchor="ctr"/>
          <a:lstStyle/>
          <a:p>
            <a:pPr marL="0" indent="0" algn="ctr">
              <a:buNone/>
            </a:pPr>
            <a:r>
              <a:rPr lang="en-US" sz="2000" b="1" dirty="0">
                <a:solidFill>
                  <a:srgbClr val="1E2A44"/>
                </a:solidFill>
                <a:latin typeface="Courier New" pitchFamily="34" charset="0"/>
                <a:ea typeface="Courier New" pitchFamily="34" charset="-122"/>
                <a:cs typeface="Courier New" pitchFamily="34" charset="-120"/>
              </a:rPr>
              <a:t>p</a:t>
            </a:r>
            <a:endParaRPr lang="en-US" sz="2000" dirty="0"/>
          </a:p>
        </p:txBody>
      </p:sp>
      <p:sp>
        <p:nvSpPr>
          <p:cNvPr id="9" name="Shape 7"/>
          <p:cNvSpPr/>
          <p:nvPr/>
        </p:nvSpPr>
        <p:spPr>
          <a:xfrm>
            <a:off x="5257800" y="2148840"/>
            <a:ext cx="3657600" cy="640080"/>
          </a:xfrm>
          <a:prstGeom prst="roundRect">
            <a:avLst>
              <a:gd name="adj" fmla="val 11429"/>
            </a:avLst>
          </a:prstGeom>
          <a:solidFill>
            <a:srgbClr val="FBE4D5"/>
          </a:solidFill>
          <a:ln/>
        </p:spPr>
        <p:txBody>
          <a:bodyPr/>
          <a:lstStyle/>
          <a:p>
            <a:endParaRPr lang="en-US"/>
          </a:p>
        </p:txBody>
      </p:sp>
      <p:sp>
        <p:nvSpPr>
          <p:cNvPr id="10" name="Text 8"/>
          <p:cNvSpPr txBox="1"/>
          <p:nvPr/>
        </p:nvSpPr>
        <p:spPr>
          <a:xfrm>
            <a:off x="5257800" y="2148840"/>
            <a:ext cx="3657600" cy="640080"/>
          </a:xfrm>
          <a:prstGeom prst="rect">
            <a:avLst/>
          </a:prstGeom>
          <a:noFill/>
          <a:ln/>
        </p:spPr>
        <p:txBody>
          <a:bodyPr wrap="square" lIns="0" tIns="0" rIns="0" bIns="0" rtlCol="0" anchor="ctr"/>
          <a:lstStyle/>
          <a:p>
            <a:pPr marL="0" indent="0" algn="ctr">
              <a:buNone/>
            </a:pPr>
            <a:r>
              <a:rPr lang="en-US" sz="2000" b="1" dirty="0">
                <a:solidFill>
                  <a:srgbClr val="1E2A44"/>
                </a:solidFill>
                <a:latin typeface="Courier New" pitchFamily="34" charset="0"/>
                <a:ea typeface="Courier New" pitchFamily="34" charset="-122"/>
                <a:cs typeface="Courier New" pitchFamily="34" charset="-120"/>
              </a:rPr>
              <a:t>&gt; p</a:t>
            </a:r>
            <a:endParaRPr lang="en-US" sz="2000" dirty="0"/>
          </a:p>
        </p:txBody>
      </p:sp>
      <p:sp>
        <p:nvSpPr>
          <p:cNvPr id="11" name="Text 9"/>
          <p:cNvSpPr txBox="1"/>
          <p:nvPr/>
        </p:nvSpPr>
        <p:spPr>
          <a:xfrm>
            <a:off x="502920" y="2862072"/>
            <a:ext cx="3657600" cy="256032"/>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everything smaller than the pivot</a:t>
            </a:r>
            <a:endParaRPr lang="en-US" sz="1100" dirty="0"/>
          </a:p>
        </p:txBody>
      </p:sp>
      <p:sp>
        <p:nvSpPr>
          <p:cNvPr id="12" name="Text 10"/>
          <p:cNvSpPr txBox="1"/>
          <p:nvPr/>
        </p:nvSpPr>
        <p:spPr>
          <a:xfrm>
            <a:off x="4297680" y="2862072"/>
            <a:ext cx="822960" cy="457200"/>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pivot's final</a:t>
            </a:r>
            <a:endParaRPr lang="en-US" sz="950" dirty="0"/>
          </a:p>
          <a:p>
            <a:pPr marL="0" indent="0" algn="ctr">
              <a:buNone/>
            </a:pPr>
            <a:r>
              <a:rPr lang="en-US" sz="950" dirty="0">
                <a:solidFill>
                  <a:srgbClr val="595959"/>
                </a:solidFill>
                <a:latin typeface="Calibri" pitchFamily="34" charset="0"/>
                <a:ea typeface="Calibri" pitchFamily="34" charset="-122"/>
                <a:cs typeface="Calibri" pitchFamily="34" charset="-120"/>
              </a:rPr>
              <a:t>resting place</a:t>
            </a:r>
            <a:endParaRPr lang="en-US" sz="950" dirty="0"/>
          </a:p>
        </p:txBody>
      </p:sp>
      <p:sp>
        <p:nvSpPr>
          <p:cNvPr id="13" name="Text 11"/>
          <p:cNvSpPr txBox="1"/>
          <p:nvPr/>
        </p:nvSpPr>
        <p:spPr>
          <a:xfrm>
            <a:off x="5257800" y="2862072"/>
            <a:ext cx="3657600" cy="256032"/>
          </a:xfrm>
          <a:prstGeom prst="rect">
            <a:avLst/>
          </a:prstGeom>
          <a:noFill/>
          <a:ln/>
        </p:spPr>
        <p:txBody>
          <a:bodyPr wrap="square" lIns="0" tIns="0" rIns="0" bIns="0" rtlCol="0" anchor="ctr"/>
          <a:lstStyle/>
          <a:p>
            <a:pPr marL="0" indent="0" algn="ctr">
              <a:buNone/>
            </a:pPr>
            <a:r>
              <a:rPr lang="en-US" sz="1100" dirty="0">
                <a:solidFill>
                  <a:srgbClr val="595959"/>
                </a:solidFill>
                <a:latin typeface="Calibri" pitchFamily="34" charset="0"/>
                <a:ea typeface="Calibri" pitchFamily="34" charset="-122"/>
                <a:cs typeface="Calibri" pitchFamily="34" charset="-120"/>
              </a:rPr>
              <a:t>everything larger than the pivot</a:t>
            </a:r>
            <a:endParaRPr lang="en-US" sz="1100" dirty="0"/>
          </a:p>
        </p:txBody>
      </p:sp>
      <p:sp>
        <p:nvSpPr>
          <p:cNvPr id="14" name="Shape 12"/>
          <p:cNvSpPr/>
          <p:nvPr/>
        </p:nvSpPr>
        <p:spPr>
          <a:xfrm>
            <a:off x="502920" y="3246120"/>
            <a:ext cx="11183112" cy="868680"/>
          </a:xfrm>
          <a:prstGeom prst="roundRect">
            <a:avLst>
              <a:gd name="adj" fmla="val 6316"/>
            </a:avLst>
          </a:prstGeom>
          <a:solidFill>
            <a:srgbClr val="1E2A44"/>
          </a:solidFill>
          <a:ln/>
        </p:spPr>
        <p:txBody>
          <a:bodyPr/>
          <a:lstStyle/>
          <a:p>
            <a:endParaRPr lang="en-US"/>
          </a:p>
        </p:txBody>
      </p:sp>
      <p:sp>
        <p:nvSpPr>
          <p:cNvPr id="15" name="Text 13"/>
          <p:cNvSpPr txBox="1"/>
          <p:nvPr/>
        </p:nvSpPr>
        <p:spPr>
          <a:xfrm>
            <a:off x="758952" y="3392424"/>
            <a:ext cx="10671048"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The pivot invariant</a:t>
            </a:r>
            <a:endParaRPr lang="en-US" sz="1200" dirty="0"/>
          </a:p>
        </p:txBody>
      </p:sp>
      <p:sp>
        <p:nvSpPr>
          <p:cNvPr id="16" name="Text 14"/>
          <p:cNvSpPr txBox="1"/>
          <p:nvPr/>
        </p:nvSpPr>
        <p:spPr>
          <a:xfrm>
            <a:off x="758952" y="3685032"/>
            <a:ext cx="10671048" cy="32004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After partitioning, the pivot sits in its final sorted position: every element to its left is ≤ p, and every element to its right is &gt; p.</a:t>
            </a:r>
            <a:endParaRPr lang="en-US" sz="1250" dirty="0"/>
          </a:p>
        </p:txBody>
      </p:sp>
      <p:sp>
        <p:nvSpPr>
          <p:cNvPr id="17" name="Text 15"/>
          <p:cNvSpPr txBox="1"/>
          <p:nvPr/>
        </p:nvSpPr>
        <p:spPr>
          <a:xfrm>
            <a:off x="502920" y="4297680"/>
            <a:ext cx="11183112" cy="164592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300" b="1" dirty="0">
                <a:solidFill>
                  <a:srgbClr val="333F50"/>
                </a:solidFill>
                <a:latin typeface="Calibri" pitchFamily="34" charset="0"/>
                <a:ea typeface="Calibri" pitchFamily="34" charset="-122"/>
                <a:cs typeface="Calibri" pitchFamily="34" charset="-120"/>
              </a:rPr>
              <a:t>The two sides are NOT sorted yet </a:t>
            </a:r>
            <a:r>
              <a:rPr lang="en-US" sz="1300" dirty="0">
                <a:solidFill>
                  <a:srgbClr val="333F50"/>
                </a:solidFill>
                <a:latin typeface="Calibri" pitchFamily="34" charset="0"/>
                <a:ea typeface="Calibri" pitchFamily="34" charset="-122"/>
                <a:cs typeface="Calibri" pitchFamily="34" charset="-120"/>
              </a:rPr>
              <a:t>— only correctly positioned relative to the pivot p.</a:t>
            </a:r>
            <a:endParaRPr lang="en-US" sz="1300" dirty="0"/>
          </a:p>
          <a:p>
            <a:pPr marL="177800" indent="-177800">
              <a:lnSpc>
                <a:spcPct val="115000"/>
              </a:lnSpc>
              <a:spcAft>
                <a:spcPts val="1000"/>
              </a:spcAft>
              <a:buSzPct val="100000"/>
              <a:buChar char="•"/>
            </a:pPr>
            <a:r>
              <a:rPr lang="en-US" sz="1300" b="1" dirty="0">
                <a:solidFill>
                  <a:srgbClr val="333F50"/>
                </a:solidFill>
                <a:latin typeface="Calibri" pitchFamily="34" charset="0"/>
                <a:ea typeface="Calibri" pitchFamily="34" charset="-122"/>
                <a:cs typeface="Calibri" pitchFamily="34" charset="-120"/>
              </a:rPr>
              <a:t>That one guarantee is enough: </a:t>
            </a:r>
            <a:r>
              <a:rPr lang="en-US" sz="1300" dirty="0">
                <a:solidFill>
                  <a:srgbClr val="333F50"/>
                </a:solidFill>
                <a:latin typeface="Calibri" pitchFamily="34" charset="0"/>
                <a:ea typeface="Calibri" pitchFamily="34" charset="-122"/>
                <a:cs typeface="Calibri" pitchFamily="34" charset="-120"/>
              </a:rPr>
              <a:t>recursing on each side independently, using the exact same invariant, finishes the sort.</a:t>
            </a:r>
            <a:endParaRPr lang="en-US" sz="1300" dirty="0"/>
          </a:p>
          <a:p>
            <a:pPr marL="177800" indent="-177800">
              <a:lnSpc>
                <a:spcPct val="115000"/>
              </a:lnSpc>
              <a:spcAft>
                <a:spcPts val="1000"/>
              </a:spcAft>
              <a:buSzPct val="100000"/>
              <a:buChar char="•"/>
            </a:pPr>
            <a:r>
              <a:rPr lang="en-US" sz="1300" b="1" dirty="0">
                <a:solidFill>
                  <a:srgbClr val="333F50"/>
                </a:solidFill>
                <a:latin typeface="Calibri" pitchFamily="34" charset="0"/>
                <a:ea typeface="Calibri" pitchFamily="34" charset="-122"/>
                <a:cs typeface="Calibri" pitchFamily="34" charset="-120"/>
              </a:rPr>
              <a:t>The pivot itself never moves again </a:t>
            </a:r>
            <a:r>
              <a:rPr lang="en-US" sz="1300" dirty="0">
                <a:solidFill>
                  <a:srgbClr val="333F50"/>
                </a:solidFill>
                <a:latin typeface="Calibri" pitchFamily="34" charset="0"/>
                <a:ea typeface="Calibri" pitchFamily="34" charset="-122"/>
                <a:cs typeface="Calibri" pitchFamily="34" charset="-120"/>
              </a:rPr>
              <a:t>— it is excluded from both recursive calls.</a:t>
            </a:r>
            <a:endParaRPr lang="en-US" sz="1300" dirty="0"/>
          </a:p>
        </p:txBody>
      </p:sp>
      <p:sp>
        <p:nvSpPr>
          <p:cNvPr id="18" name="Text 16"/>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9" name="Text 17"/>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PARTITIONING</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Partitioning In Place</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Rearranging around the pivot without allocating a second array.</a:t>
            </a:r>
            <a:endParaRPr lang="en-US" sz="1350" dirty="0"/>
          </a:p>
        </p:txBody>
      </p:sp>
      <p:sp>
        <p:nvSpPr>
          <p:cNvPr id="5" name="Shape 3"/>
          <p:cNvSpPr/>
          <p:nvPr/>
        </p:nvSpPr>
        <p:spPr>
          <a:xfrm>
            <a:off x="502920" y="1920240"/>
            <a:ext cx="5349240" cy="3200400"/>
          </a:xfrm>
          <a:prstGeom prst="roundRect">
            <a:avLst>
              <a:gd name="adj" fmla="val 2286"/>
            </a:avLst>
          </a:prstGeom>
          <a:solidFill>
            <a:srgbClr val="FBE4D5"/>
          </a:solidFill>
          <a:ln/>
        </p:spPr>
        <p:txBody>
          <a:bodyPr/>
          <a:lstStyle/>
          <a:p>
            <a:endParaRPr lang="en-US"/>
          </a:p>
        </p:txBody>
      </p:sp>
      <p:sp>
        <p:nvSpPr>
          <p:cNvPr id="6" name="Text 4"/>
          <p:cNvSpPr txBox="1"/>
          <p:nvPr/>
        </p:nvSpPr>
        <p:spPr>
          <a:xfrm>
            <a:off x="777240" y="2121408"/>
            <a:ext cx="4800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Out-of-place (like Merge)</a:t>
            </a:r>
            <a:endParaRPr lang="en-US" sz="1500" dirty="0"/>
          </a:p>
        </p:txBody>
      </p:sp>
      <p:sp>
        <p:nvSpPr>
          <p:cNvPr id="7" name="Text 5"/>
          <p:cNvSpPr txBox="1"/>
          <p:nvPr/>
        </p:nvSpPr>
        <p:spPr>
          <a:xfrm>
            <a:off x="777240" y="2487168"/>
            <a:ext cx="4800600" cy="246888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50" dirty="0">
                <a:solidFill>
                  <a:srgbClr val="333F50"/>
                </a:solidFill>
                <a:latin typeface="Calibri" pitchFamily="34" charset="0"/>
                <a:ea typeface="Calibri" pitchFamily="34" charset="-122"/>
                <a:cs typeface="Calibri" pitchFamily="34" charset="-120"/>
              </a:rPr>
              <a:t>Allocate a new array of size n.</a:t>
            </a:r>
            <a:endParaRPr lang="en-US" sz="1250" dirty="0"/>
          </a:p>
          <a:p>
            <a:pPr marL="177800" indent="-177800">
              <a:lnSpc>
                <a:spcPct val="115000"/>
              </a:lnSpc>
              <a:spcAft>
                <a:spcPts val="1000"/>
              </a:spcAft>
              <a:buSzPct val="100000"/>
              <a:buChar char="•"/>
            </a:pPr>
            <a:r>
              <a:rPr lang="en-US" sz="1250" dirty="0">
                <a:solidFill>
                  <a:srgbClr val="333F50"/>
                </a:solidFill>
                <a:latin typeface="Calibri" pitchFamily="34" charset="0"/>
                <a:ea typeface="Calibri" pitchFamily="34" charset="-122"/>
                <a:cs typeface="Calibri" pitchFamily="34" charset="-120"/>
              </a:rPr>
              <a:t>Copy every element &lt; p, then p, then every element &gt; p.</a:t>
            </a:r>
            <a:endParaRPr lang="en-US" sz="1250" dirty="0"/>
          </a:p>
          <a:p>
            <a:pPr marL="177800" indent="-177800">
              <a:lnSpc>
                <a:spcPct val="115000"/>
              </a:lnSpc>
              <a:spcAft>
                <a:spcPts val="1000"/>
              </a:spcAft>
              <a:buSzPct val="100000"/>
              <a:buChar char="•"/>
            </a:pPr>
            <a:r>
              <a:rPr lang="en-US" sz="1250" dirty="0">
                <a:solidFill>
                  <a:srgbClr val="333F50"/>
                </a:solidFill>
                <a:latin typeface="Calibri" pitchFamily="34" charset="0"/>
                <a:ea typeface="Calibri" pitchFamily="34" charset="-122"/>
                <a:cs typeface="Calibri" pitchFamily="34" charset="-120"/>
              </a:rPr>
              <a:t>Costs Θ(n) extra memory — on top of the input array.</a:t>
            </a:r>
            <a:endParaRPr lang="en-US" sz="1250" dirty="0"/>
          </a:p>
        </p:txBody>
      </p:sp>
      <p:sp>
        <p:nvSpPr>
          <p:cNvPr id="8" name="Shape 6"/>
          <p:cNvSpPr/>
          <p:nvPr/>
        </p:nvSpPr>
        <p:spPr>
          <a:xfrm>
            <a:off x="6309360" y="1920240"/>
            <a:ext cx="5349240" cy="3200400"/>
          </a:xfrm>
          <a:prstGeom prst="roundRect">
            <a:avLst>
              <a:gd name="adj" fmla="val 2286"/>
            </a:avLst>
          </a:prstGeom>
          <a:solidFill>
            <a:srgbClr val="EEF3FC"/>
          </a:solidFill>
          <a:ln/>
        </p:spPr>
        <p:txBody>
          <a:bodyPr/>
          <a:lstStyle/>
          <a:p>
            <a:endParaRPr lang="en-US"/>
          </a:p>
        </p:txBody>
      </p:sp>
      <p:sp>
        <p:nvSpPr>
          <p:cNvPr id="9" name="Text 7"/>
          <p:cNvSpPr txBox="1"/>
          <p:nvPr/>
        </p:nvSpPr>
        <p:spPr>
          <a:xfrm>
            <a:off x="6583680" y="2121408"/>
            <a:ext cx="480060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In place</a:t>
            </a:r>
            <a:endParaRPr lang="en-US" sz="1500" dirty="0"/>
          </a:p>
        </p:txBody>
      </p:sp>
      <p:sp>
        <p:nvSpPr>
          <p:cNvPr id="10" name="Text 8"/>
          <p:cNvSpPr txBox="1"/>
          <p:nvPr/>
        </p:nvSpPr>
        <p:spPr>
          <a:xfrm>
            <a:off x="6583680" y="2487168"/>
            <a:ext cx="4800600" cy="246888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50" dirty="0">
                <a:solidFill>
                  <a:srgbClr val="333F50"/>
                </a:solidFill>
                <a:latin typeface="Calibri" pitchFamily="34" charset="0"/>
                <a:ea typeface="Calibri" pitchFamily="34" charset="-122"/>
                <a:cs typeface="Calibri" pitchFamily="34" charset="-120"/>
              </a:rPr>
              <a:t>Make a single left-to-right pass over A.</a:t>
            </a:r>
            <a:endParaRPr lang="en-US" sz="1250" dirty="0"/>
          </a:p>
          <a:p>
            <a:pPr marL="177800" indent="-177800">
              <a:lnSpc>
                <a:spcPct val="115000"/>
              </a:lnSpc>
              <a:spcAft>
                <a:spcPts val="1000"/>
              </a:spcAft>
              <a:buSzPct val="100000"/>
              <a:buChar char="•"/>
            </a:pPr>
            <a:r>
              <a:rPr lang="en-US" sz="1250" dirty="0">
                <a:solidFill>
                  <a:srgbClr val="333F50"/>
                </a:solidFill>
                <a:latin typeface="Calibri" pitchFamily="34" charset="0"/>
                <a:ea typeface="Calibri" pitchFamily="34" charset="-122"/>
                <a:cs typeface="Calibri" pitchFamily="34" charset="-120"/>
              </a:rPr>
              <a:t>Swap elements within A itself using two indices, a scanner and a boundary.</a:t>
            </a:r>
            <a:endParaRPr lang="en-US" sz="1250" dirty="0"/>
          </a:p>
          <a:p>
            <a:pPr marL="177800" indent="-177800">
              <a:lnSpc>
                <a:spcPct val="115000"/>
              </a:lnSpc>
              <a:spcAft>
                <a:spcPts val="1000"/>
              </a:spcAft>
              <a:buSzPct val="100000"/>
              <a:buChar char="•"/>
            </a:pPr>
            <a:r>
              <a:rPr lang="en-US" sz="1250" dirty="0">
                <a:solidFill>
                  <a:srgbClr val="333F50"/>
                </a:solidFill>
                <a:latin typeface="Calibri" pitchFamily="34" charset="0"/>
                <a:ea typeface="Calibri" pitchFamily="34" charset="-122"/>
                <a:cs typeface="Calibri" pitchFamily="34" charset="-120"/>
              </a:rPr>
              <a:t>Costs O(1) extra memory — just a few local variables.</a:t>
            </a:r>
            <a:endParaRPr lang="en-US" sz="1250" dirty="0"/>
          </a:p>
        </p:txBody>
      </p:sp>
      <p:sp>
        <p:nvSpPr>
          <p:cNvPr id="11" name="Shape 9"/>
          <p:cNvSpPr/>
          <p:nvPr/>
        </p:nvSpPr>
        <p:spPr>
          <a:xfrm>
            <a:off x="502920" y="5349240"/>
            <a:ext cx="11183112" cy="923544"/>
          </a:xfrm>
          <a:prstGeom prst="roundRect">
            <a:avLst>
              <a:gd name="adj" fmla="val 7059"/>
            </a:avLst>
          </a:prstGeom>
          <a:solidFill>
            <a:srgbClr val="F4F5F7"/>
          </a:solidFill>
          <a:ln/>
        </p:spPr>
        <p:txBody>
          <a:bodyPr/>
          <a:lstStyle/>
          <a:p>
            <a:endParaRPr lang="en-US"/>
          </a:p>
        </p:txBody>
      </p:sp>
      <p:sp>
        <p:nvSpPr>
          <p:cNvPr id="12" name="Text 10"/>
          <p:cNvSpPr txBox="1"/>
          <p:nvPr/>
        </p:nvSpPr>
        <p:spPr>
          <a:xfrm>
            <a:off x="758952" y="5436108"/>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Why this matters</a:t>
            </a:r>
            <a:endParaRPr lang="en-US" sz="1200" dirty="0"/>
          </a:p>
        </p:txBody>
      </p:sp>
      <p:sp>
        <p:nvSpPr>
          <p:cNvPr id="13" name="Text 11"/>
          <p:cNvSpPr txBox="1"/>
          <p:nvPr/>
        </p:nvSpPr>
        <p:spPr>
          <a:xfrm>
            <a:off x="758952" y="5788152"/>
            <a:ext cx="10671048" cy="22860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Because partitioning happens in place, Quicksort's only extra memory is the recursion call stack — not a second array allocated at every level, the way Merge Sort's auxiliary buffer works.</a:t>
            </a:r>
            <a:endParaRPr lang="en-US" sz="1250" dirty="0"/>
          </a:p>
        </p:txBody>
      </p:sp>
      <p:sp>
        <p:nvSpPr>
          <p:cNvPr id="14" name="Text 12"/>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5" name="Text 13"/>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Partitioning by Hand: Setup</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Pivot = first element. Watch the invariant build up, one comparison at a time.</a:t>
            </a:r>
            <a:endParaRPr lang="en-US" sz="1350" dirty="0"/>
          </a:p>
        </p:txBody>
      </p:sp>
      <p:sp>
        <p:nvSpPr>
          <p:cNvPr id="5" name="Text 3"/>
          <p:cNvSpPr txBox="1"/>
          <p:nvPr/>
        </p:nvSpPr>
        <p:spPr>
          <a:xfrm>
            <a:off x="1828800"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A[0]</a:t>
            </a:r>
            <a:endParaRPr lang="en-US" sz="950" dirty="0"/>
          </a:p>
        </p:txBody>
      </p:sp>
      <p:sp>
        <p:nvSpPr>
          <p:cNvPr id="6" name="Shape 4"/>
          <p:cNvSpPr/>
          <p:nvPr/>
        </p:nvSpPr>
        <p:spPr>
          <a:xfrm>
            <a:off x="1828800" y="2148840"/>
            <a:ext cx="713232" cy="566928"/>
          </a:xfrm>
          <a:prstGeom prst="rect">
            <a:avLst/>
          </a:prstGeom>
          <a:solidFill>
            <a:srgbClr val="FFC000"/>
          </a:solidFill>
          <a:ln w="15875">
            <a:solidFill>
              <a:srgbClr val="FFC000"/>
            </a:solidFill>
            <a:prstDash val="solid"/>
          </a:ln>
        </p:spPr>
        <p:txBody>
          <a:bodyPr/>
          <a:lstStyle/>
          <a:p>
            <a:endParaRPr lang="en-US"/>
          </a:p>
        </p:txBody>
      </p:sp>
      <p:sp>
        <p:nvSpPr>
          <p:cNvPr id="7" name="Text 5"/>
          <p:cNvSpPr txBox="1"/>
          <p:nvPr/>
        </p:nvSpPr>
        <p:spPr>
          <a:xfrm>
            <a:off x="1828800"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6</a:t>
            </a:r>
            <a:endParaRPr lang="en-US" sz="1400" dirty="0"/>
          </a:p>
        </p:txBody>
      </p:sp>
      <p:sp>
        <p:nvSpPr>
          <p:cNvPr id="8" name="Text 6"/>
          <p:cNvSpPr txBox="1"/>
          <p:nvPr/>
        </p:nvSpPr>
        <p:spPr>
          <a:xfrm>
            <a:off x="2542032"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A[1]</a:t>
            </a:r>
            <a:endParaRPr lang="en-US" sz="950" dirty="0"/>
          </a:p>
        </p:txBody>
      </p:sp>
      <p:sp>
        <p:nvSpPr>
          <p:cNvPr id="9" name="Shape 7"/>
          <p:cNvSpPr/>
          <p:nvPr/>
        </p:nvSpPr>
        <p:spPr>
          <a:xfrm>
            <a:off x="2542032" y="2148840"/>
            <a:ext cx="713232" cy="566928"/>
          </a:xfrm>
          <a:prstGeom prst="rect">
            <a:avLst/>
          </a:prstGeom>
          <a:solidFill>
            <a:srgbClr val="FFFFFF"/>
          </a:solidFill>
          <a:ln w="15875">
            <a:solidFill>
              <a:srgbClr val="D9D9D9"/>
            </a:solidFill>
            <a:prstDash val="solid"/>
          </a:ln>
        </p:spPr>
        <p:txBody>
          <a:bodyPr/>
          <a:lstStyle/>
          <a:p>
            <a:endParaRPr lang="en-US"/>
          </a:p>
        </p:txBody>
      </p:sp>
      <p:sp>
        <p:nvSpPr>
          <p:cNvPr id="10" name="Text 8"/>
          <p:cNvSpPr txBox="1"/>
          <p:nvPr/>
        </p:nvSpPr>
        <p:spPr>
          <a:xfrm>
            <a:off x="2542032"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2</a:t>
            </a:r>
            <a:endParaRPr lang="en-US" sz="1400" dirty="0"/>
          </a:p>
        </p:txBody>
      </p:sp>
      <p:sp>
        <p:nvSpPr>
          <p:cNvPr id="11" name="Text 9"/>
          <p:cNvSpPr txBox="1"/>
          <p:nvPr/>
        </p:nvSpPr>
        <p:spPr>
          <a:xfrm>
            <a:off x="3255264"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A[2]</a:t>
            </a:r>
            <a:endParaRPr lang="en-US" sz="950" dirty="0"/>
          </a:p>
        </p:txBody>
      </p:sp>
      <p:sp>
        <p:nvSpPr>
          <p:cNvPr id="12" name="Shape 10"/>
          <p:cNvSpPr/>
          <p:nvPr/>
        </p:nvSpPr>
        <p:spPr>
          <a:xfrm>
            <a:off x="3255264" y="2148840"/>
            <a:ext cx="713232" cy="566928"/>
          </a:xfrm>
          <a:prstGeom prst="rect">
            <a:avLst/>
          </a:prstGeom>
          <a:solidFill>
            <a:srgbClr val="FFFFFF"/>
          </a:solidFill>
          <a:ln w="15875">
            <a:solidFill>
              <a:srgbClr val="D9D9D9"/>
            </a:solidFill>
            <a:prstDash val="solid"/>
          </a:ln>
        </p:spPr>
        <p:txBody>
          <a:bodyPr/>
          <a:lstStyle/>
          <a:p>
            <a:endParaRPr lang="en-US"/>
          </a:p>
        </p:txBody>
      </p:sp>
      <p:sp>
        <p:nvSpPr>
          <p:cNvPr id="13" name="Text 11"/>
          <p:cNvSpPr txBox="1"/>
          <p:nvPr/>
        </p:nvSpPr>
        <p:spPr>
          <a:xfrm>
            <a:off x="3255264"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9</a:t>
            </a:r>
            <a:endParaRPr lang="en-US" sz="1400" dirty="0"/>
          </a:p>
        </p:txBody>
      </p:sp>
      <p:sp>
        <p:nvSpPr>
          <p:cNvPr id="14" name="Text 12"/>
          <p:cNvSpPr txBox="1"/>
          <p:nvPr/>
        </p:nvSpPr>
        <p:spPr>
          <a:xfrm>
            <a:off x="3968496"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A[3]</a:t>
            </a:r>
            <a:endParaRPr lang="en-US" sz="950" dirty="0"/>
          </a:p>
        </p:txBody>
      </p:sp>
      <p:sp>
        <p:nvSpPr>
          <p:cNvPr id="15" name="Shape 13"/>
          <p:cNvSpPr/>
          <p:nvPr/>
        </p:nvSpPr>
        <p:spPr>
          <a:xfrm>
            <a:off x="3968496" y="2148840"/>
            <a:ext cx="713232" cy="566928"/>
          </a:xfrm>
          <a:prstGeom prst="rect">
            <a:avLst/>
          </a:prstGeom>
          <a:solidFill>
            <a:srgbClr val="FFFFFF"/>
          </a:solidFill>
          <a:ln w="15875">
            <a:solidFill>
              <a:srgbClr val="D9D9D9"/>
            </a:solidFill>
            <a:prstDash val="solid"/>
          </a:ln>
        </p:spPr>
        <p:txBody>
          <a:bodyPr/>
          <a:lstStyle/>
          <a:p>
            <a:endParaRPr lang="en-US"/>
          </a:p>
        </p:txBody>
      </p:sp>
      <p:sp>
        <p:nvSpPr>
          <p:cNvPr id="16" name="Text 14"/>
          <p:cNvSpPr txBox="1"/>
          <p:nvPr/>
        </p:nvSpPr>
        <p:spPr>
          <a:xfrm>
            <a:off x="3968496"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4</a:t>
            </a:r>
            <a:endParaRPr lang="en-US" sz="1400" dirty="0"/>
          </a:p>
        </p:txBody>
      </p:sp>
      <p:sp>
        <p:nvSpPr>
          <p:cNvPr id="17" name="Text 15"/>
          <p:cNvSpPr txBox="1"/>
          <p:nvPr/>
        </p:nvSpPr>
        <p:spPr>
          <a:xfrm>
            <a:off x="4681728"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A[4]</a:t>
            </a:r>
            <a:endParaRPr lang="en-US" sz="950" dirty="0"/>
          </a:p>
        </p:txBody>
      </p:sp>
      <p:sp>
        <p:nvSpPr>
          <p:cNvPr id="18" name="Shape 16"/>
          <p:cNvSpPr/>
          <p:nvPr/>
        </p:nvSpPr>
        <p:spPr>
          <a:xfrm>
            <a:off x="4681728" y="2148840"/>
            <a:ext cx="713232" cy="566928"/>
          </a:xfrm>
          <a:prstGeom prst="rect">
            <a:avLst/>
          </a:prstGeom>
          <a:solidFill>
            <a:srgbClr val="FFFFFF"/>
          </a:solidFill>
          <a:ln w="15875">
            <a:solidFill>
              <a:srgbClr val="D9D9D9"/>
            </a:solidFill>
            <a:prstDash val="solid"/>
          </a:ln>
        </p:spPr>
        <p:txBody>
          <a:bodyPr/>
          <a:lstStyle/>
          <a:p>
            <a:endParaRPr lang="en-US"/>
          </a:p>
        </p:txBody>
      </p:sp>
      <p:sp>
        <p:nvSpPr>
          <p:cNvPr id="19" name="Text 17"/>
          <p:cNvSpPr txBox="1"/>
          <p:nvPr/>
        </p:nvSpPr>
        <p:spPr>
          <a:xfrm>
            <a:off x="4681728"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1</a:t>
            </a:r>
            <a:endParaRPr lang="en-US" sz="1400" dirty="0"/>
          </a:p>
        </p:txBody>
      </p:sp>
      <p:sp>
        <p:nvSpPr>
          <p:cNvPr id="20" name="Text 18"/>
          <p:cNvSpPr txBox="1"/>
          <p:nvPr/>
        </p:nvSpPr>
        <p:spPr>
          <a:xfrm>
            <a:off x="5394960"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A[5]</a:t>
            </a:r>
            <a:endParaRPr lang="en-US" sz="950" dirty="0"/>
          </a:p>
        </p:txBody>
      </p:sp>
      <p:sp>
        <p:nvSpPr>
          <p:cNvPr id="21" name="Shape 19"/>
          <p:cNvSpPr/>
          <p:nvPr/>
        </p:nvSpPr>
        <p:spPr>
          <a:xfrm>
            <a:off x="5394960" y="2148840"/>
            <a:ext cx="713232" cy="566928"/>
          </a:xfrm>
          <a:prstGeom prst="rect">
            <a:avLst/>
          </a:prstGeom>
          <a:solidFill>
            <a:srgbClr val="FFFFFF"/>
          </a:solidFill>
          <a:ln w="15875">
            <a:solidFill>
              <a:srgbClr val="D9D9D9"/>
            </a:solidFill>
            <a:prstDash val="solid"/>
          </a:ln>
        </p:spPr>
        <p:txBody>
          <a:bodyPr/>
          <a:lstStyle/>
          <a:p>
            <a:endParaRPr lang="en-US"/>
          </a:p>
        </p:txBody>
      </p:sp>
      <p:sp>
        <p:nvSpPr>
          <p:cNvPr id="22" name="Text 20"/>
          <p:cNvSpPr txBox="1"/>
          <p:nvPr/>
        </p:nvSpPr>
        <p:spPr>
          <a:xfrm>
            <a:off x="5394960"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8</a:t>
            </a:r>
            <a:endParaRPr lang="en-US" sz="1400" dirty="0"/>
          </a:p>
        </p:txBody>
      </p:sp>
      <p:sp>
        <p:nvSpPr>
          <p:cNvPr id="23" name="Text 21"/>
          <p:cNvSpPr txBox="1"/>
          <p:nvPr/>
        </p:nvSpPr>
        <p:spPr>
          <a:xfrm>
            <a:off x="6108192" y="18928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A[6]</a:t>
            </a:r>
            <a:endParaRPr lang="en-US" sz="950" dirty="0"/>
          </a:p>
        </p:txBody>
      </p:sp>
      <p:sp>
        <p:nvSpPr>
          <p:cNvPr id="24" name="Shape 22"/>
          <p:cNvSpPr/>
          <p:nvPr/>
        </p:nvSpPr>
        <p:spPr>
          <a:xfrm>
            <a:off x="6108192" y="2148840"/>
            <a:ext cx="713232" cy="566928"/>
          </a:xfrm>
          <a:prstGeom prst="rect">
            <a:avLst/>
          </a:prstGeom>
          <a:solidFill>
            <a:srgbClr val="FFFFFF"/>
          </a:solidFill>
          <a:ln w="15875">
            <a:solidFill>
              <a:srgbClr val="D9D9D9"/>
            </a:solidFill>
            <a:prstDash val="solid"/>
          </a:ln>
        </p:spPr>
        <p:txBody>
          <a:bodyPr/>
          <a:lstStyle/>
          <a:p>
            <a:endParaRPr lang="en-US"/>
          </a:p>
        </p:txBody>
      </p:sp>
      <p:sp>
        <p:nvSpPr>
          <p:cNvPr id="25" name="Text 23"/>
          <p:cNvSpPr txBox="1"/>
          <p:nvPr/>
        </p:nvSpPr>
        <p:spPr>
          <a:xfrm>
            <a:off x="6108192" y="21488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a:t>
            </a:r>
            <a:endParaRPr lang="en-US" sz="1400" dirty="0"/>
          </a:p>
        </p:txBody>
      </p:sp>
      <p:sp>
        <p:nvSpPr>
          <p:cNvPr id="26" name="Text 24"/>
          <p:cNvSpPr txBox="1"/>
          <p:nvPr/>
        </p:nvSpPr>
        <p:spPr>
          <a:xfrm>
            <a:off x="1828800" y="2971800"/>
            <a:ext cx="713232" cy="274320"/>
          </a:xfrm>
          <a:prstGeom prst="rect">
            <a:avLst/>
          </a:prstGeom>
          <a:noFill/>
          <a:ln/>
        </p:spPr>
        <p:txBody>
          <a:bodyPr wrap="square" lIns="0" tIns="0" rIns="0" bIns="0" rtlCol="0" anchor="ctr"/>
          <a:lstStyle/>
          <a:p>
            <a:pPr marL="0" indent="0" algn="ctr">
              <a:buNone/>
            </a:pPr>
            <a:r>
              <a:rPr lang="en-US" sz="1000" b="1" dirty="0">
                <a:solidFill>
                  <a:srgbClr val="C55A11"/>
                </a:solidFill>
                <a:latin typeface="Calibri" pitchFamily="34" charset="0"/>
                <a:ea typeface="Calibri" pitchFamily="34" charset="-122"/>
                <a:cs typeface="Calibri" pitchFamily="34" charset="-120"/>
              </a:rPr>
              <a:t>pivot p = A[0] = 6</a:t>
            </a:r>
            <a:endParaRPr lang="en-US" sz="1000" dirty="0"/>
          </a:p>
        </p:txBody>
      </p:sp>
      <p:sp>
        <p:nvSpPr>
          <p:cNvPr id="27" name="Text 25"/>
          <p:cNvSpPr txBox="1"/>
          <p:nvPr/>
        </p:nvSpPr>
        <p:spPr>
          <a:xfrm>
            <a:off x="502920" y="3566160"/>
            <a:ext cx="11183112" cy="100584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300" b="1" dirty="0">
                <a:solidFill>
                  <a:srgbClr val="1E2A44"/>
                </a:solidFill>
                <a:latin typeface="Calibri" pitchFamily="34" charset="0"/>
                <a:ea typeface="Calibri" pitchFamily="34" charset="-122"/>
                <a:cs typeface="Calibri" pitchFamily="34" charset="-120"/>
              </a:rPr>
              <a:t>i </a:t>
            </a:r>
            <a:r>
              <a:rPr lang="en-US" sz="1300" dirty="0">
                <a:solidFill>
                  <a:srgbClr val="333F50"/>
                </a:solidFill>
                <a:latin typeface="Calibri" pitchFamily="34" charset="0"/>
                <a:ea typeface="Calibri" pitchFamily="34" charset="-122"/>
                <a:cs typeface="Calibri" pitchFamily="34" charset="-120"/>
              </a:rPr>
              <a:t>= boundary index, starts at 1 — marks the end of the “confirmed &lt; p” region (empty so far).</a:t>
            </a:r>
            <a:endParaRPr lang="en-US" sz="1300" dirty="0"/>
          </a:p>
          <a:p>
            <a:pPr marL="177800" indent="-177800">
              <a:lnSpc>
                <a:spcPct val="115000"/>
              </a:lnSpc>
              <a:spcAft>
                <a:spcPts val="800"/>
              </a:spcAft>
              <a:buSzPct val="100000"/>
              <a:buChar char="•"/>
            </a:pPr>
            <a:r>
              <a:rPr lang="en-US" sz="1300" b="1" dirty="0">
                <a:solidFill>
                  <a:srgbClr val="1E2A44"/>
                </a:solidFill>
                <a:latin typeface="Calibri" pitchFamily="34" charset="0"/>
                <a:ea typeface="Calibri" pitchFamily="34" charset="-122"/>
                <a:cs typeface="Calibri" pitchFamily="34" charset="-120"/>
              </a:rPr>
              <a:t>j </a:t>
            </a:r>
            <a:r>
              <a:rPr lang="en-US" sz="1300" dirty="0">
                <a:solidFill>
                  <a:srgbClr val="333F50"/>
                </a:solidFill>
                <a:latin typeface="Calibri" pitchFamily="34" charset="0"/>
                <a:ea typeface="Calibri" pitchFamily="34" charset="-122"/>
                <a:cs typeface="Calibri" pitchFamily="34" charset="-120"/>
              </a:rPr>
              <a:t>= scanning index, starts at 1 — walks through the rest of the array, one element at a time.</a:t>
            </a:r>
            <a:endParaRPr lang="en-US" sz="1300" dirty="0"/>
          </a:p>
        </p:txBody>
      </p:sp>
      <p:sp>
        <p:nvSpPr>
          <p:cNvPr id="28" name="Shape 26"/>
          <p:cNvSpPr/>
          <p:nvPr/>
        </p:nvSpPr>
        <p:spPr>
          <a:xfrm>
            <a:off x="502920" y="4709160"/>
            <a:ext cx="11183112" cy="1280160"/>
          </a:xfrm>
          <a:prstGeom prst="roundRect">
            <a:avLst>
              <a:gd name="adj" fmla="val 4286"/>
            </a:avLst>
          </a:prstGeom>
          <a:solidFill>
            <a:srgbClr val="F4F5F7"/>
          </a:solidFill>
          <a:ln/>
        </p:spPr>
        <p:txBody>
          <a:bodyPr/>
          <a:lstStyle/>
          <a:p>
            <a:endParaRPr lang="en-US"/>
          </a:p>
        </p:txBody>
      </p:sp>
      <p:sp>
        <p:nvSpPr>
          <p:cNvPr id="29" name="Text 27"/>
          <p:cNvSpPr txBox="1"/>
          <p:nvPr/>
        </p:nvSpPr>
        <p:spPr>
          <a:xfrm>
            <a:off x="758952" y="485546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The rule, for each j from 1 to n−1</a:t>
            </a:r>
            <a:endParaRPr lang="en-US" sz="1200" dirty="0"/>
          </a:p>
        </p:txBody>
      </p:sp>
      <p:sp>
        <p:nvSpPr>
          <p:cNvPr id="30" name="Text 28"/>
          <p:cNvSpPr txBox="1"/>
          <p:nvPr/>
        </p:nvSpPr>
        <p:spPr>
          <a:xfrm>
            <a:off x="758952" y="5148072"/>
            <a:ext cx="10671048" cy="73152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If A[j] &lt; p: swap A[j] into the boundary (position i), then advance i by one.</a:t>
            </a:r>
            <a:endParaRPr lang="en-US" sz="1250" dirty="0"/>
          </a:p>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Otherwise: leave A[j] where it is and just move on to the next j.</a:t>
            </a:r>
            <a:endParaRPr lang="en-US" sz="1250" dirty="0"/>
          </a:p>
          <a:p>
            <a:pPr marL="0" indent="0">
              <a:lnSpc>
                <a:spcPct val="115000"/>
              </a:lnSpc>
              <a:buNone/>
            </a:pPr>
            <a:endParaRPr lang="en-US" sz="1250" dirty="0"/>
          </a:p>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After the scan finishes, one last swap moves the pivot from A[0] into position i−1 — its final home.</a:t>
            </a:r>
            <a:endParaRPr lang="en-US" sz="1250" dirty="0"/>
          </a:p>
        </p:txBody>
      </p:sp>
      <p:sp>
        <p:nvSpPr>
          <p:cNvPr id="31" name="Text 29"/>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32" name="Text 3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Partitioning by Hand: Step by Step</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Pivot p = 6. Scanning j from 1 to 6, comparing A[j] against p.</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3246864696"/>
              </p:ext>
            </p:extLst>
          </p:nvPr>
        </p:nvGraphicFramePr>
        <p:xfrm>
          <a:off x="502920" y="1965960"/>
          <a:ext cx="11183112" cy="2816352"/>
        </p:xfrm>
        <a:graphic>
          <a:graphicData uri="http://schemas.openxmlformats.org/drawingml/2006/table">
            <a:tbl>
              <a:tblPr/>
              <a:tblGrid>
                <a:gridCol w="10058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4142232">
                  <a:extLst>
                    <a:ext uri="{9D8B030D-6E8A-4147-A177-3AD203B41FA5}">
                      <a16:colId xmlns:a16="http://schemas.microsoft.com/office/drawing/2014/main" val="20003"/>
                    </a:ext>
                  </a:extLst>
                </a:gridCol>
                <a:gridCol w="2926080">
                  <a:extLst>
                    <a:ext uri="{9D8B030D-6E8A-4147-A177-3AD203B41FA5}">
                      <a16:colId xmlns:a16="http://schemas.microsoft.com/office/drawing/2014/main" val="20004"/>
                    </a:ext>
                  </a:extLst>
                </a:gridCol>
              </a:tblGrid>
              <a:tr h="402336">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j</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A[j]</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A[j] vs p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array after step</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extLst>
                  <a:ext uri="{0D108BD9-81ED-4DB2-BD59-A6C34878D82A}">
                    <a16:rowId xmlns:a16="http://schemas.microsoft.com/office/drawing/2014/main" val="10000"/>
                  </a:ext>
                </a:extLst>
              </a:tr>
              <a:tr h="402336">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2 &lt;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swap(A[1], A[1]) — no-op; i → 2</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[6, 2, 9, 4, 1, 8, 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extLst>
                  <a:ext uri="{0D108BD9-81ED-4DB2-BD59-A6C34878D82A}">
                    <a16:rowId xmlns:a16="http://schemas.microsoft.com/office/drawing/2014/main" val="10001"/>
                  </a:ext>
                </a:extLst>
              </a:tr>
              <a:tr h="402336">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9 ≥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skip; i stays 2</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[6, 2, 9, 4, 1, 8, 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4 &lt;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swap(A[3], A[2]); i → 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[6, 2, 4, 9, 1, 8, 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extLst>
                  <a:ext uri="{0D108BD9-81ED-4DB2-BD59-A6C34878D82A}">
                    <a16:rowId xmlns:a16="http://schemas.microsoft.com/office/drawing/2014/main" val="10003"/>
                  </a:ext>
                </a:extLst>
              </a:tr>
              <a:tr h="402336">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1 &lt;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swap(A[4], A[3]); i → 4</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[6, 2, 4, 1, 9, 8, 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8 ≥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skip; i stays 4</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[6, 2, 4, 1, 9, 8, 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extLst>
                  <a:ext uri="{0D108BD9-81ED-4DB2-BD59-A6C34878D82A}">
                    <a16:rowId xmlns:a16="http://schemas.microsoft.com/office/drawing/2014/main" val="10005"/>
                  </a:ext>
                </a:extLst>
              </a:tr>
              <a:tr h="402336">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3 &lt; 6</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swap(A[6], A[4]); </a:t>
                      </a:r>
                      <a:r>
                        <a:rPr lang="en-US" sz="1200" b="1" dirty="0">
                          <a:solidFill>
                            <a:schemeClr val="accent2"/>
                          </a:solidFill>
                          <a:latin typeface="Calibri" pitchFamily="34" charset="0"/>
                          <a:ea typeface="Calibri" pitchFamily="34" charset="-122"/>
                          <a:cs typeface="Calibri" pitchFamily="34" charset="-120"/>
                        </a:rPr>
                        <a:t>i → 5</a:t>
                      </a:r>
                      <a:endParaRPr lang="en-US" sz="1200" b="1" dirty="0">
                        <a:solidFill>
                          <a:schemeClr val="accent2"/>
                        </a:solidFill>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[6, 2, 4, 1, 3, 8, 9]</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02920" y="5166360"/>
            <a:ext cx="11183112" cy="685800"/>
          </a:xfrm>
          <a:prstGeom prst="roundRect">
            <a:avLst>
              <a:gd name="adj" fmla="val 8000"/>
            </a:avLst>
          </a:prstGeom>
          <a:solidFill>
            <a:srgbClr val="F4F5F7"/>
          </a:solidFill>
          <a:ln/>
        </p:spPr>
        <p:txBody>
          <a:bodyPr/>
          <a:lstStyle/>
          <a:p>
            <a:endParaRPr lang="en-US"/>
          </a:p>
        </p:txBody>
      </p:sp>
      <p:sp>
        <p:nvSpPr>
          <p:cNvPr id="7" name="Text 4"/>
          <p:cNvSpPr txBox="1"/>
          <p:nvPr/>
        </p:nvSpPr>
        <p:spPr>
          <a:xfrm>
            <a:off x="758952" y="531266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After the scan</a:t>
            </a:r>
            <a:endParaRPr lang="en-US" sz="1200" dirty="0"/>
          </a:p>
        </p:txBody>
      </p:sp>
      <p:sp>
        <p:nvSpPr>
          <p:cNvPr id="8" name="Text 5"/>
          <p:cNvSpPr txBox="1"/>
          <p:nvPr/>
        </p:nvSpPr>
        <p:spPr>
          <a:xfrm>
            <a:off x="758952" y="5605272"/>
            <a:ext cx="10671048" cy="13716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i = 5, so positions 1–4 are confirmed to hold everything &lt; p. One swap remains: move the pivot from A[0] into A[i−1] = A[4].</a:t>
            </a:r>
            <a:endParaRPr lang="en-US" sz="1250" dirty="0"/>
          </a:p>
        </p:txBody>
      </p:sp>
      <p:sp>
        <p:nvSpPr>
          <p:cNvPr id="5" name="Text 6"/>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0" name="Text 7"/>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8</a:t>
            </a:r>
            <a:endParaRPr lang="en-US" sz="850" dirty="0"/>
          </a:p>
        </p:txBody>
      </p:sp>
      <p:sp>
        <p:nvSpPr>
          <p:cNvPr id="11" name="Text 3">
            <a:extLst>
              <a:ext uri="{FF2B5EF4-FFF2-40B4-BE49-F238E27FC236}">
                <a16:creationId xmlns:a16="http://schemas.microsoft.com/office/drawing/2014/main" id="{C8F0DE61-C558-7E5F-4B0A-885258437432}"/>
              </a:ext>
            </a:extLst>
          </p:cNvPr>
          <p:cNvSpPr txBox="1"/>
          <p:nvPr/>
        </p:nvSpPr>
        <p:spPr>
          <a:xfrm>
            <a:off x="6532880"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A[0]</a:t>
            </a:r>
            <a:endParaRPr lang="en-US" sz="950" dirty="0"/>
          </a:p>
        </p:txBody>
      </p:sp>
      <p:sp>
        <p:nvSpPr>
          <p:cNvPr id="12" name="Text 5">
            <a:extLst>
              <a:ext uri="{FF2B5EF4-FFF2-40B4-BE49-F238E27FC236}">
                <a16:creationId xmlns:a16="http://schemas.microsoft.com/office/drawing/2014/main" id="{527D5383-8C0D-697B-DD6B-B895E96F79A5}"/>
              </a:ext>
            </a:extLst>
          </p:cNvPr>
          <p:cNvSpPr txBox="1"/>
          <p:nvPr/>
        </p:nvSpPr>
        <p:spPr>
          <a:xfrm>
            <a:off x="6532880" y="1285240"/>
            <a:ext cx="713232" cy="566928"/>
          </a:xfrm>
          <a:prstGeom prst="rect">
            <a:avLst/>
          </a:prstGeom>
          <a:solidFill>
            <a:schemeClr val="accent4"/>
          </a:solid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6</a:t>
            </a:r>
            <a:endParaRPr lang="en-US" sz="1400" dirty="0"/>
          </a:p>
        </p:txBody>
      </p:sp>
      <p:sp>
        <p:nvSpPr>
          <p:cNvPr id="13" name="Text 6">
            <a:extLst>
              <a:ext uri="{FF2B5EF4-FFF2-40B4-BE49-F238E27FC236}">
                <a16:creationId xmlns:a16="http://schemas.microsoft.com/office/drawing/2014/main" id="{9ECE83B5-32FD-1B0C-316C-2D4EE70708C3}"/>
              </a:ext>
            </a:extLst>
          </p:cNvPr>
          <p:cNvSpPr txBox="1"/>
          <p:nvPr/>
        </p:nvSpPr>
        <p:spPr>
          <a:xfrm>
            <a:off x="7246112"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A[1]</a:t>
            </a:r>
            <a:endParaRPr lang="en-US" sz="950" dirty="0"/>
          </a:p>
        </p:txBody>
      </p:sp>
      <p:sp>
        <p:nvSpPr>
          <p:cNvPr id="14" name="Text 8">
            <a:extLst>
              <a:ext uri="{FF2B5EF4-FFF2-40B4-BE49-F238E27FC236}">
                <a16:creationId xmlns:a16="http://schemas.microsoft.com/office/drawing/2014/main" id="{C066BC46-C3B0-0303-4DC7-3C523523B0FC}"/>
              </a:ext>
            </a:extLst>
          </p:cNvPr>
          <p:cNvSpPr txBox="1"/>
          <p:nvPr/>
        </p:nvSpPr>
        <p:spPr>
          <a:xfrm>
            <a:off x="7246112" y="12852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2</a:t>
            </a:r>
            <a:endParaRPr lang="en-US" sz="1400" dirty="0"/>
          </a:p>
        </p:txBody>
      </p:sp>
      <p:sp>
        <p:nvSpPr>
          <p:cNvPr id="15" name="Text 9">
            <a:extLst>
              <a:ext uri="{FF2B5EF4-FFF2-40B4-BE49-F238E27FC236}">
                <a16:creationId xmlns:a16="http://schemas.microsoft.com/office/drawing/2014/main" id="{1440B87F-8D89-A972-0165-3A0148FACCBC}"/>
              </a:ext>
            </a:extLst>
          </p:cNvPr>
          <p:cNvSpPr txBox="1"/>
          <p:nvPr/>
        </p:nvSpPr>
        <p:spPr>
          <a:xfrm>
            <a:off x="7959344"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A[2]</a:t>
            </a:r>
            <a:endParaRPr lang="en-US" sz="950" dirty="0"/>
          </a:p>
        </p:txBody>
      </p:sp>
      <p:sp>
        <p:nvSpPr>
          <p:cNvPr id="16" name="Text 11">
            <a:extLst>
              <a:ext uri="{FF2B5EF4-FFF2-40B4-BE49-F238E27FC236}">
                <a16:creationId xmlns:a16="http://schemas.microsoft.com/office/drawing/2014/main" id="{0F933D80-E7E1-EFC3-9130-B8A76EA5FCFA}"/>
              </a:ext>
            </a:extLst>
          </p:cNvPr>
          <p:cNvSpPr txBox="1"/>
          <p:nvPr/>
        </p:nvSpPr>
        <p:spPr>
          <a:xfrm>
            <a:off x="7959344" y="12852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9</a:t>
            </a:r>
            <a:endParaRPr lang="en-US" sz="1400" dirty="0"/>
          </a:p>
        </p:txBody>
      </p:sp>
      <p:sp>
        <p:nvSpPr>
          <p:cNvPr id="17" name="Text 12">
            <a:extLst>
              <a:ext uri="{FF2B5EF4-FFF2-40B4-BE49-F238E27FC236}">
                <a16:creationId xmlns:a16="http://schemas.microsoft.com/office/drawing/2014/main" id="{84C675BA-8637-74CF-D020-D9462C428EEE}"/>
              </a:ext>
            </a:extLst>
          </p:cNvPr>
          <p:cNvSpPr txBox="1"/>
          <p:nvPr/>
        </p:nvSpPr>
        <p:spPr>
          <a:xfrm>
            <a:off x="8672576"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A[3]</a:t>
            </a:r>
            <a:endParaRPr lang="en-US" sz="950" dirty="0"/>
          </a:p>
        </p:txBody>
      </p:sp>
      <p:sp>
        <p:nvSpPr>
          <p:cNvPr id="18" name="Text 14">
            <a:extLst>
              <a:ext uri="{FF2B5EF4-FFF2-40B4-BE49-F238E27FC236}">
                <a16:creationId xmlns:a16="http://schemas.microsoft.com/office/drawing/2014/main" id="{5D4E9CEA-E9BF-DEC4-D945-39C3BEDB5312}"/>
              </a:ext>
            </a:extLst>
          </p:cNvPr>
          <p:cNvSpPr txBox="1"/>
          <p:nvPr/>
        </p:nvSpPr>
        <p:spPr>
          <a:xfrm>
            <a:off x="8672576" y="12852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4</a:t>
            </a:r>
            <a:endParaRPr lang="en-US" sz="1400" dirty="0"/>
          </a:p>
        </p:txBody>
      </p:sp>
      <p:sp>
        <p:nvSpPr>
          <p:cNvPr id="19" name="Text 15">
            <a:extLst>
              <a:ext uri="{FF2B5EF4-FFF2-40B4-BE49-F238E27FC236}">
                <a16:creationId xmlns:a16="http://schemas.microsoft.com/office/drawing/2014/main" id="{224B62F8-9507-17F2-0572-840C4DA2D808}"/>
              </a:ext>
            </a:extLst>
          </p:cNvPr>
          <p:cNvSpPr txBox="1"/>
          <p:nvPr/>
        </p:nvSpPr>
        <p:spPr>
          <a:xfrm>
            <a:off x="9385808"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A[4]</a:t>
            </a:r>
            <a:endParaRPr lang="en-US" sz="950" dirty="0"/>
          </a:p>
        </p:txBody>
      </p:sp>
      <p:sp>
        <p:nvSpPr>
          <p:cNvPr id="20" name="Text 17">
            <a:extLst>
              <a:ext uri="{FF2B5EF4-FFF2-40B4-BE49-F238E27FC236}">
                <a16:creationId xmlns:a16="http://schemas.microsoft.com/office/drawing/2014/main" id="{83221A19-9045-1474-1ED5-6263FA13EC48}"/>
              </a:ext>
            </a:extLst>
          </p:cNvPr>
          <p:cNvSpPr txBox="1"/>
          <p:nvPr/>
        </p:nvSpPr>
        <p:spPr>
          <a:xfrm>
            <a:off x="9385808" y="12852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1</a:t>
            </a:r>
            <a:endParaRPr lang="en-US" sz="1400" dirty="0"/>
          </a:p>
        </p:txBody>
      </p:sp>
      <p:sp>
        <p:nvSpPr>
          <p:cNvPr id="21" name="Text 18">
            <a:extLst>
              <a:ext uri="{FF2B5EF4-FFF2-40B4-BE49-F238E27FC236}">
                <a16:creationId xmlns:a16="http://schemas.microsoft.com/office/drawing/2014/main" id="{D2513325-FD1F-7FF9-9343-24C1BD08A4FD}"/>
              </a:ext>
            </a:extLst>
          </p:cNvPr>
          <p:cNvSpPr txBox="1"/>
          <p:nvPr/>
        </p:nvSpPr>
        <p:spPr>
          <a:xfrm>
            <a:off x="10099040"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A[5]</a:t>
            </a:r>
            <a:endParaRPr lang="en-US" sz="950" dirty="0"/>
          </a:p>
        </p:txBody>
      </p:sp>
      <p:sp>
        <p:nvSpPr>
          <p:cNvPr id="22" name="Text 20">
            <a:extLst>
              <a:ext uri="{FF2B5EF4-FFF2-40B4-BE49-F238E27FC236}">
                <a16:creationId xmlns:a16="http://schemas.microsoft.com/office/drawing/2014/main" id="{8062A38C-CB8D-C98D-8396-120757E44E13}"/>
              </a:ext>
            </a:extLst>
          </p:cNvPr>
          <p:cNvSpPr txBox="1"/>
          <p:nvPr/>
        </p:nvSpPr>
        <p:spPr>
          <a:xfrm>
            <a:off x="10099040" y="12852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8</a:t>
            </a:r>
            <a:endParaRPr lang="en-US" sz="1400" dirty="0"/>
          </a:p>
        </p:txBody>
      </p:sp>
      <p:sp>
        <p:nvSpPr>
          <p:cNvPr id="23" name="Text 21">
            <a:extLst>
              <a:ext uri="{FF2B5EF4-FFF2-40B4-BE49-F238E27FC236}">
                <a16:creationId xmlns:a16="http://schemas.microsoft.com/office/drawing/2014/main" id="{7C22E20A-FB45-202B-0B8D-4A6070AA5E21}"/>
              </a:ext>
            </a:extLst>
          </p:cNvPr>
          <p:cNvSpPr txBox="1"/>
          <p:nvPr/>
        </p:nvSpPr>
        <p:spPr>
          <a:xfrm>
            <a:off x="10812272" y="102920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A[6]</a:t>
            </a:r>
            <a:endParaRPr lang="en-US" sz="950" dirty="0"/>
          </a:p>
        </p:txBody>
      </p:sp>
      <p:sp>
        <p:nvSpPr>
          <p:cNvPr id="24" name="Text 23">
            <a:extLst>
              <a:ext uri="{FF2B5EF4-FFF2-40B4-BE49-F238E27FC236}">
                <a16:creationId xmlns:a16="http://schemas.microsoft.com/office/drawing/2014/main" id="{DE390836-3AB7-5675-DF69-915E5C5CE101}"/>
              </a:ext>
            </a:extLst>
          </p:cNvPr>
          <p:cNvSpPr txBox="1"/>
          <p:nvPr/>
        </p:nvSpPr>
        <p:spPr>
          <a:xfrm>
            <a:off x="10812272" y="128524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a:t>
            </a:r>
            <a:endParaRPr lang="en-US" sz="1400" dirty="0"/>
          </a:p>
        </p:txBody>
      </p:sp>
      <p:sp>
        <p:nvSpPr>
          <p:cNvPr id="25" name="TextBox 24">
            <a:extLst>
              <a:ext uri="{FF2B5EF4-FFF2-40B4-BE49-F238E27FC236}">
                <a16:creationId xmlns:a16="http://schemas.microsoft.com/office/drawing/2014/main" id="{E162C035-4E0B-622F-F620-086951AEED76}"/>
              </a:ext>
            </a:extLst>
          </p:cNvPr>
          <p:cNvSpPr txBox="1"/>
          <p:nvPr/>
        </p:nvSpPr>
        <p:spPr>
          <a:xfrm>
            <a:off x="5974080" y="1517904"/>
            <a:ext cx="463588" cy="261610"/>
          </a:xfrm>
          <a:prstGeom prst="rect">
            <a:avLst/>
          </a:prstGeom>
          <a:noFill/>
        </p:spPr>
        <p:txBody>
          <a:bodyPr wrap="none" rtlCol="0">
            <a:spAutoFit/>
          </a:bodyPr>
          <a:lstStyle/>
          <a:p>
            <a:r>
              <a:rPr lang="en-US" sz="1100" dirty="0" err="1"/>
              <a:t>i</a:t>
            </a:r>
            <a:r>
              <a:rPr lang="en-US" sz="1100" dirty="0"/>
              <a:t>=j=1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WORKED EXAMPLE</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Partitioning by Hand: Result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One final swap places the pivot — and it never moves again.</a:t>
            </a:r>
            <a:endParaRPr lang="en-US" sz="1350" dirty="0"/>
          </a:p>
        </p:txBody>
      </p:sp>
      <p:sp>
        <p:nvSpPr>
          <p:cNvPr id="5" name="Text 3"/>
          <p:cNvSpPr txBox="1"/>
          <p:nvPr/>
        </p:nvSpPr>
        <p:spPr>
          <a:xfrm>
            <a:off x="2103120"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A[0]</a:t>
            </a:r>
            <a:endParaRPr lang="en-US" sz="950" dirty="0"/>
          </a:p>
        </p:txBody>
      </p:sp>
      <p:sp>
        <p:nvSpPr>
          <p:cNvPr id="6" name="Shape 4"/>
          <p:cNvSpPr/>
          <p:nvPr/>
        </p:nvSpPr>
        <p:spPr>
          <a:xfrm>
            <a:off x="2103120" y="2103120"/>
            <a:ext cx="713232" cy="566928"/>
          </a:xfrm>
          <a:prstGeom prst="rect">
            <a:avLst/>
          </a:prstGeom>
          <a:solidFill>
            <a:srgbClr val="EEF3FC"/>
          </a:solidFill>
          <a:ln w="15875">
            <a:solidFill>
              <a:srgbClr val="EEF3FC"/>
            </a:solidFill>
            <a:prstDash val="solid"/>
          </a:ln>
        </p:spPr>
        <p:txBody>
          <a:bodyPr/>
          <a:lstStyle/>
          <a:p>
            <a:endParaRPr lang="en-US"/>
          </a:p>
        </p:txBody>
      </p:sp>
      <p:sp>
        <p:nvSpPr>
          <p:cNvPr id="7" name="Text 5"/>
          <p:cNvSpPr txBox="1"/>
          <p:nvPr/>
        </p:nvSpPr>
        <p:spPr>
          <a:xfrm>
            <a:off x="2103120"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a:t>
            </a:r>
            <a:endParaRPr lang="en-US" sz="1400" dirty="0"/>
          </a:p>
        </p:txBody>
      </p:sp>
      <p:sp>
        <p:nvSpPr>
          <p:cNvPr id="8" name="Text 6"/>
          <p:cNvSpPr txBox="1"/>
          <p:nvPr/>
        </p:nvSpPr>
        <p:spPr>
          <a:xfrm>
            <a:off x="2816352"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A[1]</a:t>
            </a:r>
            <a:endParaRPr lang="en-US" sz="950" dirty="0"/>
          </a:p>
        </p:txBody>
      </p:sp>
      <p:sp>
        <p:nvSpPr>
          <p:cNvPr id="9" name="Shape 7"/>
          <p:cNvSpPr/>
          <p:nvPr/>
        </p:nvSpPr>
        <p:spPr>
          <a:xfrm>
            <a:off x="2816352" y="2103120"/>
            <a:ext cx="713232" cy="566928"/>
          </a:xfrm>
          <a:prstGeom prst="rect">
            <a:avLst/>
          </a:prstGeom>
          <a:solidFill>
            <a:srgbClr val="EEF3FC"/>
          </a:solidFill>
          <a:ln w="15875">
            <a:solidFill>
              <a:srgbClr val="EEF3FC"/>
            </a:solidFill>
            <a:prstDash val="solid"/>
          </a:ln>
        </p:spPr>
        <p:txBody>
          <a:bodyPr/>
          <a:lstStyle/>
          <a:p>
            <a:endParaRPr lang="en-US"/>
          </a:p>
        </p:txBody>
      </p:sp>
      <p:sp>
        <p:nvSpPr>
          <p:cNvPr id="10" name="Text 8"/>
          <p:cNvSpPr txBox="1"/>
          <p:nvPr/>
        </p:nvSpPr>
        <p:spPr>
          <a:xfrm>
            <a:off x="2816352"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2</a:t>
            </a:r>
            <a:endParaRPr lang="en-US" sz="1400" dirty="0"/>
          </a:p>
        </p:txBody>
      </p:sp>
      <p:sp>
        <p:nvSpPr>
          <p:cNvPr id="11" name="Text 9"/>
          <p:cNvSpPr txBox="1"/>
          <p:nvPr/>
        </p:nvSpPr>
        <p:spPr>
          <a:xfrm>
            <a:off x="3529584"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A[2]</a:t>
            </a:r>
            <a:endParaRPr lang="en-US" sz="950" dirty="0"/>
          </a:p>
        </p:txBody>
      </p:sp>
      <p:sp>
        <p:nvSpPr>
          <p:cNvPr id="12" name="Shape 10"/>
          <p:cNvSpPr/>
          <p:nvPr/>
        </p:nvSpPr>
        <p:spPr>
          <a:xfrm>
            <a:off x="3529584" y="2103120"/>
            <a:ext cx="713232" cy="566928"/>
          </a:xfrm>
          <a:prstGeom prst="rect">
            <a:avLst/>
          </a:prstGeom>
          <a:solidFill>
            <a:srgbClr val="EEF3FC"/>
          </a:solidFill>
          <a:ln w="15875">
            <a:solidFill>
              <a:srgbClr val="EEF3FC"/>
            </a:solidFill>
            <a:prstDash val="solid"/>
          </a:ln>
        </p:spPr>
        <p:txBody>
          <a:bodyPr/>
          <a:lstStyle/>
          <a:p>
            <a:endParaRPr lang="en-US"/>
          </a:p>
        </p:txBody>
      </p:sp>
      <p:sp>
        <p:nvSpPr>
          <p:cNvPr id="13" name="Text 11"/>
          <p:cNvSpPr txBox="1"/>
          <p:nvPr/>
        </p:nvSpPr>
        <p:spPr>
          <a:xfrm>
            <a:off x="3529584"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4</a:t>
            </a:r>
            <a:endParaRPr lang="en-US" sz="1400" dirty="0"/>
          </a:p>
        </p:txBody>
      </p:sp>
      <p:sp>
        <p:nvSpPr>
          <p:cNvPr id="14" name="Text 12"/>
          <p:cNvSpPr txBox="1"/>
          <p:nvPr/>
        </p:nvSpPr>
        <p:spPr>
          <a:xfrm>
            <a:off x="4242816"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A[3]</a:t>
            </a:r>
            <a:endParaRPr lang="en-US" sz="950" dirty="0"/>
          </a:p>
        </p:txBody>
      </p:sp>
      <p:sp>
        <p:nvSpPr>
          <p:cNvPr id="15" name="Shape 13"/>
          <p:cNvSpPr/>
          <p:nvPr/>
        </p:nvSpPr>
        <p:spPr>
          <a:xfrm>
            <a:off x="4242816" y="2103120"/>
            <a:ext cx="713232" cy="566928"/>
          </a:xfrm>
          <a:prstGeom prst="rect">
            <a:avLst/>
          </a:prstGeom>
          <a:solidFill>
            <a:srgbClr val="EEF3FC"/>
          </a:solidFill>
          <a:ln w="15875">
            <a:solidFill>
              <a:srgbClr val="EEF3FC"/>
            </a:solidFill>
            <a:prstDash val="solid"/>
          </a:ln>
        </p:spPr>
        <p:txBody>
          <a:bodyPr/>
          <a:lstStyle/>
          <a:p>
            <a:endParaRPr lang="en-US"/>
          </a:p>
        </p:txBody>
      </p:sp>
      <p:sp>
        <p:nvSpPr>
          <p:cNvPr id="16" name="Text 14"/>
          <p:cNvSpPr txBox="1"/>
          <p:nvPr/>
        </p:nvSpPr>
        <p:spPr>
          <a:xfrm>
            <a:off x="4242816"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1</a:t>
            </a:r>
            <a:endParaRPr lang="en-US" sz="1400" dirty="0"/>
          </a:p>
        </p:txBody>
      </p:sp>
      <p:sp>
        <p:nvSpPr>
          <p:cNvPr id="17" name="Text 15"/>
          <p:cNvSpPr txBox="1"/>
          <p:nvPr/>
        </p:nvSpPr>
        <p:spPr>
          <a:xfrm>
            <a:off x="4956048"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A[4]</a:t>
            </a:r>
            <a:endParaRPr lang="en-US" sz="950" dirty="0"/>
          </a:p>
        </p:txBody>
      </p:sp>
      <p:sp>
        <p:nvSpPr>
          <p:cNvPr id="18" name="Shape 16"/>
          <p:cNvSpPr/>
          <p:nvPr/>
        </p:nvSpPr>
        <p:spPr>
          <a:xfrm>
            <a:off x="4956048" y="2103120"/>
            <a:ext cx="713232" cy="566928"/>
          </a:xfrm>
          <a:prstGeom prst="rect">
            <a:avLst/>
          </a:prstGeom>
          <a:solidFill>
            <a:srgbClr val="FFC000"/>
          </a:solidFill>
          <a:ln w="15875">
            <a:solidFill>
              <a:srgbClr val="FFC000"/>
            </a:solidFill>
            <a:prstDash val="solid"/>
          </a:ln>
        </p:spPr>
        <p:txBody>
          <a:bodyPr/>
          <a:lstStyle/>
          <a:p>
            <a:endParaRPr lang="en-US"/>
          </a:p>
        </p:txBody>
      </p:sp>
      <p:sp>
        <p:nvSpPr>
          <p:cNvPr id="19" name="Text 17"/>
          <p:cNvSpPr txBox="1"/>
          <p:nvPr/>
        </p:nvSpPr>
        <p:spPr>
          <a:xfrm>
            <a:off x="4956048"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6</a:t>
            </a:r>
            <a:endParaRPr lang="en-US" sz="1400" dirty="0"/>
          </a:p>
        </p:txBody>
      </p:sp>
      <p:sp>
        <p:nvSpPr>
          <p:cNvPr id="20" name="Text 18"/>
          <p:cNvSpPr txBox="1"/>
          <p:nvPr/>
        </p:nvSpPr>
        <p:spPr>
          <a:xfrm>
            <a:off x="5669280"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A[5]</a:t>
            </a:r>
            <a:endParaRPr lang="en-US" sz="950" dirty="0"/>
          </a:p>
        </p:txBody>
      </p:sp>
      <p:sp>
        <p:nvSpPr>
          <p:cNvPr id="21" name="Shape 19"/>
          <p:cNvSpPr/>
          <p:nvPr/>
        </p:nvSpPr>
        <p:spPr>
          <a:xfrm>
            <a:off x="5669280" y="2103120"/>
            <a:ext cx="713232" cy="566928"/>
          </a:xfrm>
          <a:prstGeom prst="rect">
            <a:avLst/>
          </a:prstGeom>
          <a:solidFill>
            <a:srgbClr val="FBE4D5"/>
          </a:solidFill>
          <a:ln w="15875">
            <a:solidFill>
              <a:srgbClr val="FBE4D5"/>
            </a:solidFill>
            <a:prstDash val="solid"/>
          </a:ln>
        </p:spPr>
        <p:txBody>
          <a:bodyPr/>
          <a:lstStyle/>
          <a:p>
            <a:endParaRPr lang="en-US"/>
          </a:p>
        </p:txBody>
      </p:sp>
      <p:sp>
        <p:nvSpPr>
          <p:cNvPr id="22" name="Text 20"/>
          <p:cNvSpPr txBox="1"/>
          <p:nvPr/>
        </p:nvSpPr>
        <p:spPr>
          <a:xfrm>
            <a:off x="5669280"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8</a:t>
            </a:r>
            <a:endParaRPr lang="en-US" sz="1400" dirty="0"/>
          </a:p>
        </p:txBody>
      </p:sp>
      <p:sp>
        <p:nvSpPr>
          <p:cNvPr id="23" name="Text 21"/>
          <p:cNvSpPr txBox="1"/>
          <p:nvPr/>
        </p:nvSpPr>
        <p:spPr>
          <a:xfrm>
            <a:off x="6382512" y="1847088"/>
            <a:ext cx="713232" cy="219456"/>
          </a:xfrm>
          <a:prstGeom prst="rect">
            <a:avLst/>
          </a:prstGeom>
          <a:noFill/>
          <a:ln/>
        </p:spPr>
        <p:txBody>
          <a:bodyPr wrap="square" lIns="0" tIns="0" rIns="0" bIns="0" rtlCol="0" anchor="ctr"/>
          <a:lstStyle/>
          <a:p>
            <a:pPr marL="0" indent="0" algn="ctr">
              <a:buNone/>
            </a:pPr>
            <a:r>
              <a:rPr lang="en-US" sz="950" dirty="0">
                <a:solidFill>
                  <a:srgbClr val="595959"/>
                </a:solidFill>
                <a:latin typeface="Calibri" pitchFamily="34" charset="0"/>
                <a:ea typeface="Calibri" pitchFamily="34" charset="-122"/>
                <a:cs typeface="Calibri" pitchFamily="34" charset="-120"/>
              </a:rPr>
              <a:t>A[6]</a:t>
            </a:r>
            <a:endParaRPr lang="en-US" sz="950" dirty="0"/>
          </a:p>
        </p:txBody>
      </p:sp>
      <p:sp>
        <p:nvSpPr>
          <p:cNvPr id="24" name="Shape 22"/>
          <p:cNvSpPr/>
          <p:nvPr/>
        </p:nvSpPr>
        <p:spPr>
          <a:xfrm>
            <a:off x="6382512" y="2103120"/>
            <a:ext cx="713232" cy="566928"/>
          </a:xfrm>
          <a:prstGeom prst="rect">
            <a:avLst/>
          </a:prstGeom>
          <a:solidFill>
            <a:srgbClr val="FBE4D5"/>
          </a:solidFill>
          <a:ln w="15875">
            <a:solidFill>
              <a:srgbClr val="FBE4D5"/>
            </a:solidFill>
            <a:prstDash val="solid"/>
          </a:ln>
        </p:spPr>
        <p:txBody>
          <a:bodyPr/>
          <a:lstStyle/>
          <a:p>
            <a:endParaRPr lang="en-US"/>
          </a:p>
        </p:txBody>
      </p:sp>
      <p:sp>
        <p:nvSpPr>
          <p:cNvPr id="25" name="Text 23"/>
          <p:cNvSpPr txBox="1"/>
          <p:nvPr/>
        </p:nvSpPr>
        <p:spPr>
          <a:xfrm>
            <a:off x="6382512" y="2103120"/>
            <a:ext cx="713232" cy="56692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9</a:t>
            </a:r>
            <a:endParaRPr lang="en-US" sz="1400" dirty="0"/>
          </a:p>
        </p:txBody>
      </p:sp>
      <p:sp>
        <p:nvSpPr>
          <p:cNvPr id="26" name="Text 24"/>
          <p:cNvSpPr txBox="1"/>
          <p:nvPr/>
        </p:nvSpPr>
        <p:spPr>
          <a:xfrm>
            <a:off x="2103120" y="2926080"/>
            <a:ext cx="4992624" cy="256032"/>
          </a:xfrm>
          <a:prstGeom prst="rect">
            <a:avLst/>
          </a:prstGeom>
          <a:noFill/>
          <a:ln/>
        </p:spPr>
        <p:txBody>
          <a:bodyPr wrap="square" lIns="0" tIns="0" rIns="0" bIns="0" rtlCol="0" anchor="ctr"/>
          <a:lstStyle/>
          <a:p>
            <a:pPr marL="0" indent="0" algn="ctr">
              <a:buNone/>
            </a:pPr>
            <a:r>
              <a:rPr lang="en-US" sz="1000" i="1" dirty="0">
                <a:solidFill>
                  <a:srgbClr val="595959"/>
                </a:solidFill>
                <a:latin typeface="Calibri" pitchFamily="34" charset="0"/>
                <a:ea typeface="Calibri" pitchFamily="34" charset="-122"/>
                <a:cs typeface="Calibri" pitchFamily="34" charset="-120"/>
              </a:rPr>
              <a:t>swap(A[0], A[4])</a:t>
            </a:r>
            <a:endParaRPr lang="en-US" sz="1000" dirty="0"/>
          </a:p>
        </p:txBody>
      </p:sp>
      <p:sp>
        <p:nvSpPr>
          <p:cNvPr id="27" name="Shape 25"/>
          <p:cNvSpPr/>
          <p:nvPr/>
        </p:nvSpPr>
        <p:spPr>
          <a:xfrm flipH="1">
            <a:off x="3626427" y="3236976"/>
            <a:ext cx="1049480" cy="1051560"/>
          </a:xfrm>
          <a:prstGeom prst="line">
            <a:avLst/>
          </a:prstGeom>
          <a:noFill/>
          <a:ln w="15875">
            <a:solidFill>
              <a:srgbClr val="595959"/>
            </a:solidFill>
            <a:prstDash val="solid"/>
          </a:ln>
        </p:spPr>
        <p:txBody>
          <a:bodyPr/>
          <a:lstStyle/>
          <a:p>
            <a:endParaRPr lang="en-US"/>
          </a:p>
        </p:txBody>
      </p:sp>
      <p:sp>
        <p:nvSpPr>
          <p:cNvPr id="28" name="Shape 26"/>
          <p:cNvSpPr/>
          <p:nvPr/>
        </p:nvSpPr>
        <p:spPr>
          <a:xfrm>
            <a:off x="4675908" y="3236976"/>
            <a:ext cx="2182091" cy="1106424"/>
          </a:xfrm>
          <a:prstGeom prst="line">
            <a:avLst/>
          </a:prstGeom>
          <a:noFill/>
          <a:ln w="15875">
            <a:solidFill>
              <a:srgbClr val="595959"/>
            </a:solidFill>
            <a:prstDash val="solid"/>
          </a:ln>
        </p:spPr>
        <p:txBody>
          <a:bodyPr/>
          <a:lstStyle/>
          <a:p>
            <a:endParaRPr lang="en-US"/>
          </a:p>
        </p:txBody>
      </p:sp>
      <p:sp>
        <p:nvSpPr>
          <p:cNvPr id="29" name="Shape 27"/>
          <p:cNvSpPr/>
          <p:nvPr/>
        </p:nvSpPr>
        <p:spPr>
          <a:xfrm>
            <a:off x="1280160" y="4343400"/>
            <a:ext cx="2651760" cy="548640"/>
          </a:xfrm>
          <a:prstGeom prst="roundRect">
            <a:avLst>
              <a:gd name="adj" fmla="val 10000"/>
            </a:avLst>
          </a:prstGeom>
          <a:solidFill>
            <a:srgbClr val="EEF3FC"/>
          </a:solidFill>
          <a:ln/>
        </p:spPr>
        <p:txBody>
          <a:bodyPr/>
          <a:lstStyle/>
          <a:p>
            <a:endParaRPr lang="en-US"/>
          </a:p>
        </p:txBody>
      </p:sp>
      <p:sp>
        <p:nvSpPr>
          <p:cNvPr id="30" name="Text 28"/>
          <p:cNvSpPr txBox="1"/>
          <p:nvPr/>
        </p:nvSpPr>
        <p:spPr>
          <a:xfrm>
            <a:off x="1280160" y="4343400"/>
            <a:ext cx="2651760" cy="548640"/>
          </a:xfrm>
          <a:prstGeom prst="rect">
            <a:avLst/>
          </a:prstGeom>
          <a:noFill/>
          <a:ln/>
        </p:spPr>
        <p:txBody>
          <a:bodyPr wrap="square" lIns="0" tIns="0" rIns="0" bIns="0" rtlCol="0" anchor="ctr"/>
          <a:lstStyle/>
          <a:p>
            <a:pPr marL="0" indent="0" algn="ctr">
              <a:buNone/>
            </a:pPr>
            <a:r>
              <a:rPr lang="en-US" sz="1200" b="1" dirty="0">
                <a:solidFill>
                  <a:srgbClr val="1E2A44"/>
                </a:solidFill>
                <a:latin typeface="Courier New" pitchFamily="34" charset="0"/>
                <a:ea typeface="Courier New" pitchFamily="34" charset="-122"/>
                <a:cs typeface="Courier New" pitchFamily="34" charset="-120"/>
              </a:rPr>
              <a:t>QuickSort([3, 2, 4, 1])</a:t>
            </a:r>
            <a:endParaRPr lang="en-US" sz="1200" dirty="0"/>
          </a:p>
        </p:txBody>
      </p:sp>
      <p:sp>
        <p:nvSpPr>
          <p:cNvPr id="31" name="Shape 29"/>
          <p:cNvSpPr/>
          <p:nvPr/>
        </p:nvSpPr>
        <p:spPr>
          <a:xfrm>
            <a:off x="6035040" y="4343400"/>
            <a:ext cx="2103120" cy="548640"/>
          </a:xfrm>
          <a:prstGeom prst="roundRect">
            <a:avLst>
              <a:gd name="adj" fmla="val 10000"/>
            </a:avLst>
          </a:prstGeom>
          <a:solidFill>
            <a:srgbClr val="FBE4D5"/>
          </a:solidFill>
          <a:ln/>
        </p:spPr>
        <p:txBody>
          <a:bodyPr/>
          <a:lstStyle/>
          <a:p>
            <a:endParaRPr lang="en-US"/>
          </a:p>
        </p:txBody>
      </p:sp>
      <p:sp>
        <p:nvSpPr>
          <p:cNvPr id="32" name="Text 30"/>
          <p:cNvSpPr txBox="1"/>
          <p:nvPr/>
        </p:nvSpPr>
        <p:spPr>
          <a:xfrm>
            <a:off x="6035040" y="4343400"/>
            <a:ext cx="2103120" cy="548640"/>
          </a:xfrm>
          <a:prstGeom prst="rect">
            <a:avLst/>
          </a:prstGeom>
          <a:noFill/>
          <a:ln/>
        </p:spPr>
        <p:txBody>
          <a:bodyPr wrap="square" lIns="0" tIns="0" rIns="0" bIns="0" rtlCol="0" anchor="ctr"/>
          <a:lstStyle/>
          <a:p>
            <a:pPr marL="0" indent="0" algn="ctr">
              <a:buNone/>
            </a:pPr>
            <a:r>
              <a:rPr lang="en-US" sz="1200" b="1" dirty="0">
                <a:solidFill>
                  <a:srgbClr val="1E2A44"/>
                </a:solidFill>
                <a:latin typeface="Courier New" pitchFamily="34" charset="0"/>
                <a:ea typeface="Courier New" pitchFamily="34" charset="-122"/>
                <a:cs typeface="Courier New" pitchFamily="34" charset="-120"/>
              </a:rPr>
              <a:t>QuickSort([8, 9])</a:t>
            </a:r>
            <a:endParaRPr lang="en-US" sz="1200" dirty="0"/>
          </a:p>
        </p:txBody>
      </p:sp>
      <p:sp>
        <p:nvSpPr>
          <p:cNvPr id="33" name="Shape 31"/>
          <p:cNvSpPr/>
          <p:nvPr/>
        </p:nvSpPr>
        <p:spPr>
          <a:xfrm>
            <a:off x="502920" y="5120640"/>
            <a:ext cx="11183112" cy="914400"/>
          </a:xfrm>
          <a:prstGeom prst="roundRect">
            <a:avLst>
              <a:gd name="adj" fmla="val 6000"/>
            </a:avLst>
          </a:prstGeom>
          <a:solidFill>
            <a:srgbClr val="F4F5F7"/>
          </a:solidFill>
          <a:ln/>
        </p:spPr>
        <p:txBody>
          <a:bodyPr/>
          <a:lstStyle/>
          <a:p>
            <a:endParaRPr lang="en-US"/>
          </a:p>
        </p:txBody>
      </p:sp>
      <p:sp>
        <p:nvSpPr>
          <p:cNvPr id="34" name="Text 32"/>
          <p:cNvSpPr txBox="1"/>
          <p:nvPr/>
        </p:nvSpPr>
        <p:spPr>
          <a:xfrm>
            <a:off x="758952" y="526694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Key insight</a:t>
            </a:r>
            <a:endParaRPr lang="en-US" sz="1200" dirty="0"/>
          </a:p>
        </p:txBody>
      </p:sp>
      <p:sp>
        <p:nvSpPr>
          <p:cNvPr id="35" name="Text 33"/>
          <p:cNvSpPr txBox="1"/>
          <p:nvPr/>
        </p:nvSpPr>
        <p:spPr>
          <a:xfrm>
            <a:off x="758952" y="5559552"/>
            <a:ext cx="10671048" cy="36576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Partition returns index 4. QuickSort now recurses independently on A[0..3] and A[5..6] — the pivot 6 is excluded from both calls and never moves again.</a:t>
            </a:r>
            <a:endParaRPr lang="en-US" sz="1250" dirty="0"/>
          </a:p>
        </p:txBody>
      </p:sp>
      <p:sp>
        <p:nvSpPr>
          <p:cNvPr id="36" name="Text 34"/>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37" name="Text 35"/>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PARTITIONING</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The Partition Subroutine</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Roughgarden's in-place partition — one pass, O(n) time, O(1) extra space.</a:t>
            </a:r>
            <a:endParaRPr lang="en-US" sz="1350" dirty="0"/>
          </a:p>
        </p:txBody>
      </p:sp>
      <p:sp>
        <p:nvSpPr>
          <p:cNvPr id="5" name="Shape 3"/>
          <p:cNvSpPr/>
          <p:nvPr/>
        </p:nvSpPr>
        <p:spPr>
          <a:xfrm>
            <a:off x="502920" y="1965960"/>
            <a:ext cx="6492240" cy="3108960"/>
          </a:xfrm>
          <a:prstGeom prst="roundRect">
            <a:avLst>
              <a:gd name="adj" fmla="val 2353"/>
            </a:avLst>
          </a:prstGeom>
          <a:solidFill>
            <a:srgbClr val="24304A"/>
          </a:solidFill>
          <a:ln/>
        </p:spPr>
        <p:txBody>
          <a:bodyPr/>
          <a:lstStyle/>
          <a:p>
            <a:endParaRPr lang="en-US"/>
          </a:p>
        </p:txBody>
      </p:sp>
      <p:sp>
        <p:nvSpPr>
          <p:cNvPr id="6" name="Text 4"/>
          <p:cNvSpPr txBox="1"/>
          <p:nvPr/>
        </p:nvSpPr>
        <p:spPr>
          <a:xfrm>
            <a:off x="704088" y="2093976"/>
            <a:ext cx="6126480" cy="2852928"/>
          </a:xfrm>
          <a:prstGeom prst="rect">
            <a:avLst/>
          </a:prstGeom>
          <a:noFill/>
          <a:ln/>
        </p:spPr>
        <p:txBody>
          <a:bodyPr wrap="square" lIns="0" tIns="0" rIns="0" bIns="0" rtlCol="0" anchor="t"/>
          <a:lstStyle/>
          <a:p>
            <a:pPr marL="0" indent="0">
              <a:lnSpc>
                <a:spcPct val="128000"/>
              </a:lnSpc>
              <a:buNone/>
            </a:pPr>
            <a:r>
              <a:rPr lang="en-US" sz="1400" b="1" dirty="0">
                <a:solidFill>
                  <a:srgbClr val="FFC000"/>
                </a:solidFill>
                <a:latin typeface="Courier New" pitchFamily="34" charset="0"/>
                <a:ea typeface="Courier New" pitchFamily="34" charset="-122"/>
                <a:cs typeface="Courier New" pitchFamily="34" charset="-120"/>
              </a:rPr>
              <a:t>Partition</a:t>
            </a:r>
            <a:r>
              <a:rPr lang="en-US" sz="1400" dirty="0">
                <a:solidFill>
                  <a:srgbClr val="FFFFFF"/>
                </a:solidFill>
                <a:latin typeface="Courier New" pitchFamily="34" charset="0"/>
                <a:ea typeface="Courier New" pitchFamily="34" charset="-122"/>
                <a:cs typeface="Courier New" pitchFamily="34" charset="-120"/>
              </a:rPr>
              <a:t>(A, n, p):</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a:t>
            </a:r>
            <a:r>
              <a:rPr lang="en-US" sz="1400" dirty="0">
                <a:solidFill>
                  <a:srgbClr val="8C9BB5"/>
                </a:solidFill>
                <a:latin typeface="Courier New" pitchFamily="34" charset="0"/>
                <a:ea typeface="Courier New" pitchFamily="34" charset="-122"/>
                <a:cs typeface="Courier New" pitchFamily="34" charset="-120"/>
              </a:rPr>
              <a:t>// assume pivot p = A[0]</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a:t>
            </a:r>
            <a:r>
              <a:rPr lang="en-US" sz="1400" dirty="0">
                <a:solidFill>
                  <a:srgbClr val="8C9BB5"/>
                </a:solidFill>
                <a:latin typeface="Courier New" pitchFamily="34" charset="0"/>
                <a:ea typeface="Courier New" pitchFamily="34" charset="-122"/>
                <a:cs typeface="Courier New" pitchFamily="34" charset="-120"/>
              </a:rPr>
              <a:t>// </a:t>
            </a:r>
            <a:r>
              <a:rPr lang="en-US" sz="1400" dirty="0">
                <a:solidFill>
                  <a:schemeClr val="accent2"/>
                </a:solidFill>
                <a:latin typeface="Courier New" pitchFamily="34" charset="0"/>
                <a:ea typeface="Courier New" pitchFamily="34" charset="-122"/>
                <a:cs typeface="Courier New" pitchFamily="34" charset="-120"/>
              </a:rPr>
              <a:t>(swap pivot to the front first, if not)</a:t>
            </a:r>
            <a:endParaRPr lang="en-US" sz="1400" dirty="0">
              <a:solidFill>
                <a:schemeClr val="accent2"/>
              </a:solidFill>
            </a:endParaRPr>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i = 1</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for j = 1 to n − 1:</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if A[j] &lt; p:</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swap(A[j], A[i])</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i = i + 1</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swap(A[0], A[i − 1])</a:t>
            </a:r>
            <a:endParaRPr lang="en-US" sz="1400" dirty="0"/>
          </a:p>
          <a:p>
            <a:pPr marL="0" indent="0">
              <a:lnSpc>
                <a:spcPct val="128000"/>
              </a:lnSpc>
              <a:buNone/>
            </a:pPr>
            <a:r>
              <a:rPr lang="en-US" sz="1400" dirty="0">
                <a:solidFill>
                  <a:srgbClr val="FFFFFF"/>
                </a:solidFill>
                <a:latin typeface="Courier New" pitchFamily="34" charset="0"/>
                <a:ea typeface="Courier New" pitchFamily="34" charset="-122"/>
                <a:cs typeface="Courier New" pitchFamily="34" charset="-120"/>
              </a:rPr>
              <a:t>  return i − 1</a:t>
            </a:r>
            <a:r>
              <a:rPr lang="en-US" sz="1400" dirty="0">
                <a:solidFill>
                  <a:srgbClr val="8C9BB5"/>
                </a:solidFill>
                <a:latin typeface="Courier New" pitchFamily="34" charset="0"/>
                <a:ea typeface="Courier New" pitchFamily="34" charset="-122"/>
                <a:cs typeface="Courier New" pitchFamily="34" charset="-120"/>
              </a:rPr>
              <a:t>     // final index of p</a:t>
            </a:r>
            <a:endParaRPr lang="en-US" sz="1400" dirty="0"/>
          </a:p>
        </p:txBody>
      </p:sp>
      <p:sp>
        <p:nvSpPr>
          <p:cNvPr id="7" name="Text 5"/>
          <p:cNvSpPr txBox="1"/>
          <p:nvPr/>
        </p:nvSpPr>
        <p:spPr>
          <a:xfrm>
            <a:off x="7680960" y="2011680"/>
            <a:ext cx="3977640" cy="301752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i </a:t>
            </a:r>
            <a:r>
              <a:rPr lang="en-US" sz="1200" dirty="0">
                <a:solidFill>
                  <a:srgbClr val="333F50"/>
                </a:solidFill>
                <a:latin typeface="Calibri" pitchFamily="34" charset="0"/>
                <a:ea typeface="Calibri" pitchFamily="34" charset="-122"/>
                <a:cs typeface="Calibri" pitchFamily="34" charset="-120"/>
              </a:rPr>
              <a:t>marks the boundary of the “&lt; p” region built so far.</a:t>
            </a:r>
            <a:endParaRPr lang="en-US" sz="1200" dirty="0"/>
          </a:p>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One left-to-right scan </a:t>
            </a:r>
            <a:r>
              <a:rPr lang="en-US" sz="1200" dirty="0">
                <a:solidFill>
                  <a:srgbClr val="333F50"/>
                </a:solidFill>
                <a:latin typeface="Calibri" pitchFamily="34" charset="0"/>
                <a:ea typeface="Calibri" pitchFamily="34" charset="-122"/>
                <a:cs typeface="Calibri" pitchFamily="34" charset="-120"/>
              </a:rPr>
              <a:t>over j — O(n) comparisons, no re-scanning.</a:t>
            </a:r>
            <a:endParaRPr lang="en-US" sz="1200" dirty="0"/>
          </a:p>
          <a:p>
            <a:pPr marL="177800" indent="-177800">
              <a:lnSpc>
                <a:spcPct val="115000"/>
              </a:lnSpc>
              <a:spcAft>
                <a:spcPts val="800"/>
              </a:spcAft>
              <a:buSzPct val="100000"/>
              <a:buChar char="•"/>
            </a:pPr>
            <a:r>
              <a:rPr lang="en-US" sz="1200" b="1" dirty="0">
                <a:solidFill>
                  <a:srgbClr val="1E2A44"/>
                </a:solidFill>
                <a:latin typeface="Calibri" pitchFamily="34" charset="0"/>
                <a:ea typeface="Calibri" pitchFamily="34" charset="-122"/>
                <a:cs typeface="Calibri" pitchFamily="34" charset="-120"/>
              </a:rPr>
              <a:t>One final swap </a:t>
            </a:r>
            <a:r>
              <a:rPr lang="en-US" sz="1200" dirty="0">
                <a:solidFill>
                  <a:srgbClr val="333F50"/>
                </a:solidFill>
                <a:latin typeface="Calibri" pitchFamily="34" charset="0"/>
                <a:ea typeface="Calibri" pitchFamily="34" charset="-122"/>
                <a:cs typeface="Calibri" pitchFamily="34" charset="-120"/>
              </a:rPr>
              <a:t>moves the pivot into its final slot.</a:t>
            </a:r>
            <a:endParaRPr lang="en-US" sz="1200" dirty="0"/>
          </a:p>
        </p:txBody>
      </p:sp>
      <p:sp>
        <p:nvSpPr>
          <p:cNvPr id="8" name="Shape 6"/>
          <p:cNvSpPr/>
          <p:nvPr/>
        </p:nvSpPr>
        <p:spPr>
          <a:xfrm>
            <a:off x="502920" y="5349240"/>
            <a:ext cx="11183112" cy="777240"/>
          </a:xfrm>
          <a:prstGeom prst="roundRect">
            <a:avLst>
              <a:gd name="adj" fmla="val 7059"/>
            </a:avLst>
          </a:prstGeom>
          <a:solidFill>
            <a:srgbClr val="F4F5F7"/>
          </a:solidFill>
          <a:ln/>
        </p:spPr>
        <p:txBody>
          <a:bodyPr/>
          <a:lstStyle/>
          <a:p>
            <a:endParaRPr lang="en-US"/>
          </a:p>
        </p:txBody>
      </p:sp>
      <p:sp>
        <p:nvSpPr>
          <p:cNvPr id="9" name="Text 7"/>
          <p:cNvSpPr txBox="1"/>
          <p:nvPr/>
        </p:nvSpPr>
        <p:spPr>
          <a:xfrm>
            <a:off x="758952" y="549554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Key insight</a:t>
            </a:r>
            <a:endParaRPr lang="en-US" sz="1200" dirty="0"/>
          </a:p>
        </p:txBody>
      </p:sp>
      <p:sp>
        <p:nvSpPr>
          <p:cNvPr id="10" name="Text 8"/>
          <p:cNvSpPr txBox="1"/>
          <p:nvPr/>
        </p:nvSpPr>
        <p:spPr>
          <a:xfrm>
            <a:off x="758952" y="5788152"/>
            <a:ext cx="10671048" cy="22860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Every element is visited exactly once by j, and swapped at most once. That single pass is why partitioning costs exactly Θ(n) — no more, no less.</a:t>
            </a:r>
            <a:endParaRPr lang="en-US" sz="1250" dirty="0"/>
          </a:p>
        </p:txBody>
      </p:sp>
      <p:sp>
        <p:nvSpPr>
          <p:cNvPr id="11" name="Text 9"/>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2" name="Text 1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PIVOT SELECTION</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Why Pivot Choice Matters</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Partition always takes Θ(n) time — but the split it produces controls everything after.</a:t>
            </a:r>
            <a:endParaRPr lang="en-US" sz="1350" dirty="0"/>
          </a:p>
        </p:txBody>
      </p:sp>
      <p:sp>
        <p:nvSpPr>
          <p:cNvPr id="5" name="Text 3"/>
          <p:cNvSpPr txBox="1"/>
          <p:nvPr/>
        </p:nvSpPr>
        <p:spPr>
          <a:xfrm>
            <a:off x="502920" y="1874520"/>
            <a:ext cx="512064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Good pivot (near the median)</a:t>
            </a:r>
            <a:endParaRPr lang="en-US" sz="1300" dirty="0"/>
          </a:p>
        </p:txBody>
      </p:sp>
      <p:sp>
        <p:nvSpPr>
          <p:cNvPr id="6" name="Shape 4"/>
          <p:cNvSpPr/>
          <p:nvPr/>
        </p:nvSpPr>
        <p:spPr>
          <a:xfrm>
            <a:off x="2537460" y="2331720"/>
            <a:ext cx="822960" cy="384048"/>
          </a:xfrm>
          <a:prstGeom prst="roundRect">
            <a:avLst>
              <a:gd name="adj" fmla="val 11905"/>
            </a:avLst>
          </a:prstGeom>
          <a:solidFill>
            <a:srgbClr val="4472C4"/>
          </a:solidFill>
          <a:ln/>
        </p:spPr>
        <p:txBody>
          <a:bodyPr/>
          <a:lstStyle/>
          <a:p>
            <a:endParaRPr lang="en-US"/>
          </a:p>
        </p:txBody>
      </p:sp>
      <p:sp>
        <p:nvSpPr>
          <p:cNvPr id="7" name="Shape 5"/>
          <p:cNvSpPr/>
          <p:nvPr/>
        </p:nvSpPr>
        <p:spPr>
          <a:xfrm>
            <a:off x="2011680" y="2916936"/>
            <a:ext cx="822960" cy="384048"/>
          </a:xfrm>
          <a:prstGeom prst="roundRect">
            <a:avLst>
              <a:gd name="adj" fmla="val 11905"/>
            </a:avLst>
          </a:prstGeom>
          <a:solidFill>
            <a:srgbClr val="4472C4"/>
          </a:solidFill>
          <a:ln/>
        </p:spPr>
        <p:txBody>
          <a:bodyPr/>
          <a:lstStyle/>
          <a:p>
            <a:endParaRPr lang="en-US"/>
          </a:p>
        </p:txBody>
      </p:sp>
      <p:sp>
        <p:nvSpPr>
          <p:cNvPr id="8" name="Shape 6"/>
          <p:cNvSpPr/>
          <p:nvPr/>
        </p:nvSpPr>
        <p:spPr>
          <a:xfrm>
            <a:off x="3063240" y="2916936"/>
            <a:ext cx="822960" cy="384048"/>
          </a:xfrm>
          <a:prstGeom prst="roundRect">
            <a:avLst>
              <a:gd name="adj" fmla="val 11905"/>
            </a:avLst>
          </a:prstGeom>
          <a:solidFill>
            <a:srgbClr val="4472C4"/>
          </a:solidFill>
          <a:ln/>
        </p:spPr>
        <p:txBody>
          <a:bodyPr/>
          <a:lstStyle/>
          <a:p>
            <a:endParaRPr lang="en-US"/>
          </a:p>
        </p:txBody>
      </p:sp>
      <p:sp>
        <p:nvSpPr>
          <p:cNvPr id="9" name="Shape 7"/>
          <p:cNvSpPr/>
          <p:nvPr/>
        </p:nvSpPr>
        <p:spPr>
          <a:xfrm>
            <a:off x="960120" y="3502152"/>
            <a:ext cx="822960" cy="384048"/>
          </a:xfrm>
          <a:prstGeom prst="roundRect">
            <a:avLst>
              <a:gd name="adj" fmla="val 11905"/>
            </a:avLst>
          </a:prstGeom>
          <a:solidFill>
            <a:srgbClr val="4472C4"/>
          </a:solidFill>
          <a:ln/>
        </p:spPr>
        <p:txBody>
          <a:bodyPr/>
          <a:lstStyle/>
          <a:p>
            <a:endParaRPr lang="en-US"/>
          </a:p>
        </p:txBody>
      </p:sp>
      <p:sp>
        <p:nvSpPr>
          <p:cNvPr id="10" name="Shape 8"/>
          <p:cNvSpPr/>
          <p:nvPr/>
        </p:nvSpPr>
        <p:spPr>
          <a:xfrm>
            <a:off x="2011680" y="3502152"/>
            <a:ext cx="822960" cy="384048"/>
          </a:xfrm>
          <a:prstGeom prst="roundRect">
            <a:avLst>
              <a:gd name="adj" fmla="val 11905"/>
            </a:avLst>
          </a:prstGeom>
          <a:solidFill>
            <a:srgbClr val="4472C4"/>
          </a:solidFill>
          <a:ln/>
        </p:spPr>
        <p:txBody>
          <a:bodyPr/>
          <a:lstStyle/>
          <a:p>
            <a:endParaRPr lang="en-US"/>
          </a:p>
        </p:txBody>
      </p:sp>
      <p:sp>
        <p:nvSpPr>
          <p:cNvPr id="11" name="Shape 9"/>
          <p:cNvSpPr/>
          <p:nvPr/>
        </p:nvSpPr>
        <p:spPr>
          <a:xfrm>
            <a:off x="3063240" y="3502152"/>
            <a:ext cx="822960" cy="384048"/>
          </a:xfrm>
          <a:prstGeom prst="roundRect">
            <a:avLst>
              <a:gd name="adj" fmla="val 11905"/>
            </a:avLst>
          </a:prstGeom>
          <a:solidFill>
            <a:srgbClr val="4472C4"/>
          </a:solidFill>
          <a:ln/>
        </p:spPr>
        <p:txBody>
          <a:bodyPr/>
          <a:lstStyle/>
          <a:p>
            <a:endParaRPr lang="en-US"/>
          </a:p>
        </p:txBody>
      </p:sp>
      <p:sp>
        <p:nvSpPr>
          <p:cNvPr id="12" name="Shape 10"/>
          <p:cNvSpPr/>
          <p:nvPr/>
        </p:nvSpPr>
        <p:spPr>
          <a:xfrm>
            <a:off x="4114800" y="3502152"/>
            <a:ext cx="822960" cy="384048"/>
          </a:xfrm>
          <a:prstGeom prst="roundRect">
            <a:avLst>
              <a:gd name="adj" fmla="val 11905"/>
            </a:avLst>
          </a:prstGeom>
          <a:solidFill>
            <a:srgbClr val="4472C4"/>
          </a:solidFill>
          <a:ln/>
        </p:spPr>
        <p:txBody>
          <a:bodyPr/>
          <a:lstStyle/>
          <a:p>
            <a:endParaRPr lang="en-US"/>
          </a:p>
        </p:txBody>
      </p:sp>
      <p:sp>
        <p:nvSpPr>
          <p:cNvPr id="13" name="Text 11"/>
          <p:cNvSpPr txBox="1"/>
          <p:nvPr/>
        </p:nvSpPr>
        <p:spPr>
          <a:xfrm>
            <a:off x="502920" y="4133088"/>
            <a:ext cx="5120640" cy="274320"/>
          </a:xfrm>
          <a:prstGeom prst="rect">
            <a:avLst/>
          </a:prstGeom>
          <a:noFill/>
          <a:ln/>
        </p:spPr>
        <p:txBody>
          <a:bodyPr wrap="square" lIns="0" tIns="0" rIns="0" bIns="0" rtlCol="0" anchor="ctr"/>
          <a:lstStyle/>
          <a:p>
            <a:pPr marL="0" indent="0" algn="ctr">
              <a:buNone/>
            </a:pPr>
            <a:r>
              <a:rPr lang="en-US" sz="1100" i="1" dirty="0">
                <a:solidFill>
                  <a:srgbClr val="595959"/>
                </a:solidFill>
                <a:latin typeface="Calibri" pitchFamily="34" charset="0"/>
                <a:ea typeface="Calibri" pitchFamily="34" charset="-122"/>
                <a:cs typeface="Calibri" pitchFamily="34" charset="-120"/>
              </a:rPr>
              <a:t>depth = O(log n)</a:t>
            </a:r>
            <a:endParaRPr lang="en-US" sz="1100" dirty="0"/>
          </a:p>
        </p:txBody>
      </p:sp>
      <p:sp>
        <p:nvSpPr>
          <p:cNvPr id="14" name="Text 12"/>
          <p:cNvSpPr txBox="1"/>
          <p:nvPr/>
        </p:nvSpPr>
        <p:spPr>
          <a:xfrm>
            <a:off x="6309360" y="1874520"/>
            <a:ext cx="5120640" cy="2743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Bad pivot (near the min or max)</a:t>
            </a:r>
            <a:endParaRPr lang="en-US" sz="1300" dirty="0"/>
          </a:p>
        </p:txBody>
      </p:sp>
      <p:sp>
        <p:nvSpPr>
          <p:cNvPr id="15" name="Shape 13"/>
          <p:cNvSpPr/>
          <p:nvPr/>
        </p:nvSpPr>
        <p:spPr>
          <a:xfrm>
            <a:off x="6583680" y="2331720"/>
            <a:ext cx="822960" cy="384048"/>
          </a:xfrm>
          <a:prstGeom prst="roundRect">
            <a:avLst>
              <a:gd name="adj" fmla="val 11905"/>
            </a:avLst>
          </a:prstGeom>
          <a:solidFill>
            <a:srgbClr val="C55A11"/>
          </a:solidFill>
          <a:ln/>
        </p:spPr>
        <p:txBody>
          <a:bodyPr/>
          <a:lstStyle/>
          <a:p>
            <a:endParaRPr lang="en-US"/>
          </a:p>
        </p:txBody>
      </p:sp>
      <p:sp>
        <p:nvSpPr>
          <p:cNvPr id="16" name="Shape 14"/>
          <p:cNvSpPr/>
          <p:nvPr/>
        </p:nvSpPr>
        <p:spPr>
          <a:xfrm>
            <a:off x="7205472" y="2916936"/>
            <a:ext cx="822960" cy="384048"/>
          </a:xfrm>
          <a:prstGeom prst="roundRect">
            <a:avLst>
              <a:gd name="adj" fmla="val 11905"/>
            </a:avLst>
          </a:prstGeom>
          <a:solidFill>
            <a:srgbClr val="C55A11"/>
          </a:solidFill>
          <a:ln/>
        </p:spPr>
        <p:txBody>
          <a:bodyPr/>
          <a:lstStyle/>
          <a:p>
            <a:endParaRPr lang="en-US"/>
          </a:p>
        </p:txBody>
      </p:sp>
      <p:sp>
        <p:nvSpPr>
          <p:cNvPr id="17" name="Shape 15"/>
          <p:cNvSpPr/>
          <p:nvPr/>
        </p:nvSpPr>
        <p:spPr>
          <a:xfrm>
            <a:off x="7827264" y="3502152"/>
            <a:ext cx="822960" cy="384048"/>
          </a:xfrm>
          <a:prstGeom prst="roundRect">
            <a:avLst>
              <a:gd name="adj" fmla="val 11905"/>
            </a:avLst>
          </a:prstGeom>
          <a:solidFill>
            <a:srgbClr val="C55A11"/>
          </a:solidFill>
          <a:ln/>
        </p:spPr>
        <p:txBody>
          <a:bodyPr/>
          <a:lstStyle/>
          <a:p>
            <a:endParaRPr lang="en-US"/>
          </a:p>
        </p:txBody>
      </p:sp>
      <p:sp>
        <p:nvSpPr>
          <p:cNvPr id="18" name="Shape 16"/>
          <p:cNvSpPr/>
          <p:nvPr/>
        </p:nvSpPr>
        <p:spPr>
          <a:xfrm>
            <a:off x="8449056" y="4087368"/>
            <a:ext cx="822960" cy="384048"/>
          </a:xfrm>
          <a:prstGeom prst="roundRect">
            <a:avLst>
              <a:gd name="adj" fmla="val 11905"/>
            </a:avLst>
          </a:prstGeom>
          <a:solidFill>
            <a:srgbClr val="C55A11"/>
          </a:solidFill>
          <a:ln/>
        </p:spPr>
        <p:txBody>
          <a:bodyPr/>
          <a:lstStyle/>
          <a:p>
            <a:endParaRPr lang="en-US"/>
          </a:p>
        </p:txBody>
      </p:sp>
      <p:sp>
        <p:nvSpPr>
          <p:cNvPr id="19" name="Text 17"/>
          <p:cNvSpPr txBox="1"/>
          <p:nvPr/>
        </p:nvSpPr>
        <p:spPr>
          <a:xfrm>
            <a:off x="6309360" y="4718304"/>
            <a:ext cx="5120640" cy="274320"/>
          </a:xfrm>
          <a:prstGeom prst="rect">
            <a:avLst/>
          </a:prstGeom>
          <a:noFill/>
          <a:ln/>
        </p:spPr>
        <p:txBody>
          <a:bodyPr wrap="square" lIns="0" tIns="0" rIns="0" bIns="0" rtlCol="0" anchor="ctr"/>
          <a:lstStyle/>
          <a:p>
            <a:pPr marL="0" indent="0" algn="ctr">
              <a:buNone/>
            </a:pPr>
            <a:r>
              <a:rPr lang="en-US" sz="1100" i="1" dirty="0">
                <a:solidFill>
                  <a:srgbClr val="595959"/>
                </a:solidFill>
                <a:latin typeface="Calibri" pitchFamily="34" charset="0"/>
                <a:ea typeface="Calibri" pitchFamily="34" charset="-122"/>
                <a:cs typeface="Calibri" pitchFamily="34" charset="-120"/>
              </a:rPr>
              <a:t>depth = O(n)</a:t>
            </a:r>
            <a:endParaRPr lang="en-US" sz="1100" dirty="0"/>
          </a:p>
        </p:txBody>
      </p:sp>
      <p:sp>
        <p:nvSpPr>
          <p:cNvPr id="20" name="Shape 18"/>
          <p:cNvSpPr/>
          <p:nvPr/>
        </p:nvSpPr>
        <p:spPr>
          <a:xfrm>
            <a:off x="502920" y="5074920"/>
            <a:ext cx="11183112" cy="1097280"/>
          </a:xfrm>
          <a:prstGeom prst="roundRect">
            <a:avLst>
              <a:gd name="adj" fmla="val 5000"/>
            </a:avLst>
          </a:prstGeom>
          <a:solidFill>
            <a:srgbClr val="F4F5F7"/>
          </a:solidFill>
          <a:ln/>
        </p:spPr>
        <p:txBody>
          <a:bodyPr/>
          <a:lstStyle/>
          <a:p>
            <a:endParaRPr lang="en-US"/>
          </a:p>
        </p:txBody>
      </p:sp>
      <p:sp>
        <p:nvSpPr>
          <p:cNvPr id="21" name="Text 19"/>
          <p:cNvSpPr txBox="1"/>
          <p:nvPr/>
        </p:nvSpPr>
        <p:spPr>
          <a:xfrm>
            <a:off x="758952" y="522122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The pattern</a:t>
            </a:r>
            <a:endParaRPr lang="en-US" sz="1200" dirty="0"/>
          </a:p>
        </p:txBody>
      </p:sp>
      <p:sp>
        <p:nvSpPr>
          <p:cNvPr id="22" name="Text 20"/>
          <p:cNvSpPr txBox="1"/>
          <p:nvPr/>
        </p:nvSpPr>
        <p:spPr>
          <a:xfrm>
            <a:off x="758952" y="5513832"/>
            <a:ext cx="10671048" cy="54864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Total running time = sum of the Θ(n) partition costs across all levels of recursion. Balanced splits keep the recursion O(log n) levels deep; skewed splits can push it to O(n) levels. Same cost per level — wildly different depth.</a:t>
            </a:r>
            <a:endParaRPr lang="en-US" sz="1250" dirty="0"/>
          </a:p>
        </p:txBody>
      </p:sp>
      <p:sp>
        <p:nvSpPr>
          <p:cNvPr id="23" name="Text 21"/>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24" name="Text 22"/>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RUNTIME ANALYSIS</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The Recurrence Relation for </a:t>
            </a:r>
            <a:r>
              <a:rPr lang="en-US" sz="2800" b="1" dirty="0" err="1">
                <a:solidFill>
                  <a:srgbClr val="1E2A44"/>
                </a:solidFill>
                <a:latin typeface="Calibri" pitchFamily="34" charset="0"/>
                <a:ea typeface="Calibri" pitchFamily="34" charset="-122"/>
                <a:cs typeface="Calibri" pitchFamily="34" charset="-120"/>
              </a:rPr>
              <a:t>QuickSort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Partitioning splits A[1..n−1] into a left part of size k and a right part of size n−1−k.</a:t>
            </a:r>
            <a:endParaRPr lang="en-US" sz="1350" dirty="0"/>
          </a:p>
        </p:txBody>
      </p:sp>
      <p:sp>
        <p:nvSpPr>
          <p:cNvPr id="5" name="Shape 3"/>
          <p:cNvSpPr/>
          <p:nvPr/>
        </p:nvSpPr>
        <p:spPr>
          <a:xfrm>
            <a:off x="1920240" y="2148840"/>
            <a:ext cx="8321040" cy="1051560"/>
          </a:xfrm>
          <a:prstGeom prst="roundRect">
            <a:avLst>
              <a:gd name="adj" fmla="val 6957"/>
            </a:avLst>
          </a:prstGeom>
          <a:solidFill>
            <a:srgbClr val="EEF3FC"/>
          </a:solidFill>
          <a:ln/>
        </p:spPr>
        <p:txBody>
          <a:bodyPr/>
          <a:lstStyle/>
          <a:p>
            <a:endParaRPr lang="en-US"/>
          </a:p>
        </p:txBody>
      </p:sp>
      <p:sp>
        <p:nvSpPr>
          <p:cNvPr id="6" name="Text 4"/>
          <p:cNvSpPr txBox="1"/>
          <p:nvPr/>
        </p:nvSpPr>
        <p:spPr>
          <a:xfrm>
            <a:off x="1920240" y="2148840"/>
            <a:ext cx="8321040" cy="1051560"/>
          </a:xfrm>
          <a:prstGeom prst="rect">
            <a:avLst/>
          </a:prstGeom>
          <a:noFill/>
          <a:ln/>
        </p:spPr>
        <p:txBody>
          <a:bodyPr wrap="square" lIns="0" tIns="0" rIns="0" bIns="0" rtlCol="0" anchor="ctr"/>
          <a:lstStyle/>
          <a:p>
            <a:pPr marL="0" indent="0" algn="ctr">
              <a:buNone/>
            </a:pPr>
            <a:r>
              <a:rPr lang="en-US" sz="2600" b="1" dirty="0">
                <a:solidFill>
                  <a:srgbClr val="1E2A44"/>
                </a:solidFill>
                <a:latin typeface="Courier New" pitchFamily="34" charset="0"/>
                <a:ea typeface="Courier New" pitchFamily="34" charset="-122"/>
                <a:cs typeface="Courier New" pitchFamily="34" charset="-120"/>
              </a:rPr>
              <a:t>T(n)  =  T(k)  +  T(n − 1 − k)  +  Θ(n)</a:t>
            </a:r>
            <a:endParaRPr lang="en-US" sz="2600" dirty="0"/>
          </a:p>
        </p:txBody>
      </p:sp>
      <p:sp>
        <p:nvSpPr>
          <p:cNvPr id="7" name="Text 5"/>
          <p:cNvSpPr txBox="1"/>
          <p:nvPr/>
        </p:nvSpPr>
        <p:spPr>
          <a:xfrm>
            <a:off x="502920" y="3429000"/>
            <a:ext cx="11183112" cy="146304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350" b="1" dirty="0">
                <a:solidFill>
                  <a:srgbClr val="1E2A44"/>
                </a:solidFill>
                <a:latin typeface="Calibri" pitchFamily="34" charset="0"/>
                <a:ea typeface="Calibri" pitchFamily="34" charset="-122"/>
                <a:cs typeface="Calibri" pitchFamily="34" charset="-120"/>
              </a:rPr>
              <a:t>k </a:t>
            </a:r>
            <a:r>
              <a:rPr lang="en-US" sz="1350" dirty="0">
                <a:solidFill>
                  <a:srgbClr val="333F50"/>
                </a:solidFill>
                <a:latin typeface="Calibri" pitchFamily="34" charset="0"/>
                <a:ea typeface="Calibri" pitchFamily="34" charset="-122"/>
                <a:cs typeface="Calibri" pitchFamily="34" charset="-120"/>
              </a:rPr>
              <a:t>= the number of elements that land to the left of the pivot, 0 ≤ k ≤ n−1.</a:t>
            </a:r>
            <a:endParaRPr lang="en-US" sz="1350" dirty="0"/>
          </a:p>
          <a:p>
            <a:pPr marL="177800" indent="-177800">
              <a:lnSpc>
                <a:spcPct val="115000"/>
              </a:lnSpc>
              <a:spcAft>
                <a:spcPts val="1000"/>
              </a:spcAft>
              <a:buSzPct val="100000"/>
              <a:buChar char="•"/>
            </a:pPr>
            <a:r>
              <a:rPr lang="en-US" sz="1350" b="1" dirty="0">
                <a:solidFill>
                  <a:srgbClr val="1E2A44"/>
                </a:solidFill>
                <a:latin typeface="Calibri" pitchFamily="34" charset="0"/>
                <a:ea typeface="Calibri" pitchFamily="34" charset="-122"/>
                <a:cs typeface="Calibri" pitchFamily="34" charset="-120"/>
              </a:rPr>
              <a:t>Θ(n) </a:t>
            </a:r>
            <a:r>
              <a:rPr lang="en-US" sz="1350" dirty="0">
                <a:solidFill>
                  <a:srgbClr val="333F50"/>
                </a:solidFill>
                <a:latin typeface="Calibri" pitchFamily="34" charset="0"/>
                <a:ea typeface="Calibri" pitchFamily="34" charset="-122"/>
                <a:cs typeface="Calibri" pitchFamily="34" charset="-120"/>
              </a:rPr>
              <a:t>= the cost of Partition itself, regardless of how it splits.</a:t>
            </a:r>
            <a:endParaRPr lang="en-US" sz="1350" dirty="0"/>
          </a:p>
          <a:p>
            <a:pPr marL="177800" indent="-177800">
              <a:lnSpc>
                <a:spcPct val="115000"/>
              </a:lnSpc>
              <a:spcAft>
                <a:spcPts val="1000"/>
              </a:spcAft>
              <a:buSzPct val="100000"/>
              <a:buChar char="•"/>
            </a:pPr>
            <a:r>
              <a:rPr lang="en-US" sz="1350" b="1" dirty="0">
                <a:solidFill>
                  <a:srgbClr val="1E2A44"/>
                </a:solidFill>
                <a:latin typeface="Calibri" pitchFamily="34" charset="0"/>
                <a:ea typeface="Calibri" pitchFamily="34" charset="-122"/>
                <a:cs typeface="Calibri" pitchFamily="34" charset="-120"/>
              </a:rPr>
              <a:t>Unlike Merge Sort's fixed T(n) = 2T(n/2) + Θ(n), </a:t>
            </a:r>
            <a:r>
              <a:rPr lang="en-US" sz="1350" dirty="0">
                <a:solidFill>
                  <a:srgbClr val="333F50"/>
                </a:solidFill>
                <a:latin typeface="Calibri" pitchFamily="34" charset="0"/>
                <a:ea typeface="Calibri" pitchFamily="34" charset="-122"/>
                <a:cs typeface="Calibri" pitchFamily="34" charset="-120"/>
              </a:rPr>
              <a:t>k depends on the input and the pivot choice — it isn't fixed. That's the whole story of Quicksort's analysis.</a:t>
            </a:r>
            <a:endParaRPr lang="en-US" sz="1350" dirty="0"/>
          </a:p>
        </p:txBody>
      </p:sp>
      <p:sp>
        <p:nvSpPr>
          <p:cNvPr id="8" name="Shape 6"/>
          <p:cNvSpPr/>
          <p:nvPr/>
        </p:nvSpPr>
        <p:spPr>
          <a:xfrm>
            <a:off x="502920" y="5074920"/>
            <a:ext cx="11183112" cy="822960"/>
          </a:xfrm>
          <a:prstGeom prst="roundRect">
            <a:avLst>
              <a:gd name="adj" fmla="val 6667"/>
            </a:avLst>
          </a:prstGeom>
          <a:solidFill>
            <a:srgbClr val="F4F5F7"/>
          </a:solidFill>
          <a:ln/>
        </p:spPr>
        <p:txBody>
          <a:bodyPr/>
          <a:lstStyle/>
          <a:p>
            <a:endParaRPr lang="en-US"/>
          </a:p>
        </p:txBody>
      </p:sp>
      <p:sp>
        <p:nvSpPr>
          <p:cNvPr id="9" name="Text 7"/>
          <p:cNvSpPr txBox="1"/>
          <p:nvPr/>
        </p:nvSpPr>
        <p:spPr>
          <a:xfrm>
            <a:off x="758952" y="522122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Coming up</a:t>
            </a:r>
            <a:endParaRPr lang="en-US" sz="1200" dirty="0"/>
          </a:p>
        </p:txBody>
      </p:sp>
      <p:sp>
        <p:nvSpPr>
          <p:cNvPr id="10" name="Text 8"/>
          <p:cNvSpPr txBox="1"/>
          <p:nvPr/>
        </p:nvSpPr>
        <p:spPr>
          <a:xfrm>
            <a:off x="758952" y="5513832"/>
            <a:ext cx="10671048" cy="27432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What happens at the two extremes of k: a perfectly balanced split, and the most unbalanced split possible.</a:t>
            </a:r>
            <a:endParaRPr lang="en-US" sz="1250" dirty="0"/>
          </a:p>
        </p:txBody>
      </p:sp>
      <p:sp>
        <p:nvSpPr>
          <p:cNvPr id="11" name="Text 9"/>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2" name="Text 10"/>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RUNTIME ANALYSIS</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Best Case: A Perfect Split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If every pivot lands near the median, k ≈ n/2 at every level.</a:t>
            </a:r>
            <a:endParaRPr lang="en-US" sz="1350" dirty="0"/>
          </a:p>
        </p:txBody>
      </p:sp>
      <p:sp>
        <p:nvSpPr>
          <p:cNvPr id="5" name="Shape 3"/>
          <p:cNvSpPr/>
          <p:nvPr/>
        </p:nvSpPr>
        <p:spPr>
          <a:xfrm>
            <a:off x="502920" y="1920240"/>
            <a:ext cx="4937760" cy="777240"/>
          </a:xfrm>
          <a:prstGeom prst="roundRect">
            <a:avLst>
              <a:gd name="adj" fmla="val 9412"/>
            </a:avLst>
          </a:prstGeom>
          <a:solidFill>
            <a:srgbClr val="EEF3FC"/>
          </a:solidFill>
          <a:ln/>
        </p:spPr>
        <p:txBody>
          <a:bodyPr/>
          <a:lstStyle/>
          <a:p>
            <a:endParaRPr lang="en-US"/>
          </a:p>
        </p:txBody>
      </p:sp>
      <p:sp>
        <p:nvSpPr>
          <p:cNvPr id="6" name="Text 4"/>
          <p:cNvSpPr txBox="1"/>
          <p:nvPr/>
        </p:nvSpPr>
        <p:spPr>
          <a:xfrm>
            <a:off x="502920" y="1920240"/>
            <a:ext cx="4937760" cy="777240"/>
          </a:xfrm>
          <a:prstGeom prst="rect">
            <a:avLst/>
          </a:prstGeom>
          <a:noFill/>
          <a:ln/>
        </p:spPr>
        <p:txBody>
          <a:bodyPr wrap="square" lIns="0" tIns="0" rIns="0" bIns="0" rtlCol="0" anchor="ctr"/>
          <a:lstStyle/>
          <a:p>
            <a:pPr marL="0" indent="0" algn="ctr">
              <a:buNone/>
            </a:pPr>
            <a:r>
              <a:rPr lang="en-US" sz="1900" b="1" dirty="0">
                <a:solidFill>
                  <a:srgbClr val="1E2A44"/>
                </a:solidFill>
                <a:latin typeface="Courier New" pitchFamily="34" charset="0"/>
                <a:ea typeface="Courier New" pitchFamily="34" charset="-122"/>
                <a:cs typeface="Courier New" pitchFamily="34" charset="-120"/>
              </a:rPr>
              <a:t>T(n) = 2T(n/2) + Θ(n)</a:t>
            </a:r>
            <a:endParaRPr lang="en-US" sz="1900" dirty="0"/>
          </a:p>
        </p:txBody>
      </p:sp>
      <p:sp>
        <p:nvSpPr>
          <p:cNvPr id="7" name="Text 5"/>
          <p:cNvSpPr txBox="1"/>
          <p:nvPr/>
        </p:nvSpPr>
        <p:spPr>
          <a:xfrm>
            <a:off x="502920" y="2743200"/>
            <a:ext cx="4937760" cy="274320"/>
          </a:xfrm>
          <a:prstGeom prst="rect">
            <a:avLst/>
          </a:prstGeom>
          <a:noFill/>
          <a:ln/>
        </p:spPr>
        <p:txBody>
          <a:bodyPr wrap="square" lIns="0" tIns="0" rIns="0" bIns="0" rtlCol="0" anchor="ctr"/>
          <a:lstStyle/>
          <a:p>
            <a:pPr marL="0" indent="0" algn="ctr">
              <a:buNone/>
            </a:pPr>
            <a:r>
              <a:rPr lang="en-US" sz="1150" i="1" dirty="0">
                <a:solidFill>
                  <a:srgbClr val="595959"/>
                </a:solidFill>
                <a:latin typeface="Calibri" pitchFamily="34" charset="0"/>
                <a:ea typeface="Calibri" pitchFamily="34" charset="-122"/>
                <a:cs typeface="Calibri" pitchFamily="34" charset="-120"/>
              </a:rPr>
              <a:t>— identical in shape to Merge Sort's recurrence!</a:t>
            </a:r>
            <a:endParaRPr lang="en-US" sz="1150" dirty="0"/>
          </a:p>
        </p:txBody>
      </p:sp>
      <p:sp>
        <p:nvSpPr>
          <p:cNvPr id="8" name="Text 6"/>
          <p:cNvSpPr txBox="1"/>
          <p:nvPr/>
        </p:nvSpPr>
        <p:spPr>
          <a:xfrm>
            <a:off x="8686800" y="1965960"/>
            <a:ext cx="731520" cy="320040"/>
          </a:xfrm>
          <a:prstGeom prst="rect">
            <a:avLst/>
          </a:prstGeom>
          <a:noFill/>
          <a:ln/>
        </p:spPr>
        <p:txBody>
          <a:bodyPr wrap="square" lIns="0" tIns="0" rIns="0" bIns="0" rtlCol="0" anchor="ctr"/>
          <a:lstStyle/>
          <a:p>
            <a:pPr marL="0" indent="0" algn="ctr">
              <a:buNone/>
            </a:pPr>
            <a:r>
              <a:rPr lang="en-US" sz="1300" b="1" dirty="0">
                <a:solidFill>
                  <a:srgbClr val="1E2A44"/>
                </a:solidFill>
                <a:latin typeface="Courier New" pitchFamily="34" charset="0"/>
                <a:ea typeface="Courier New" pitchFamily="34" charset="-122"/>
                <a:cs typeface="Courier New" pitchFamily="34" charset="-120"/>
              </a:rPr>
              <a:t>n</a:t>
            </a:r>
            <a:endParaRPr lang="en-US" sz="1300" dirty="0"/>
          </a:p>
        </p:txBody>
      </p:sp>
      <p:sp>
        <p:nvSpPr>
          <p:cNvPr id="9" name="Text 7"/>
          <p:cNvSpPr txBox="1"/>
          <p:nvPr/>
        </p:nvSpPr>
        <p:spPr>
          <a:xfrm>
            <a:off x="7589520" y="2514600"/>
            <a:ext cx="2926080" cy="320040"/>
          </a:xfrm>
          <a:prstGeom prst="rect">
            <a:avLst/>
          </a:prstGeom>
          <a:noFill/>
          <a:ln/>
        </p:spPr>
        <p:txBody>
          <a:bodyPr wrap="square" lIns="0" tIns="0" rIns="0" bIns="0" rtlCol="0" anchor="ctr"/>
          <a:lstStyle/>
          <a:p>
            <a:pPr marL="0" indent="0" algn="ctr">
              <a:buNone/>
            </a:pPr>
            <a:r>
              <a:rPr lang="en-US" sz="1300" b="1" dirty="0">
                <a:solidFill>
                  <a:srgbClr val="1E2A44"/>
                </a:solidFill>
                <a:latin typeface="Courier New" pitchFamily="34" charset="0"/>
                <a:ea typeface="Courier New" pitchFamily="34" charset="-122"/>
                <a:cs typeface="Courier New" pitchFamily="34" charset="-120"/>
              </a:rPr>
              <a:t>n/2         n/2</a:t>
            </a:r>
            <a:endParaRPr lang="en-US" sz="1300" dirty="0"/>
          </a:p>
        </p:txBody>
      </p:sp>
      <p:sp>
        <p:nvSpPr>
          <p:cNvPr id="10" name="Text 8"/>
          <p:cNvSpPr txBox="1"/>
          <p:nvPr/>
        </p:nvSpPr>
        <p:spPr>
          <a:xfrm>
            <a:off x="6492240" y="3063240"/>
            <a:ext cx="3291840" cy="320040"/>
          </a:xfrm>
          <a:prstGeom prst="rect">
            <a:avLst/>
          </a:prstGeom>
          <a:noFill/>
          <a:ln/>
        </p:spPr>
        <p:txBody>
          <a:bodyPr wrap="square" lIns="0" tIns="0" rIns="0" bIns="0" rtlCol="0" anchor="ctr"/>
          <a:lstStyle/>
          <a:p>
            <a:pPr marL="0" indent="0" algn="ctr">
              <a:buNone/>
            </a:pPr>
            <a:r>
              <a:rPr lang="en-US" sz="1150" b="1" dirty="0">
                <a:solidFill>
                  <a:srgbClr val="1E2A44"/>
                </a:solidFill>
                <a:latin typeface="Courier New" pitchFamily="34" charset="0"/>
                <a:ea typeface="Courier New" pitchFamily="34" charset="-122"/>
                <a:cs typeface="Courier New" pitchFamily="34" charset="-120"/>
              </a:rPr>
              <a:t>n/4   n/4   n/4   n/4</a:t>
            </a:r>
            <a:endParaRPr lang="en-US" sz="1150" dirty="0"/>
          </a:p>
        </p:txBody>
      </p:sp>
      <p:sp>
        <p:nvSpPr>
          <p:cNvPr id="11" name="Text 9"/>
          <p:cNvSpPr txBox="1"/>
          <p:nvPr/>
        </p:nvSpPr>
        <p:spPr>
          <a:xfrm>
            <a:off x="7955280" y="3429000"/>
            <a:ext cx="731520" cy="320040"/>
          </a:xfrm>
          <a:prstGeom prst="rect">
            <a:avLst/>
          </a:prstGeom>
          <a:noFill/>
          <a:ln/>
        </p:spPr>
        <p:txBody>
          <a:bodyPr wrap="square" lIns="0" tIns="0" rIns="0" bIns="0" rtlCol="0" anchor="ctr"/>
          <a:lstStyle/>
          <a:p>
            <a:pPr marL="0" indent="0" algn="ctr">
              <a:buNone/>
            </a:pPr>
            <a:r>
              <a:rPr lang="en-US" sz="1600" dirty="0">
                <a:solidFill>
                  <a:srgbClr val="595959"/>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6217920" y="3794760"/>
            <a:ext cx="3840480" cy="320040"/>
          </a:xfrm>
          <a:prstGeom prst="rect">
            <a:avLst/>
          </a:prstGeom>
          <a:noFill/>
          <a:ln/>
        </p:spPr>
        <p:txBody>
          <a:bodyPr wrap="square" lIns="0" tIns="0" rIns="0" bIns="0" rtlCol="0" anchor="ctr"/>
          <a:lstStyle/>
          <a:p>
            <a:pPr marL="0" indent="0" algn="ctr">
              <a:buNone/>
            </a:pPr>
            <a:r>
              <a:rPr lang="en-US" sz="1050" dirty="0">
                <a:solidFill>
                  <a:srgbClr val="1E2A44"/>
                </a:solidFill>
                <a:latin typeface="Courier New" pitchFamily="34" charset="0"/>
                <a:ea typeface="Courier New" pitchFamily="34" charset="-122"/>
                <a:cs typeface="Courier New" pitchFamily="34" charset="-120"/>
              </a:rPr>
              <a:t>1  1  1  1  …  1  1</a:t>
            </a:r>
            <a:endParaRPr lang="en-US" sz="1050" dirty="0"/>
          </a:p>
        </p:txBody>
      </p:sp>
      <p:sp>
        <p:nvSpPr>
          <p:cNvPr id="13" name="Text 11"/>
          <p:cNvSpPr txBox="1"/>
          <p:nvPr/>
        </p:nvSpPr>
        <p:spPr>
          <a:xfrm>
            <a:off x="6217920" y="4206240"/>
            <a:ext cx="3840480" cy="274320"/>
          </a:xfrm>
          <a:prstGeom prst="rect">
            <a:avLst/>
          </a:prstGeom>
          <a:noFill/>
          <a:ln/>
        </p:spPr>
        <p:txBody>
          <a:bodyPr wrap="square" lIns="0" tIns="0" rIns="0" bIns="0" rtlCol="0" anchor="ctr"/>
          <a:lstStyle/>
          <a:p>
            <a:pPr marL="0" indent="0" algn="ctr">
              <a:buNone/>
            </a:pPr>
            <a:r>
              <a:rPr lang="en-US" sz="1050" i="1" dirty="0">
                <a:solidFill>
                  <a:srgbClr val="595959"/>
                </a:solidFill>
                <a:latin typeface="Calibri" pitchFamily="34" charset="0"/>
                <a:ea typeface="Calibri" pitchFamily="34" charset="-122"/>
                <a:cs typeface="Calibri" pitchFamily="34" charset="-120"/>
              </a:rPr>
              <a:t>log n + 1 levels, Θ(n) total work per level</a:t>
            </a:r>
            <a:endParaRPr lang="en-US" sz="1050" dirty="0"/>
          </a:p>
        </p:txBody>
      </p:sp>
      <p:sp>
        <p:nvSpPr>
          <p:cNvPr id="14" name="Shape 12"/>
          <p:cNvSpPr/>
          <p:nvPr/>
        </p:nvSpPr>
        <p:spPr>
          <a:xfrm>
            <a:off x="502920" y="4892040"/>
            <a:ext cx="4937760" cy="777240"/>
          </a:xfrm>
          <a:prstGeom prst="roundRect">
            <a:avLst>
              <a:gd name="adj" fmla="val 9412"/>
            </a:avLst>
          </a:prstGeom>
          <a:solidFill>
            <a:srgbClr val="1E2A44"/>
          </a:solidFill>
          <a:ln/>
        </p:spPr>
        <p:txBody>
          <a:bodyPr/>
          <a:lstStyle/>
          <a:p>
            <a:endParaRPr lang="en-US"/>
          </a:p>
        </p:txBody>
      </p:sp>
      <p:sp>
        <p:nvSpPr>
          <p:cNvPr id="15" name="Text 13"/>
          <p:cNvSpPr txBox="1"/>
          <p:nvPr/>
        </p:nvSpPr>
        <p:spPr>
          <a:xfrm>
            <a:off x="502920" y="4892040"/>
            <a:ext cx="4937760" cy="7772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Result:  O(n log n)</a:t>
            </a:r>
            <a:endParaRPr lang="en-US" sz="2000" dirty="0"/>
          </a:p>
        </p:txBody>
      </p:sp>
      <p:sp>
        <p:nvSpPr>
          <p:cNvPr id="16" name="Text 14"/>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7" name="Text 15"/>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RUNTIME ANALYSIS</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Worst Case: Already-Sorted Input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Picking the first element as pivot on sorted input is the pathological case.</a:t>
            </a:r>
            <a:endParaRPr lang="en-US" sz="1350" dirty="0"/>
          </a:p>
        </p:txBody>
      </p:sp>
      <p:sp>
        <p:nvSpPr>
          <p:cNvPr id="5" name="Shape 3"/>
          <p:cNvSpPr/>
          <p:nvPr/>
        </p:nvSpPr>
        <p:spPr>
          <a:xfrm>
            <a:off x="3200400" y="1920240"/>
            <a:ext cx="621792" cy="475488"/>
          </a:xfrm>
          <a:prstGeom prst="rect">
            <a:avLst/>
          </a:prstGeom>
          <a:solidFill>
            <a:srgbClr val="FFC000"/>
          </a:solidFill>
          <a:ln w="15875">
            <a:solidFill>
              <a:srgbClr val="FFC000"/>
            </a:solidFill>
            <a:prstDash val="solid"/>
          </a:ln>
        </p:spPr>
        <p:txBody>
          <a:bodyPr/>
          <a:lstStyle/>
          <a:p>
            <a:endParaRPr lang="en-US"/>
          </a:p>
        </p:txBody>
      </p:sp>
      <p:sp>
        <p:nvSpPr>
          <p:cNvPr id="6" name="Text 4"/>
          <p:cNvSpPr txBox="1"/>
          <p:nvPr/>
        </p:nvSpPr>
        <p:spPr>
          <a:xfrm>
            <a:off x="3200400"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1</a:t>
            </a:r>
            <a:endParaRPr lang="en-US" sz="1400" dirty="0"/>
          </a:p>
        </p:txBody>
      </p:sp>
      <p:sp>
        <p:nvSpPr>
          <p:cNvPr id="7" name="Shape 5"/>
          <p:cNvSpPr/>
          <p:nvPr/>
        </p:nvSpPr>
        <p:spPr>
          <a:xfrm>
            <a:off x="3822192" y="1920240"/>
            <a:ext cx="621792" cy="475488"/>
          </a:xfrm>
          <a:prstGeom prst="rect">
            <a:avLst/>
          </a:prstGeom>
          <a:solidFill>
            <a:srgbClr val="FBE4D5"/>
          </a:solidFill>
          <a:ln w="15875">
            <a:solidFill>
              <a:srgbClr val="FBE4D5"/>
            </a:solidFill>
            <a:prstDash val="solid"/>
          </a:ln>
        </p:spPr>
        <p:txBody>
          <a:bodyPr/>
          <a:lstStyle/>
          <a:p>
            <a:endParaRPr lang="en-US"/>
          </a:p>
        </p:txBody>
      </p:sp>
      <p:sp>
        <p:nvSpPr>
          <p:cNvPr id="8" name="Text 6"/>
          <p:cNvSpPr txBox="1"/>
          <p:nvPr/>
        </p:nvSpPr>
        <p:spPr>
          <a:xfrm>
            <a:off x="3822192"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2</a:t>
            </a:r>
            <a:endParaRPr lang="en-US" sz="1400" dirty="0"/>
          </a:p>
        </p:txBody>
      </p:sp>
      <p:sp>
        <p:nvSpPr>
          <p:cNvPr id="9" name="Shape 7"/>
          <p:cNvSpPr/>
          <p:nvPr/>
        </p:nvSpPr>
        <p:spPr>
          <a:xfrm>
            <a:off x="4443984" y="1920240"/>
            <a:ext cx="621792" cy="475488"/>
          </a:xfrm>
          <a:prstGeom prst="rect">
            <a:avLst/>
          </a:prstGeom>
          <a:solidFill>
            <a:srgbClr val="FBE4D5"/>
          </a:solidFill>
          <a:ln w="15875">
            <a:solidFill>
              <a:srgbClr val="FBE4D5"/>
            </a:solidFill>
            <a:prstDash val="solid"/>
          </a:ln>
        </p:spPr>
        <p:txBody>
          <a:bodyPr/>
          <a:lstStyle/>
          <a:p>
            <a:endParaRPr lang="en-US"/>
          </a:p>
        </p:txBody>
      </p:sp>
      <p:sp>
        <p:nvSpPr>
          <p:cNvPr id="10" name="Text 8"/>
          <p:cNvSpPr txBox="1"/>
          <p:nvPr/>
        </p:nvSpPr>
        <p:spPr>
          <a:xfrm>
            <a:off x="4443984"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a:t>
            </a:r>
            <a:endParaRPr lang="en-US" sz="1400" dirty="0"/>
          </a:p>
        </p:txBody>
      </p:sp>
      <p:sp>
        <p:nvSpPr>
          <p:cNvPr id="11" name="Shape 9"/>
          <p:cNvSpPr/>
          <p:nvPr/>
        </p:nvSpPr>
        <p:spPr>
          <a:xfrm>
            <a:off x="5065776" y="1920240"/>
            <a:ext cx="621792" cy="475488"/>
          </a:xfrm>
          <a:prstGeom prst="rect">
            <a:avLst/>
          </a:prstGeom>
          <a:solidFill>
            <a:srgbClr val="FBE4D5"/>
          </a:solidFill>
          <a:ln w="15875">
            <a:solidFill>
              <a:srgbClr val="FBE4D5"/>
            </a:solidFill>
            <a:prstDash val="solid"/>
          </a:ln>
        </p:spPr>
        <p:txBody>
          <a:bodyPr/>
          <a:lstStyle/>
          <a:p>
            <a:endParaRPr lang="en-US"/>
          </a:p>
        </p:txBody>
      </p:sp>
      <p:sp>
        <p:nvSpPr>
          <p:cNvPr id="12" name="Text 10"/>
          <p:cNvSpPr txBox="1"/>
          <p:nvPr/>
        </p:nvSpPr>
        <p:spPr>
          <a:xfrm>
            <a:off x="5065776"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4</a:t>
            </a:r>
            <a:endParaRPr lang="en-US" sz="1400" dirty="0"/>
          </a:p>
        </p:txBody>
      </p:sp>
      <p:sp>
        <p:nvSpPr>
          <p:cNvPr id="13" name="Shape 11"/>
          <p:cNvSpPr/>
          <p:nvPr/>
        </p:nvSpPr>
        <p:spPr>
          <a:xfrm>
            <a:off x="5687568" y="1920240"/>
            <a:ext cx="621792" cy="475488"/>
          </a:xfrm>
          <a:prstGeom prst="rect">
            <a:avLst/>
          </a:prstGeom>
          <a:solidFill>
            <a:srgbClr val="FBE4D5"/>
          </a:solidFill>
          <a:ln w="15875">
            <a:solidFill>
              <a:srgbClr val="FBE4D5"/>
            </a:solidFill>
            <a:prstDash val="solid"/>
          </a:ln>
        </p:spPr>
        <p:txBody>
          <a:bodyPr/>
          <a:lstStyle/>
          <a:p>
            <a:endParaRPr lang="en-US"/>
          </a:p>
        </p:txBody>
      </p:sp>
      <p:sp>
        <p:nvSpPr>
          <p:cNvPr id="14" name="Text 12"/>
          <p:cNvSpPr txBox="1"/>
          <p:nvPr/>
        </p:nvSpPr>
        <p:spPr>
          <a:xfrm>
            <a:off x="5687568"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5</a:t>
            </a:r>
            <a:endParaRPr lang="en-US" sz="1400" dirty="0"/>
          </a:p>
        </p:txBody>
      </p:sp>
      <p:sp>
        <p:nvSpPr>
          <p:cNvPr id="15" name="Shape 13"/>
          <p:cNvSpPr/>
          <p:nvPr/>
        </p:nvSpPr>
        <p:spPr>
          <a:xfrm>
            <a:off x="6309360" y="1920240"/>
            <a:ext cx="621792" cy="475488"/>
          </a:xfrm>
          <a:prstGeom prst="rect">
            <a:avLst/>
          </a:prstGeom>
          <a:solidFill>
            <a:srgbClr val="FBE4D5"/>
          </a:solidFill>
          <a:ln w="15875">
            <a:solidFill>
              <a:srgbClr val="FBE4D5"/>
            </a:solidFill>
            <a:prstDash val="solid"/>
          </a:ln>
        </p:spPr>
        <p:txBody>
          <a:bodyPr/>
          <a:lstStyle/>
          <a:p>
            <a:endParaRPr lang="en-US"/>
          </a:p>
        </p:txBody>
      </p:sp>
      <p:sp>
        <p:nvSpPr>
          <p:cNvPr id="16" name="Text 14"/>
          <p:cNvSpPr txBox="1"/>
          <p:nvPr/>
        </p:nvSpPr>
        <p:spPr>
          <a:xfrm>
            <a:off x="6309360"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6</a:t>
            </a:r>
            <a:endParaRPr lang="en-US" sz="1400" dirty="0"/>
          </a:p>
        </p:txBody>
      </p:sp>
      <p:sp>
        <p:nvSpPr>
          <p:cNvPr id="17" name="Shape 15"/>
          <p:cNvSpPr/>
          <p:nvPr/>
        </p:nvSpPr>
        <p:spPr>
          <a:xfrm>
            <a:off x="6931152" y="1920240"/>
            <a:ext cx="621792" cy="475488"/>
          </a:xfrm>
          <a:prstGeom prst="rect">
            <a:avLst/>
          </a:prstGeom>
          <a:solidFill>
            <a:srgbClr val="FBE4D5"/>
          </a:solidFill>
          <a:ln w="15875">
            <a:solidFill>
              <a:srgbClr val="FBE4D5"/>
            </a:solidFill>
            <a:prstDash val="solid"/>
          </a:ln>
        </p:spPr>
        <p:txBody>
          <a:bodyPr/>
          <a:lstStyle/>
          <a:p>
            <a:endParaRPr lang="en-US"/>
          </a:p>
        </p:txBody>
      </p:sp>
      <p:sp>
        <p:nvSpPr>
          <p:cNvPr id="18" name="Text 16"/>
          <p:cNvSpPr txBox="1"/>
          <p:nvPr/>
        </p:nvSpPr>
        <p:spPr>
          <a:xfrm>
            <a:off x="6931152" y="1920240"/>
            <a:ext cx="621792" cy="475488"/>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7</a:t>
            </a:r>
            <a:endParaRPr lang="en-US" sz="1400" dirty="0"/>
          </a:p>
        </p:txBody>
      </p:sp>
      <p:sp>
        <p:nvSpPr>
          <p:cNvPr id="19" name="Text 17"/>
          <p:cNvSpPr txBox="1"/>
          <p:nvPr/>
        </p:nvSpPr>
        <p:spPr>
          <a:xfrm>
            <a:off x="1828800" y="2487168"/>
            <a:ext cx="8595360" cy="274320"/>
          </a:xfrm>
          <a:prstGeom prst="rect">
            <a:avLst/>
          </a:prstGeom>
          <a:noFill/>
          <a:ln/>
        </p:spPr>
        <p:txBody>
          <a:bodyPr wrap="square" lIns="0" tIns="0" rIns="0" bIns="0" rtlCol="0" anchor="ctr"/>
          <a:lstStyle/>
          <a:p>
            <a:pPr marL="0" indent="0" algn="ctr">
              <a:buNone/>
            </a:pPr>
            <a:r>
              <a:rPr lang="en-US" sz="1150" i="1" dirty="0">
                <a:solidFill>
                  <a:srgbClr val="595959"/>
                </a:solidFill>
                <a:latin typeface="Calibri" pitchFamily="34" charset="0"/>
                <a:ea typeface="Calibri" pitchFamily="34" charset="-122"/>
                <a:cs typeface="Calibri" pitchFamily="34" charset="-120"/>
              </a:rPr>
              <a:t>pivot = A[0] = 1  —  every other element is greater  →  k = 0</a:t>
            </a:r>
            <a:endParaRPr lang="en-US" sz="1150" dirty="0"/>
          </a:p>
        </p:txBody>
      </p:sp>
      <p:sp>
        <p:nvSpPr>
          <p:cNvPr id="20" name="Shape 18"/>
          <p:cNvSpPr/>
          <p:nvPr/>
        </p:nvSpPr>
        <p:spPr>
          <a:xfrm>
            <a:off x="502920" y="2971800"/>
            <a:ext cx="4937760" cy="777240"/>
          </a:xfrm>
          <a:prstGeom prst="roundRect">
            <a:avLst>
              <a:gd name="adj" fmla="val 9412"/>
            </a:avLst>
          </a:prstGeom>
          <a:solidFill>
            <a:srgbClr val="FBE4D5"/>
          </a:solidFill>
          <a:ln/>
        </p:spPr>
        <p:txBody>
          <a:bodyPr/>
          <a:lstStyle/>
          <a:p>
            <a:endParaRPr lang="en-US"/>
          </a:p>
        </p:txBody>
      </p:sp>
      <p:sp>
        <p:nvSpPr>
          <p:cNvPr id="21" name="Text 19"/>
          <p:cNvSpPr txBox="1"/>
          <p:nvPr/>
        </p:nvSpPr>
        <p:spPr>
          <a:xfrm>
            <a:off x="502920" y="2971800"/>
            <a:ext cx="4937760" cy="777240"/>
          </a:xfrm>
          <a:prstGeom prst="rect">
            <a:avLst/>
          </a:prstGeom>
          <a:noFill/>
          <a:ln/>
        </p:spPr>
        <p:txBody>
          <a:bodyPr wrap="square" lIns="0" tIns="0" rIns="0" bIns="0" rtlCol="0" anchor="ctr"/>
          <a:lstStyle/>
          <a:p>
            <a:pPr marL="0" indent="0" algn="ctr">
              <a:buNone/>
            </a:pPr>
            <a:r>
              <a:rPr lang="en-US" sz="1800" b="1" dirty="0">
                <a:solidFill>
                  <a:srgbClr val="1E2A44"/>
                </a:solidFill>
                <a:latin typeface="Courier New" pitchFamily="34" charset="0"/>
                <a:ea typeface="Courier New" pitchFamily="34" charset="-122"/>
                <a:cs typeface="Courier New" pitchFamily="34" charset="-120"/>
              </a:rPr>
              <a:t>T(n) = T(n−1) + Θ(n)</a:t>
            </a:r>
            <a:endParaRPr lang="en-US" sz="1800" dirty="0"/>
          </a:p>
        </p:txBody>
      </p:sp>
      <p:sp>
        <p:nvSpPr>
          <p:cNvPr id="22" name="Shape 20"/>
          <p:cNvSpPr/>
          <p:nvPr/>
        </p:nvSpPr>
        <p:spPr>
          <a:xfrm>
            <a:off x="6675120" y="2971800"/>
            <a:ext cx="685800" cy="365760"/>
          </a:xfrm>
          <a:prstGeom prst="roundRect">
            <a:avLst>
              <a:gd name="adj" fmla="val 12500"/>
            </a:avLst>
          </a:prstGeom>
          <a:solidFill>
            <a:srgbClr val="FBE4D5"/>
          </a:solidFill>
          <a:ln/>
        </p:spPr>
        <p:txBody>
          <a:bodyPr/>
          <a:lstStyle/>
          <a:p>
            <a:endParaRPr lang="en-US"/>
          </a:p>
        </p:txBody>
      </p:sp>
      <p:sp>
        <p:nvSpPr>
          <p:cNvPr id="23" name="Text 21"/>
          <p:cNvSpPr txBox="1"/>
          <p:nvPr/>
        </p:nvSpPr>
        <p:spPr>
          <a:xfrm>
            <a:off x="6675120" y="2971800"/>
            <a:ext cx="685800" cy="365760"/>
          </a:xfrm>
          <a:prstGeom prst="rect">
            <a:avLst/>
          </a:prstGeom>
          <a:noFill/>
          <a:ln/>
        </p:spPr>
        <p:txBody>
          <a:bodyPr wrap="square" lIns="0" tIns="0" rIns="0" bIns="0" rtlCol="0" anchor="ctr"/>
          <a:lstStyle/>
          <a:p>
            <a:pPr marL="0" indent="0" algn="ctr">
              <a:buNone/>
            </a:pPr>
            <a:r>
              <a:rPr lang="en-US" sz="1200" b="1" dirty="0">
                <a:solidFill>
                  <a:srgbClr val="1E2A44"/>
                </a:solidFill>
                <a:latin typeface="Courier New" pitchFamily="34" charset="0"/>
                <a:ea typeface="Courier New" pitchFamily="34" charset="-122"/>
                <a:cs typeface="Courier New" pitchFamily="34" charset="-120"/>
              </a:rPr>
              <a:t>n</a:t>
            </a:r>
            <a:endParaRPr lang="en-US" sz="1200" dirty="0"/>
          </a:p>
        </p:txBody>
      </p:sp>
      <p:sp>
        <p:nvSpPr>
          <p:cNvPr id="24" name="Shape 22"/>
          <p:cNvSpPr/>
          <p:nvPr/>
        </p:nvSpPr>
        <p:spPr>
          <a:xfrm>
            <a:off x="7571232" y="3081528"/>
            <a:ext cx="685800" cy="365760"/>
          </a:xfrm>
          <a:prstGeom prst="roundRect">
            <a:avLst>
              <a:gd name="adj" fmla="val 12500"/>
            </a:avLst>
          </a:prstGeom>
          <a:solidFill>
            <a:srgbClr val="FBE4D5"/>
          </a:solidFill>
          <a:ln/>
        </p:spPr>
        <p:txBody>
          <a:bodyPr/>
          <a:lstStyle/>
          <a:p>
            <a:endParaRPr lang="en-US"/>
          </a:p>
        </p:txBody>
      </p:sp>
      <p:sp>
        <p:nvSpPr>
          <p:cNvPr id="25" name="Text 23"/>
          <p:cNvSpPr txBox="1"/>
          <p:nvPr/>
        </p:nvSpPr>
        <p:spPr>
          <a:xfrm>
            <a:off x="7571232" y="3081528"/>
            <a:ext cx="685800" cy="365760"/>
          </a:xfrm>
          <a:prstGeom prst="rect">
            <a:avLst/>
          </a:prstGeom>
          <a:noFill/>
          <a:ln/>
        </p:spPr>
        <p:txBody>
          <a:bodyPr wrap="square" lIns="0" tIns="0" rIns="0" bIns="0" rtlCol="0" anchor="ctr"/>
          <a:lstStyle/>
          <a:p>
            <a:pPr marL="0" indent="0" algn="ctr">
              <a:buNone/>
            </a:pPr>
            <a:r>
              <a:rPr lang="en-US" sz="1200" b="1" dirty="0">
                <a:solidFill>
                  <a:srgbClr val="1E2A44"/>
                </a:solidFill>
                <a:latin typeface="Courier New" pitchFamily="34" charset="0"/>
                <a:ea typeface="Courier New" pitchFamily="34" charset="-122"/>
                <a:cs typeface="Courier New" pitchFamily="34" charset="-120"/>
              </a:rPr>
              <a:t>n−1</a:t>
            </a:r>
            <a:endParaRPr lang="en-US" sz="1200" dirty="0"/>
          </a:p>
        </p:txBody>
      </p:sp>
      <p:sp>
        <p:nvSpPr>
          <p:cNvPr id="26" name="Shape 24"/>
          <p:cNvSpPr/>
          <p:nvPr/>
        </p:nvSpPr>
        <p:spPr>
          <a:xfrm>
            <a:off x="8467344" y="3191256"/>
            <a:ext cx="685800" cy="365760"/>
          </a:xfrm>
          <a:prstGeom prst="roundRect">
            <a:avLst>
              <a:gd name="adj" fmla="val 12500"/>
            </a:avLst>
          </a:prstGeom>
          <a:solidFill>
            <a:srgbClr val="FBE4D5"/>
          </a:solidFill>
          <a:ln/>
        </p:spPr>
        <p:txBody>
          <a:bodyPr/>
          <a:lstStyle/>
          <a:p>
            <a:endParaRPr lang="en-US"/>
          </a:p>
        </p:txBody>
      </p:sp>
      <p:sp>
        <p:nvSpPr>
          <p:cNvPr id="27" name="Text 25"/>
          <p:cNvSpPr txBox="1"/>
          <p:nvPr/>
        </p:nvSpPr>
        <p:spPr>
          <a:xfrm>
            <a:off x="8467344" y="3191256"/>
            <a:ext cx="685800" cy="365760"/>
          </a:xfrm>
          <a:prstGeom prst="rect">
            <a:avLst/>
          </a:prstGeom>
          <a:noFill/>
          <a:ln/>
        </p:spPr>
        <p:txBody>
          <a:bodyPr wrap="square" lIns="0" tIns="0" rIns="0" bIns="0" rtlCol="0" anchor="ctr"/>
          <a:lstStyle/>
          <a:p>
            <a:pPr marL="0" indent="0" algn="ctr">
              <a:buNone/>
            </a:pPr>
            <a:r>
              <a:rPr lang="en-US" sz="1200" b="1" dirty="0">
                <a:solidFill>
                  <a:srgbClr val="1E2A44"/>
                </a:solidFill>
                <a:latin typeface="Courier New" pitchFamily="34" charset="0"/>
                <a:ea typeface="Courier New" pitchFamily="34" charset="-122"/>
                <a:cs typeface="Courier New" pitchFamily="34" charset="-120"/>
              </a:rPr>
              <a:t>n−2</a:t>
            </a:r>
            <a:endParaRPr lang="en-US" sz="1200" dirty="0"/>
          </a:p>
        </p:txBody>
      </p:sp>
      <p:sp>
        <p:nvSpPr>
          <p:cNvPr id="28" name="Shape 26"/>
          <p:cNvSpPr/>
          <p:nvPr/>
        </p:nvSpPr>
        <p:spPr>
          <a:xfrm>
            <a:off x="9363456" y="3300984"/>
            <a:ext cx="685800" cy="365760"/>
          </a:xfrm>
          <a:prstGeom prst="roundRect">
            <a:avLst>
              <a:gd name="adj" fmla="val 12500"/>
            </a:avLst>
          </a:prstGeom>
          <a:solidFill>
            <a:srgbClr val="FBE4D5"/>
          </a:solidFill>
          <a:ln/>
        </p:spPr>
        <p:txBody>
          <a:bodyPr/>
          <a:lstStyle/>
          <a:p>
            <a:endParaRPr lang="en-US"/>
          </a:p>
        </p:txBody>
      </p:sp>
      <p:sp>
        <p:nvSpPr>
          <p:cNvPr id="29" name="Text 27"/>
          <p:cNvSpPr txBox="1"/>
          <p:nvPr/>
        </p:nvSpPr>
        <p:spPr>
          <a:xfrm>
            <a:off x="9363456" y="3300984"/>
            <a:ext cx="685800" cy="365760"/>
          </a:xfrm>
          <a:prstGeom prst="rect">
            <a:avLst/>
          </a:prstGeom>
          <a:noFill/>
          <a:ln/>
        </p:spPr>
        <p:txBody>
          <a:bodyPr wrap="square" lIns="0" tIns="0" rIns="0" bIns="0" rtlCol="0" anchor="ctr"/>
          <a:lstStyle/>
          <a:p>
            <a:pPr marL="0" indent="0" algn="ctr">
              <a:buNone/>
            </a:pPr>
            <a:r>
              <a:rPr lang="en-US" sz="1200" b="1" dirty="0">
                <a:solidFill>
                  <a:srgbClr val="1E2A44"/>
                </a:solidFill>
                <a:latin typeface="Courier New" pitchFamily="34" charset="0"/>
                <a:ea typeface="Courier New" pitchFamily="34" charset="-122"/>
                <a:cs typeface="Courier New" pitchFamily="34" charset="-120"/>
              </a:rPr>
              <a:t>⋯</a:t>
            </a:r>
            <a:endParaRPr lang="en-US" sz="1200" dirty="0"/>
          </a:p>
        </p:txBody>
      </p:sp>
      <p:sp>
        <p:nvSpPr>
          <p:cNvPr id="30" name="Text 28"/>
          <p:cNvSpPr txBox="1"/>
          <p:nvPr/>
        </p:nvSpPr>
        <p:spPr>
          <a:xfrm>
            <a:off x="6492240" y="3657600"/>
            <a:ext cx="4114800" cy="274320"/>
          </a:xfrm>
          <a:prstGeom prst="rect">
            <a:avLst/>
          </a:prstGeom>
          <a:noFill/>
          <a:ln/>
        </p:spPr>
        <p:txBody>
          <a:bodyPr wrap="square" lIns="0" tIns="0" rIns="0" bIns="0" rtlCol="0" anchor="ctr"/>
          <a:lstStyle/>
          <a:p>
            <a:pPr marL="0" indent="0">
              <a:buNone/>
            </a:pPr>
            <a:r>
              <a:rPr lang="en-US" sz="1050" i="1" dirty="0">
                <a:solidFill>
                  <a:srgbClr val="595959"/>
                </a:solidFill>
                <a:latin typeface="Calibri" pitchFamily="34" charset="0"/>
                <a:ea typeface="Calibri" pitchFamily="34" charset="-122"/>
                <a:cs typeface="Calibri" pitchFamily="34" charset="-120"/>
              </a:rPr>
              <a:t>n levels deep — a straight chain, not a tree</a:t>
            </a:r>
            <a:endParaRPr lang="en-US" sz="1050" dirty="0"/>
          </a:p>
        </p:txBody>
      </p:sp>
      <p:sp>
        <p:nvSpPr>
          <p:cNvPr id="31" name="Text 29"/>
          <p:cNvSpPr txBox="1"/>
          <p:nvPr/>
        </p:nvSpPr>
        <p:spPr>
          <a:xfrm>
            <a:off x="502920" y="4160520"/>
            <a:ext cx="11183112" cy="54864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50" dirty="0">
                <a:solidFill>
                  <a:srgbClr val="333F50"/>
                </a:solidFill>
                <a:latin typeface="Calibri" pitchFamily="34" charset="0"/>
                <a:ea typeface="Calibri" pitchFamily="34" charset="-122"/>
                <a:cs typeface="Calibri" pitchFamily="34" charset="-120"/>
              </a:rPr>
              <a:t>Total work: Θ(n) + Θ(n−1) + ⋯ + Θ(1) = Θ(n²) — the same sum insertion sort pays in its worst case.</a:t>
            </a:r>
            <a:endParaRPr lang="en-US" sz="1250" dirty="0"/>
          </a:p>
        </p:txBody>
      </p:sp>
      <p:sp>
        <p:nvSpPr>
          <p:cNvPr id="32" name="Shape 30"/>
          <p:cNvSpPr/>
          <p:nvPr/>
        </p:nvSpPr>
        <p:spPr>
          <a:xfrm>
            <a:off x="502920" y="4892040"/>
            <a:ext cx="11183112" cy="777240"/>
          </a:xfrm>
          <a:prstGeom prst="roundRect">
            <a:avLst>
              <a:gd name="adj" fmla="val 9412"/>
            </a:avLst>
          </a:prstGeom>
          <a:solidFill>
            <a:srgbClr val="1E2A44"/>
          </a:solidFill>
          <a:ln/>
        </p:spPr>
        <p:txBody>
          <a:bodyPr/>
          <a:lstStyle/>
          <a:p>
            <a:endParaRPr lang="en-US"/>
          </a:p>
        </p:txBody>
      </p:sp>
      <p:sp>
        <p:nvSpPr>
          <p:cNvPr id="33" name="Text 31"/>
          <p:cNvSpPr txBox="1"/>
          <p:nvPr/>
        </p:nvSpPr>
        <p:spPr>
          <a:xfrm>
            <a:off x="502920" y="4892040"/>
            <a:ext cx="11183112" cy="777240"/>
          </a:xfrm>
          <a:prstGeom prst="rect">
            <a:avLst/>
          </a:prstGeom>
          <a:noFill/>
          <a:ln/>
        </p:spPr>
        <p:txBody>
          <a:bodyPr wrap="square" lIns="0" tIns="0" rIns="0" bIns="0" rtlCol="0" anchor="ctr"/>
          <a:lstStyle/>
          <a:p>
            <a:pPr marL="0" indent="0" algn="ctr">
              <a:buNone/>
            </a:pPr>
            <a:r>
              <a:rPr lang="en-US" sz="1650" b="1" dirty="0">
                <a:solidFill>
                  <a:srgbClr val="FFFFFF"/>
                </a:solidFill>
                <a:latin typeface="Calibri" pitchFamily="34" charset="0"/>
                <a:ea typeface="Calibri" pitchFamily="34" charset="-122"/>
                <a:cs typeface="Calibri" pitchFamily="34" charset="-120"/>
              </a:rPr>
              <a:t>Result:  O(n²)  — while Merge Sort still guarantees Θ(n log n) on this exact input</a:t>
            </a:r>
            <a:endParaRPr lang="en-US" sz="1650" dirty="0"/>
          </a:p>
        </p:txBody>
      </p:sp>
      <p:sp>
        <p:nvSpPr>
          <p:cNvPr id="34" name="Text 32"/>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35" name="Text 33"/>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THE FIX</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Randomized </a:t>
            </a:r>
            <a:r>
              <a:rPr lang="en-US" sz="2800" b="1" dirty="0" err="1">
                <a:solidFill>
                  <a:srgbClr val="1E2A44"/>
                </a:solidFill>
                <a:latin typeface="Calibri" pitchFamily="34" charset="0"/>
                <a:ea typeface="Calibri" pitchFamily="34" charset="-122"/>
                <a:cs typeface="Calibri" pitchFamily="34" charset="-120"/>
              </a:rPr>
              <a:t>QuickSort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An elegant one-line fix: stop trusting the input's order.</a:t>
            </a:r>
            <a:endParaRPr lang="en-US" sz="1350" dirty="0"/>
          </a:p>
        </p:txBody>
      </p:sp>
      <p:sp>
        <p:nvSpPr>
          <p:cNvPr id="5" name="Shape 3"/>
          <p:cNvSpPr/>
          <p:nvPr/>
        </p:nvSpPr>
        <p:spPr>
          <a:xfrm>
            <a:off x="502920" y="1965960"/>
            <a:ext cx="11183112" cy="1371600"/>
          </a:xfrm>
          <a:prstGeom prst="roundRect">
            <a:avLst>
              <a:gd name="adj" fmla="val 5333"/>
            </a:avLst>
          </a:prstGeom>
          <a:solidFill>
            <a:srgbClr val="24304A"/>
          </a:solidFill>
          <a:ln/>
        </p:spPr>
        <p:txBody>
          <a:bodyPr/>
          <a:lstStyle/>
          <a:p>
            <a:endParaRPr lang="en-US"/>
          </a:p>
        </p:txBody>
      </p:sp>
      <p:sp>
        <p:nvSpPr>
          <p:cNvPr id="6" name="Text 4"/>
          <p:cNvSpPr txBox="1"/>
          <p:nvPr/>
        </p:nvSpPr>
        <p:spPr>
          <a:xfrm>
            <a:off x="704088" y="2093976"/>
            <a:ext cx="10817352" cy="1115568"/>
          </a:xfrm>
          <a:prstGeom prst="rect">
            <a:avLst/>
          </a:prstGeom>
          <a:noFill/>
          <a:ln/>
        </p:spPr>
        <p:txBody>
          <a:bodyPr wrap="square" lIns="0" tIns="0" rIns="0" bIns="0" rtlCol="0" anchor="t"/>
          <a:lstStyle/>
          <a:p>
            <a:pPr marL="0" indent="0">
              <a:lnSpc>
                <a:spcPct val="128000"/>
              </a:lnSpc>
              <a:buNone/>
            </a:pPr>
            <a:r>
              <a:rPr lang="en-US" sz="1500" b="1" dirty="0">
                <a:solidFill>
                  <a:srgbClr val="FFC000"/>
                </a:solidFill>
                <a:latin typeface="Courier New" pitchFamily="34" charset="0"/>
                <a:ea typeface="Courier New" pitchFamily="34" charset="-122"/>
                <a:cs typeface="Courier New" pitchFamily="34" charset="-120"/>
              </a:rPr>
              <a:t>ChoosePivot</a:t>
            </a:r>
            <a:r>
              <a:rPr lang="en-US" sz="1500" dirty="0">
                <a:solidFill>
                  <a:srgbClr val="FFFFFF"/>
                </a:solidFill>
                <a:latin typeface="Courier New" pitchFamily="34" charset="0"/>
                <a:ea typeface="Courier New" pitchFamily="34" charset="-122"/>
                <a:cs typeface="Courier New" pitchFamily="34" charset="-120"/>
              </a:rPr>
              <a:t>(A, n):</a:t>
            </a:r>
            <a:endParaRPr lang="en-US" sz="1500" dirty="0"/>
          </a:p>
          <a:p>
            <a:pPr marL="0" indent="0">
              <a:lnSpc>
                <a:spcPct val="128000"/>
              </a:lnSpc>
              <a:buNone/>
            </a:pPr>
            <a:r>
              <a:rPr lang="en-US" sz="1500" dirty="0">
                <a:solidFill>
                  <a:srgbClr val="FFFFFF"/>
                </a:solidFill>
                <a:latin typeface="Courier New" pitchFamily="34" charset="0"/>
                <a:ea typeface="Courier New" pitchFamily="34" charset="-122"/>
                <a:cs typeface="Courier New" pitchFamily="34" charset="-120"/>
              </a:rPr>
              <a:t>  return a uniformly random element of A[0 .. n−1]</a:t>
            </a:r>
            <a:endParaRPr lang="en-US" sz="1500" dirty="0"/>
          </a:p>
        </p:txBody>
      </p:sp>
      <p:sp>
        <p:nvSpPr>
          <p:cNvPr id="7" name="Text 5"/>
          <p:cNvSpPr txBox="1"/>
          <p:nvPr/>
        </p:nvSpPr>
        <p:spPr>
          <a:xfrm>
            <a:off x="502920" y="3611880"/>
            <a:ext cx="11183112" cy="2103120"/>
          </a:xfrm>
          <a:prstGeom prst="rect">
            <a:avLst/>
          </a:prstGeom>
          <a:noFill/>
          <a:ln/>
        </p:spPr>
        <p:txBody>
          <a:bodyPr wrap="square" lIns="0" tIns="0" rIns="0" bIns="0" rtlCol="0" anchor="t"/>
          <a:lstStyle/>
          <a:p>
            <a:pPr marL="177800" indent="-177800">
              <a:lnSpc>
                <a:spcPct val="115000"/>
              </a:lnSpc>
              <a:spcAft>
                <a:spcPts val="1200"/>
              </a:spcAft>
              <a:buSzPct val="100000"/>
              <a:buChar char="•"/>
            </a:pPr>
            <a:r>
              <a:rPr lang="en-US" sz="1400" b="1" dirty="0">
                <a:solidFill>
                  <a:srgbClr val="1E2A44"/>
                </a:solidFill>
                <a:latin typeface="Calibri" pitchFamily="34" charset="0"/>
                <a:ea typeface="Calibri" pitchFamily="34" charset="-122"/>
                <a:cs typeface="Calibri" pitchFamily="34" charset="-120"/>
              </a:rPr>
              <a:t>Equivalent to shuffling A once up front, </a:t>
            </a:r>
            <a:r>
              <a:rPr lang="en-US" sz="1400" dirty="0">
                <a:solidFill>
                  <a:srgbClr val="333F50"/>
                </a:solidFill>
                <a:latin typeface="Calibri" pitchFamily="34" charset="0"/>
                <a:ea typeface="Calibri" pitchFamily="34" charset="-122"/>
                <a:cs typeface="Calibri" pitchFamily="34" charset="-120"/>
              </a:rPr>
              <a:t>then always picking the first element as before.</a:t>
            </a:r>
            <a:endParaRPr lang="en-US" sz="1400" dirty="0"/>
          </a:p>
          <a:p>
            <a:pPr marL="177800" indent="-177800">
              <a:lnSpc>
                <a:spcPct val="115000"/>
              </a:lnSpc>
              <a:spcAft>
                <a:spcPts val="1200"/>
              </a:spcAft>
              <a:buSzPct val="100000"/>
              <a:buChar char="•"/>
            </a:pPr>
            <a:r>
              <a:rPr lang="en-US" sz="1400" b="1" dirty="0">
                <a:solidFill>
                  <a:srgbClr val="1E2A44"/>
                </a:solidFill>
                <a:latin typeface="Calibri" pitchFamily="34" charset="0"/>
                <a:ea typeface="Calibri" pitchFamily="34" charset="-122"/>
                <a:cs typeface="Calibri" pitchFamily="34" charset="-120"/>
              </a:rPr>
              <a:t>No input can be “rigged” against a random choice </a:t>
            </a:r>
            <a:r>
              <a:rPr lang="en-US" sz="1400" dirty="0">
                <a:solidFill>
                  <a:srgbClr val="333F50"/>
                </a:solidFill>
                <a:latin typeface="Calibri" pitchFamily="34" charset="0"/>
                <a:ea typeface="Calibri" pitchFamily="34" charset="-122"/>
                <a:cs typeface="Calibri" pitchFamily="34" charset="-120"/>
              </a:rPr>
              <a:t>— the worst case becomes vanishingly unlikely, not impossible.</a:t>
            </a:r>
            <a:endParaRPr lang="en-US" sz="1400" dirty="0"/>
          </a:p>
          <a:p>
            <a:pPr marL="177800" indent="-177800">
              <a:lnSpc>
                <a:spcPct val="115000"/>
              </a:lnSpc>
              <a:spcAft>
                <a:spcPts val="1200"/>
              </a:spcAft>
              <a:buSzPct val="100000"/>
              <a:buChar char="•"/>
            </a:pPr>
            <a:r>
              <a:rPr lang="en-US" sz="1400" b="1" dirty="0">
                <a:solidFill>
                  <a:srgbClr val="1E2A44"/>
                </a:solidFill>
                <a:latin typeface="Calibri" pitchFamily="34" charset="0"/>
                <a:ea typeface="Calibri" pitchFamily="34" charset="-122"/>
                <a:cs typeface="Calibri" pitchFamily="34" charset="-120"/>
              </a:rPr>
              <a:t>No asymptotic overhead: </a:t>
            </a:r>
            <a:r>
              <a:rPr lang="en-US" sz="1400" dirty="0">
                <a:solidFill>
                  <a:srgbClr val="333F50"/>
                </a:solidFill>
                <a:latin typeface="Calibri" pitchFamily="34" charset="0"/>
                <a:ea typeface="Calibri" pitchFamily="34" charset="-122"/>
                <a:cs typeface="Calibri" pitchFamily="34" charset="-120"/>
              </a:rPr>
              <a:t>every call just pays one O(1) random draw.</a:t>
            </a:r>
            <a:endParaRPr lang="en-US" sz="1400" dirty="0"/>
          </a:p>
        </p:txBody>
      </p:sp>
      <p:sp>
        <p:nvSpPr>
          <p:cNvPr id="8" name="Text 6"/>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9" name="Text 7"/>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RUNTIME ANALYSIS</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Why Randomization Works – Intuitive explanation </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Follow one branch down the recursion, and correlate it directly with the halving picture.</a:t>
            </a:r>
            <a:endParaRPr lang="en-US" sz="1350" dirty="0"/>
          </a:p>
        </p:txBody>
      </p:sp>
      <p:sp>
        <p:nvSpPr>
          <p:cNvPr id="5" name="Text 3"/>
          <p:cNvSpPr txBox="1"/>
          <p:nvPr/>
        </p:nvSpPr>
        <p:spPr>
          <a:xfrm>
            <a:off x="502920" y="1783080"/>
            <a:ext cx="11183112" cy="50292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200" b="1" dirty="0">
                <a:solidFill>
                  <a:srgbClr val="1E2A44"/>
                </a:solidFill>
                <a:latin typeface="Calibri" pitchFamily="34" charset="0"/>
                <a:ea typeface="Calibri" pitchFamily="34" charset="-122"/>
                <a:cs typeface="Calibri" pitchFamily="34" charset="-120"/>
              </a:rPr>
              <a:t>“Good” pivot: </a:t>
            </a:r>
            <a:r>
              <a:rPr lang="en-US" sz="1200" dirty="0">
                <a:solidFill>
                  <a:srgbClr val="333F50"/>
                </a:solidFill>
                <a:latin typeface="Calibri" pitchFamily="34" charset="0"/>
                <a:ea typeface="Calibri" pitchFamily="34" charset="-122"/>
                <a:cs typeface="Calibri" pitchFamily="34" charset="-120"/>
              </a:rPr>
              <a:t>rank in the middle half of the array → guarantees a split no worse than 25% / 75%. A random pivot is good with probability ½ — a coin flip.</a:t>
            </a:r>
            <a:endParaRPr lang="en-US" sz="1200" dirty="0"/>
          </a:p>
        </p:txBody>
      </p:sp>
      <p:sp>
        <p:nvSpPr>
          <p:cNvPr id="6" name="Text 4"/>
          <p:cNvSpPr txBox="1"/>
          <p:nvPr/>
        </p:nvSpPr>
        <p:spPr>
          <a:xfrm>
            <a:off x="502920" y="2212848"/>
            <a:ext cx="11183112" cy="237744"/>
          </a:xfrm>
          <a:prstGeom prst="rect">
            <a:avLst/>
          </a:prstGeom>
          <a:noFill/>
          <a:ln/>
        </p:spPr>
        <p:txBody>
          <a:bodyPr wrap="square" lIns="0" tIns="0" rIns="0" bIns="0" rtlCol="0" anchor="ctr"/>
          <a:lstStyle/>
          <a:p>
            <a:pPr marL="0" indent="0">
              <a:buNone/>
            </a:pPr>
            <a:r>
              <a:rPr lang="en-US" sz="1150" i="1" dirty="0">
                <a:solidFill>
                  <a:srgbClr val="595959"/>
                </a:solidFill>
                <a:latin typeface="Calibri" pitchFamily="34" charset="0"/>
                <a:ea typeface="Calibri" pitchFamily="34" charset="-122"/>
                <a:cs typeface="Calibri" pitchFamily="34" charset="-120"/>
              </a:rPr>
              <a:t>Watch one branch, starting from n = 1000 elements — each step is a fresh coin flip:</a:t>
            </a:r>
            <a:endParaRPr lang="en-US" sz="1150" dirty="0"/>
          </a:p>
        </p:txBody>
      </p:sp>
      <p:sp>
        <p:nvSpPr>
          <p:cNvPr id="7" name="Shape 5"/>
          <p:cNvSpPr/>
          <p:nvPr/>
        </p:nvSpPr>
        <p:spPr>
          <a:xfrm>
            <a:off x="950976" y="2542032"/>
            <a:ext cx="1600200" cy="475488"/>
          </a:xfrm>
          <a:prstGeom prst="roundRect">
            <a:avLst>
              <a:gd name="adj" fmla="val 9615"/>
            </a:avLst>
          </a:prstGeom>
          <a:solidFill>
            <a:srgbClr val="FBE4D5"/>
          </a:solidFill>
          <a:ln/>
        </p:spPr>
        <p:txBody>
          <a:bodyPr/>
          <a:lstStyle/>
          <a:p>
            <a:endParaRPr lang="en-US"/>
          </a:p>
        </p:txBody>
      </p:sp>
      <p:sp>
        <p:nvSpPr>
          <p:cNvPr id="8" name="Text 6"/>
          <p:cNvSpPr txBox="1"/>
          <p:nvPr/>
        </p:nvSpPr>
        <p:spPr>
          <a:xfrm>
            <a:off x="950976" y="2578608"/>
            <a:ext cx="1600200" cy="164592"/>
          </a:xfrm>
          <a:prstGeom prst="rect">
            <a:avLst/>
          </a:prstGeom>
          <a:noFill/>
          <a:ln/>
        </p:spPr>
        <p:txBody>
          <a:bodyPr wrap="square" lIns="0" tIns="0" rIns="0" bIns="0" rtlCol="0" anchor="ctr"/>
          <a:lstStyle/>
          <a:p>
            <a:pPr marL="0" indent="0" algn="ctr">
              <a:buNone/>
            </a:pPr>
            <a:r>
              <a:rPr lang="en-US" sz="850" dirty="0">
                <a:solidFill>
                  <a:srgbClr val="595959"/>
                </a:solidFill>
                <a:latin typeface="Calibri" pitchFamily="34" charset="0"/>
                <a:ea typeface="Calibri" pitchFamily="34" charset="-122"/>
                <a:cs typeface="Calibri" pitchFamily="34" charset="-120"/>
              </a:rPr>
              <a:t>Step 1</a:t>
            </a:r>
            <a:endParaRPr lang="en-US" sz="850" dirty="0"/>
          </a:p>
        </p:txBody>
      </p:sp>
      <p:sp>
        <p:nvSpPr>
          <p:cNvPr id="9" name="Text 7"/>
          <p:cNvSpPr txBox="1"/>
          <p:nvPr/>
        </p:nvSpPr>
        <p:spPr>
          <a:xfrm>
            <a:off x="950976" y="2724912"/>
            <a:ext cx="1600200" cy="256032"/>
          </a:xfrm>
          <a:prstGeom prst="rect">
            <a:avLst/>
          </a:prstGeom>
          <a:noFill/>
          <a:ln/>
        </p:spPr>
        <p:txBody>
          <a:bodyPr wrap="square" lIns="0" tIns="0" rIns="0" bIns="0" rtlCol="0" anchor="ctr"/>
          <a:lstStyle/>
          <a:p>
            <a:pPr marL="0" indent="0" algn="ctr">
              <a:buNone/>
            </a:pPr>
            <a:r>
              <a:rPr lang="en-US" sz="1100" b="1" dirty="0">
                <a:solidFill>
                  <a:srgbClr val="C55A11"/>
                </a:solidFill>
                <a:latin typeface="Calibri" pitchFamily="34" charset="0"/>
                <a:ea typeface="Calibri" pitchFamily="34" charset="-122"/>
                <a:cs typeface="Calibri" pitchFamily="34" charset="-120"/>
              </a:rPr>
              <a:t>Bad (unlucky)</a:t>
            </a:r>
            <a:endParaRPr lang="en-US" sz="1100" dirty="0"/>
          </a:p>
        </p:txBody>
      </p:sp>
      <p:sp>
        <p:nvSpPr>
          <p:cNvPr id="10" name="Text 8"/>
          <p:cNvSpPr txBox="1"/>
          <p:nvPr/>
        </p:nvSpPr>
        <p:spPr>
          <a:xfrm>
            <a:off x="950976" y="3063240"/>
            <a:ext cx="1600200" cy="201168"/>
          </a:xfrm>
          <a:prstGeom prst="rect">
            <a:avLst/>
          </a:prstGeom>
          <a:noFill/>
          <a:ln/>
        </p:spPr>
        <p:txBody>
          <a:bodyPr wrap="square" lIns="0" tIns="0" rIns="0" bIns="0" rtlCol="0" anchor="ctr"/>
          <a:lstStyle/>
          <a:p>
            <a:pPr marL="0" indent="0" algn="ctr">
              <a:buNone/>
            </a:pPr>
            <a:r>
              <a:rPr lang="en-US" sz="950" dirty="0">
                <a:solidFill>
                  <a:srgbClr val="333F50"/>
                </a:solidFill>
                <a:latin typeface="Courier New" pitchFamily="34" charset="0"/>
                <a:ea typeface="Courier New" pitchFamily="34" charset="-122"/>
                <a:cs typeface="Courier New" pitchFamily="34" charset="-120"/>
              </a:rPr>
              <a:t>size ~990</a:t>
            </a:r>
            <a:endParaRPr lang="en-US" sz="950" dirty="0"/>
          </a:p>
        </p:txBody>
      </p:sp>
      <p:sp>
        <p:nvSpPr>
          <p:cNvPr id="11" name="Shape 9"/>
          <p:cNvSpPr/>
          <p:nvPr/>
        </p:nvSpPr>
        <p:spPr>
          <a:xfrm>
            <a:off x="2688336" y="2542032"/>
            <a:ext cx="1600200" cy="475488"/>
          </a:xfrm>
          <a:prstGeom prst="roundRect">
            <a:avLst>
              <a:gd name="adj" fmla="val 9615"/>
            </a:avLst>
          </a:prstGeom>
          <a:solidFill>
            <a:srgbClr val="EEF3FC"/>
          </a:solidFill>
          <a:ln/>
        </p:spPr>
        <p:txBody>
          <a:bodyPr/>
          <a:lstStyle/>
          <a:p>
            <a:endParaRPr lang="en-US"/>
          </a:p>
        </p:txBody>
      </p:sp>
      <p:sp>
        <p:nvSpPr>
          <p:cNvPr id="12" name="Text 10"/>
          <p:cNvSpPr txBox="1"/>
          <p:nvPr/>
        </p:nvSpPr>
        <p:spPr>
          <a:xfrm>
            <a:off x="2688336" y="2578608"/>
            <a:ext cx="1600200" cy="164592"/>
          </a:xfrm>
          <a:prstGeom prst="rect">
            <a:avLst/>
          </a:prstGeom>
          <a:noFill/>
          <a:ln/>
        </p:spPr>
        <p:txBody>
          <a:bodyPr wrap="square" lIns="0" tIns="0" rIns="0" bIns="0" rtlCol="0" anchor="ctr"/>
          <a:lstStyle/>
          <a:p>
            <a:pPr marL="0" indent="0" algn="ctr">
              <a:buNone/>
            </a:pPr>
            <a:r>
              <a:rPr lang="en-US" sz="850" dirty="0">
                <a:solidFill>
                  <a:srgbClr val="595959"/>
                </a:solidFill>
                <a:latin typeface="Calibri" pitchFamily="34" charset="0"/>
                <a:ea typeface="Calibri" pitchFamily="34" charset="-122"/>
                <a:cs typeface="Calibri" pitchFamily="34" charset="-120"/>
              </a:rPr>
              <a:t>Step 2</a:t>
            </a:r>
            <a:endParaRPr lang="en-US" sz="850" dirty="0"/>
          </a:p>
        </p:txBody>
      </p:sp>
      <p:sp>
        <p:nvSpPr>
          <p:cNvPr id="13" name="Text 11"/>
          <p:cNvSpPr txBox="1"/>
          <p:nvPr/>
        </p:nvSpPr>
        <p:spPr>
          <a:xfrm>
            <a:off x="2688336" y="2724912"/>
            <a:ext cx="1600200" cy="256032"/>
          </a:xfrm>
          <a:prstGeom prst="rect">
            <a:avLst/>
          </a:prstGeom>
          <a:noFill/>
          <a:ln/>
        </p:spPr>
        <p:txBody>
          <a:bodyPr wrap="square" lIns="0" tIns="0" rIns="0" bIns="0" rtlCol="0" anchor="ctr"/>
          <a:lstStyle/>
          <a:p>
            <a:pPr marL="0" indent="0" algn="ctr">
              <a:buNone/>
            </a:pPr>
            <a:r>
              <a:rPr lang="en-US" sz="1100" b="1" dirty="0">
                <a:solidFill>
                  <a:srgbClr val="1E2A44"/>
                </a:solidFill>
                <a:latin typeface="Calibri" pitchFamily="34" charset="0"/>
                <a:ea typeface="Calibri" pitchFamily="34" charset="-122"/>
                <a:cs typeface="Calibri" pitchFamily="34" charset="-120"/>
              </a:rPr>
              <a:t>Good ✓ (≤ 75/25)</a:t>
            </a:r>
            <a:endParaRPr lang="en-US" sz="1100" dirty="0"/>
          </a:p>
        </p:txBody>
      </p:sp>
      <p:sp>
        <p:nvSpPr>
          <p:cNvPr id="14" name="Text 12"/>
          <p:cNvSpPr txBox="1"/>
          <p:nvPr/>
        </p:nvSpPr>
        <p:spPr>
          <a:xfrm>
            <a:off x="2688336" y="3063240"/>
            <a:ext cx="1600200" cy="201168"/>
          </a:xfrm>
          <a:prstGeom prst="rect">
            <a:avLst/>
          </a:prstGeom>
          <a:noFill/>
          <a:ln/>
        </p:spPr>
        <p:txBody>
          <a:bodyPr wrap="square" lIns="0" tIns="0" rIns="0" bIns="0" rtlCol="0" anchor="ctr"/>
          <a:lstStyle/>
          <a:p>
            <a:pPr marL="0" indent="0" algn="ctr">
              <a:buNone/>
            </a:pPr>
            <a:r>
              <a:rPr lang="en-US" sz="950" dirty="0">
                <a:solidFill>
                  <a:srgbClr val="333F50"/>
                </a:solidFill>
                <a:latin typeface="Courier New" pitchFamily="34" charset="0"/>
                <a:ea typeface="Courier New" pitchFamily="34" charset="-122"/>
                <a:cs typeface="Courier New" pitchFamily="34" charset="-120"/>
              </a:rPr>
              <a:t>size ~740</a:t>
            </a:r>
            <a:endParaRPr lang="en-US" sz="950" dirty="0"/>
          </a:p>
        </p:txBody>
      </p:sp>
      <p:sp>
        <p:nvSpPr>
          <p:cNvPr id="15" name="Shape 13"/>
          <p:cNvSpPr/>
          <p:nvPr/>
        </p:nvSpPr>
        <p:spPr>
          <a:xfrm>
            <a:off x="4425696" y="2542032"/>
            <a:ext cx="1600200" cy="475488"/>
          </a:xfrm>
          <a:prstGeom prst="roundRect">
            <a:avLst>
              <a:gd name="adj" fmla="val 9615"/>
            </a:avLst>
          </a:prstGeom>
          <a:solidFill>
            <a:srgbClr val="FBE4D5"/>
          </a:solidFill>
          <a:ln/>
        </p:spPr>
        <p:txBody>
          <a:bodyPr/>
          <a:lstStyle/>
          <a:p>
            <a:endParaRPr lang="en-US"/>
          </a:p>
        </p:txBody>
      </p:sp>
      <p:sp>
        <p:nvSpPr>
          <p:cNvPr id="16" name="Text 14"/>
          <p:cNvSpPr txBox="1"/>
          <p:nvPr/>
        </p:nvSpPr>
        <p:spPr>
          <a:xfrm>
            <a:off x="4425696" y="2578608"/>
            <a:ext cx="1600200" cy="164592"/>
          </a:xfrm>
          <a:prstGeom prst="rect">
            <a:avLst/>
          </a:prstGeom>
          <a:noFill/>
          <a:ln/>
        </p:spPr>
        <p:txBody>
          <a:bodyPr wrap="square" lIns="0" tIns="0" rIns="0" bIns="0" rtlCol="0" anchor="ctr"/>
          <a:lstStyle/>
          <a:p>
            <a:pPr marL="0" indent="0" algn="ctr">
              <a:buNone/>
            </a:pPr>
            <a:r>
              <a:rPr lang="en-US" sz="850" dirty="0">
                <a:solidFill>
                  <a:srgbClr val="595959"/>
                </a:solidFill>
                <a:latin typeface="Calibri" pitchFamily="34" charset="0"/>
                <a:ea typeface="Calibri" pitchFamily="34" charset="-122"/>
                <a:cs typeface="Calibri" pitchFamily="34" charset="-120"/>
              </a:rPr>
              <a:t>Step 3</a:t>
            </a:r>
            <a:endParaRPr lang="en-US" sz="850" dirty="0"/>
          </a:p>
        </p:txBody>
      </p:sp>
      <p:sp>
        <p:nvSpPr>
          <p:cNvPr id="17" name="Text 15"/>
          <p:cNvSpPr txBox="1"/>
          <p:nvPr/>
        </p:nvSpPr>
        <p:spPr>
          <a:xfrm>
            <a:off x="4425696" y="2724912"/>
            <a:ext cx="1600200" cy="256032"/>
          </a:xfrm>
          <a:prstGeom prst="rect">
            <a:avLst/>
          </a:prstGeom>
          <a:noFill/>
          <a:ln/>
        </p:spPr>
        <p:txBody>
          <a:bodyPr wrap="square" lIns="0" tIns="0" rIns="0" bIns="0" rtlCol="0" anchor="ctr"/>
          <a:lstStyle/>
          <a:p>
            <a:pPr marL="0" indent="0" algn="ctr">
              <a:buNone/>
            </a:pPr>
            <a:r>
              <a:rPr lang="en-US" sz="1100" b="1" dirty="0">
                <a:solidFill>
                  <a:srgbClr val="C55A11"/>
                </a:solidFill>
                <a:latin typeface="Calibri" pitchFamily="34" charset="0"/>
                <a:ea typeface="Calibri" pitchFamily="34" charset="-122"/>
                <a:cs typeface="Calibri" pitchFamily="34" charset="-120"/>
              </a:rPr>
              <a:t>Bad (unlucky)</a:t>
            </a:r>
            <a:endParaRPr lang="en-US" sz="1100" dirty="0"/>
          </a:p>
        </p:txBody>
      </p:sp>
      <p:sp>
        <p:nvSpPr>
          <p:cNvPr id="18" name="Text 16"/>
          <p:cNvSpPr txBox="1"/>
          <p:nvPr/>
        </p:nvSpPr>
        <p:spPr>
          <a:xfrm>
            <a:off x="4425696" y="3063240"/>
            <a:ext cx="1600200" cy="201168"/>
          </a:xfrm>
          <a:prstGeom prst="rect">
            <a:avLst/>
          </a:prstGeom>
          <a:noFill/>
          <a:ln/>
        </p:spPr>
        <p:txBody>
          <a:bodyPr wrap="square" lIns="0" tIns="0" rIns="0" bIns="0" rtlCol="0" anchor="ctr"/>
          <a:lstStyle/>
          <a:p>
            <a:pPr marL="0" indent="0" algn="ctr">
              <a:buNone/>
            </a:pPr>
            <a:r>
              <a:rPr lang="en-US" sz="950" dirty="0">
                <a:solidFill>
                  <a:srgbClr val="333F50"/>
                </a:solidFill>
                <a:latin typeface="Courier New" pitchFamily="34" charset="0"/>
                <a:ea typeface="Courier New" pitchFamily="34" charset="-122"/>
                <a:cs typeface="Courier New" pitchFamily="34" charset="-120"/>
              </a:rPr>
              <a:t>size ~730</a:t>
            </a:r>
            <a:endParaRPr lang="en-US" sz="950" dirty="0"/>
          </a:p>
        </p:txBody>
      </p:sp>
      <p:sp>
        <p:nvSpPr>
          <p:cNvPr id="19" name="Shape 17"/>
          <p:cNvSpPr/>
          <p:nvPr/>
        </p:nvSpPr>
        <p:spPr>
          <a:xfrm>
            <a:off x="6163056" y="2542032"/>
            <a:ext cx="1600200" cy="475488"/>
          </a:xfrm>
          <a:prstGeom prst="roundRect">
            <a:avLst>
              <a:gd name="adj" fmla="val 9615"/>
            </a:avLst>
          </a:prstGeom>
          <a:solidFill>
            <a:srgbClr val="FBE4D5"/>
          </a:solidFill>
          <a:ln/>
        </p:spPr>
        <p:txBody>
          <a:bodyPr/>
          <a:lstStyle/>
          <a:p>
            <a:endParaRPr lang="en-US"/>
          </a:p>
        </p:txBody>
      </p:sp>
      <p:sp>
        <p:nvSpPr>
          <p:cNvPr id="20" name="Text 18"/>
          <p:cNvSpPr txBox="1"/>
          <p:nvPr/>
        </p:nvSpPr>
        <p:spPr>
          <a:xfrm>
            <a:off x="6163056" y="2578608"/>
            <a:ext cx="1600200" cy="164592"/>
          </a:xfrm>
          <a:prstGeom prst="rect">
            <a:avLst/>
          </a:prstGeom>
          <a:noFill/>
          <a:ln/>
        </p:spPr>
        <p:txBody>
          <a:bodyPr wrap="square" lIns="0" tIns="0" rIns="0" bIns="0" rtlCol="0" anchor="ctr"/>
          <a:lstStyle/>
          <a:p>
            <a:pPr marL="0" indent="0" algn="ctr">
              <a:buNone/>
            </a:pPr>
            <a:r>
              <a:rPr lang="en-US" sz="850" dirty="0">
                <a:solidFill>
                  <a:srgbClr val="595959"/>
                </a:solidFill>
                <a:latin typeface="Calibri" pitchFamily="34" charset="0"/>
                <a:ea typeface="Calibri" pitchFamily="34" charset="-122"/>
                <a:cs typeface="Calibri" pitchFamily="34" charset="-120"/>
              </a:rPr>
              <a:t>Step 4</a:t>
            </a:r>
            <a:endParaRPr lang="en-US" sz="850" dirty="0"/>
          </a:p>
        </p:txBody>
      </p:sp>
      <p:sp>
        <p:nvSpPr>
          <p:cNvPr id="21" name="Text 19"/>
          <p:cNvSpPr txBox="1"/>
          <p:nvPr/>
        </p:nvSpPr>
        <p:spPr>
          <a:xfrm>
            <a:off x="6163056" y="2724912"/>
            <a:ext cx="1600200" cy="256032"/>
          </a:xfrm>
          <a:prstGeom prst="rect">
            <a:avLst/>
          </a:prstGeom>
          <a:noFill/>
          <a:ln/>
        </p:spPr>
        <p:txBody>
          <a:bodyPr wrap="square" lIns="0" tIns="0" rIns="0" bIns="0" rtlCol="0" anchor="ctr"/>
          <a:lstStyle/>
          <a:p>
            <a:pPr marL="0" indent="0" algn="ctr">
              <a:buNone/>
            </a:pPr>
            <a:r>
              <a:rPr lang="en-US" sz="1100" b="1" dirty="0">
                <a:solidFill>
                  <a:srgbClr val="C55A11"/>
                </a:solidFill>
                <a:latin typeface="Calibri" pitchFamily="34" charset="0"/>
                <a:ea typeface="Calibri" pitchFamily="34" charset="-122"/>
                <a:cs typeface="Calibri" pitchFamily="34" charset="-120"/>
              </a:rPr>
              <a:t>Bad (unlucky)</a:t>
            </a:r>
            <a:endParaRPr lang="en-US" sz="1100" dirty="0"/>
          </a:p>
        </p:txBody>
      </p:sp>
      <p:sp>
        <p:nvSpPr>
          <p:cNvPr id="22" name="Text 20"/>
          <p:cNvSpPr txBox="1"/>
          <p:nvPr/>
        </p:nvSpPr>
        <p:spPr>
          <a:xfrm>
            <a:off x="6163056" y="3063240"/>
            <a:ext cx="1600200" cy="201168"/>
          </a:xfrm>
          <a:prstGeom prst="rect">
            <a:avLst/>
          </a:prstGeom>
          <a:noFill/>
          <a:ln/>
        </p:spPr>
        <p:txBody>
          <a:bodyPr wrap="square" lIns="0" tIns="0" rIns="0" bIns="0" rtlCol="0" anchor="ctr"/>
          <a:lstStyle/>
          <a:p>
            <a:pPr marL="0" indent="0" algn="ctr">
              <a:buNone/>
            </a:pPr>
            <a:r>
              <a:rPr lang="en-US" sz="950" dirty="0">
                <a:solidFill>
                  <a:srgbClr val="333F50"/>
                </a:solidFill>
                <a:latin typeface="Courier New" pitchFamily="34" charset="0"/>
                <a:ea typeface="Courier New" pitchFamily="34" charset="-122"/>
                <a:cs typeface="Courier New" pitchFamily="34" charset="-120"/>
              </a:rPr>
              <a:t>size ~720</a:t>
            </a:r>
            <a:endParaRPr lang="en-US" sz="950" dirty="0"/>
          </a:p>
        </p:txBody>
      </p:sp>
      <p:sp>
        <p:nvSpPr>
          <p:cNvPr id="23" name="Shape 21"/>
          <p:cNvSpPr/>
          <p:nvPr/>
        </p:nvSpPr>
        <p:spPr>
          <a:xfrm>
            <a:off x="7900416" y="2542032"/>
            <a:ext cx="1600200" cy="475488"/>
          </a:xfrm>
          <a:prstGeom prst="roundRect">
            <a:avLst>
              <a:gd name="adj" fmla="val 9615"/>
            </a:avLst>
          </a:prstGeom>
          <a:solidFill>
            <a:srgbClr val="EEF3FC"/>
          </a:solidFill>
          <a:ln/>
        </p:spPr>
        <p:txBody>
          <a:bodyPr/>
          <a:lstStyle/>
          <a:p>
            <a:endParaRPr lang="en-US"/>
          </a:p>
        </p:txBody>
      </p:sp>
      <p:sp>
        <p:nvSpPr>
          <p:cNvPr id="24" name="Text 22"/>
          <p:cNvSpPr txBox="1"/>
          <p:nvPr/>
        </p:nvSpPr>
        <p:spPr>
          <a:xfrm>
            <a:off x="7900416" y="2578608"/>
            <a:ext cx="1600200" cy="164592"/>
          </a:xfrm>
          <a:prstGeom prst="rect">
            <a:avLst/>
          </a:prstGeom>
          <a:noFill/>
          <a:ln/>
        </p:spPr>
        <p:txBody>
          <a:bodyPr wrap="square" lIns="0" tIns="0" rIns="0" bIns="0" rtlCol="0" anchor="ctr"/>
          <a:lstStyle/>
          <a:p>
            <a:pPr marL="0" indent="0" algn="ctr">
              <a:buNone/>
            </a:pPr>
            <a:r>
              <a:rPr lang="en-US" sz="850" dirty="0">
                <a:solidFill>
                  <a:srgbClr val="595959"/>
                </a:solidFill>
                <a:latin typeface="Calibri" pitchFamily="34" charset="0"/>
                <a:ea typeface="Calibri" pitchFamily="34" charset="-122"/>
                <a:cs typeface="Calibri" pitchFamily="34" charset="-120"/>
              </a:rPr>
              <a:t>Step 5</a:t>
            </a:r>
            <a:endParaRPr lang="en-US" sz="850" dirty="0"/>
          </a:p>
        </p:txBody>
      </p:sp>
      <p:sp>
        <p:nvSpPr>
          <p:cNvPr id="25" name="Text 23"/>
          <p:cNvSpPr txBox="1"/>
          <p:nvPr/>
        </p:nvSpPr>
        <p:spPr>
          <a:xfrm>
            <a:off x="7900416" y="2724912"/>
            <a:ext cx="1600200" cy="256032"/>
          </a:xfrm>
          <a:prstGeom prst="rect">
            <a:avLst/>
          </a:prstGeom>
          <a:noFill/>
          <a:ln/>
        </p:spPr>
        <p:txBody>
          <a:bodyPr wrap="square" lIns="0" tIns="0" rIns="0" bIns="0" rtlCol="0" anchor="ctr"/>
          <a:lstStyle/>
          <a:p>
            <a:pPr marL="0" indent="0" algn="ctr">
              <a:buNone/>
            </a:pPr>
            <a:r>
              <a:rPr lang="en-US" sz="1100" b="1" dirty="0">
                <a:solidFill>
                  <a:srgbClr val="1E2A44"/>
                </a:solidFill>
                <a:latin typeface="Calibri" pitchFamily="34" charset="0"/>
                <a:ea typeface="Calibri" pitchFamily="34" charset="-122"/>
                <a:cs typeface="Calibri" pitchFamily="34" charset="-120"/>
              </a:rPr>
              <a:t>Good ✓ (≤ 75/25)</a:t>
            </a:r>
            <a:endParaRPr lang="en-US" sz="1100" dirty="0"/>
          </a:p>
        </p:txBody>
      </p:sp>
      <p:sp>
        <p:nvSpPr>
          <p:cNvPr id="26" name="Text 24"/>
          <p:cNvSpPr txBox="1"/>
          <p:nvPr/>
        </p:nvSpPr>
        <p:spPr>
          <a:xfrm>
            <a:off x="7900416" y="3063240"/>
            <a:ext cx="1600200" cy="201168"/>
          </a:xfrm>
          <a:prstGeom prst="rect">
            <a:avLst/>
          </a:prstGeom>
          <a:noFill/>
          <a:ln/>
        </p:spPr>
        <p:txBody>
          <a:bodyPr wrap="square" lIns="0" tIns="0" rIns="0" bIns="0" rtlCol="0" anchor="ctr"/>
          <a:lstStyle/>
          <a:p>
            <a:pPr marL="0" indent="0" algn="ctr">
              <a:buNone/>
            </a:pPr>
            <a:r>
              <a:rPr lang="en-US" sz="950" dirty="0">
                <a:solidFill>
                  <a:srgbClr val="333F50"/>
                </a:solidFill>
                <a:latin typeface="Courier New" pitchFamily="34" charset="0"/>
                <a:ea typeface="Courier New" pitchFamily="34" charset="-122"/>
                <a:cs typeface="Courier New" pitchFamily="34" charset="-120"/>
              </a:rPr>
              <a:t>size ~540</a:t>
            </a:r>
            <a:endParaRPr lang="en-US" sz="950" dirty="0"/>
          </a:p>
        </p:txBody>
      </p:sp>
      <p:sp>
        <p:nvSpPr>
          <p:cNvPr id="27" name="Shape 25"/>
          <p:cNvSpPr/>
          <p:nvPr/>
        </p:nvSpPr>
        <p:spPr>
          <a:xfrm>
            <a:off x="9637776" y="2542032"/>
            <a:ext cx="1600200" cy="475488"/>
          </a:xfrm>
          <a:prstGeom prst="roundRect">
            <a:avLst>
              <a:gd name="adj" fmla="val 9615"/>
            </a:avLst>
          </a:prstGeom>
          <a:solidFill>
            <a:srgbClr val="EEF3FC"/>
          </a:solidFill>
          <a:ln/>
        </p:spPr>
        <p:txBody>
          <a:bodyPr/>
          <a:lstStyle/>
          <a:p>
            <a:endParaRPr lang="en-US"/>
          </a:p>
        </p:txBody>
      </p:sp>
      <p:sp>
        <p:nvSpPr>
          <p:cNvPr id="28" name="Text 26"/>
          <p:cNvSpPr txBox="1"/>
          <p:nvPr/>
        </p:nvSpPr>
        <p:spPr>
          <a:xfrm>
            <a:off x="9637776" y="2578608"/>
            <a:ext cx="1600200" cy="164592"/>
          </a:xfrm>
          <a:prstGeom prst="rect">
            <a:avLst/>
          </a:prstGeom>
          <a:noFill/>
          <a:ln/>
        </p:spPr>
        <p:txBody>
          <a:bodyPr wrap="square" lIns="0" tIns="0" rIns="0" bIns="0" rtlCol="0" anchor="ctr"/>
          <a:lstStyle/>
          <a:p>
            <a:pPr marL="0" indent="0" algn="ctr">
              <a:buNone/>
            </a:pPr>
            <a:r>
              <a:rPr lang="en-US" sz="850" dirty="0">
                <a:solidFill>
                  <a:srgbClr val="595959"/>
                </a:solidFill>
                <a:latin typeface="Calibri" pitchFamily="34" charset="0"/>
                <a:ea typeface="Calibri" pitchFamily="34" charset="-122"/>
                <a:cs typeface="Calibri" pitchFamily="34" charset="-120"/>
              </a:rPr>
              <a:t>Step 6</a:t>
            </a:r>
            <a:endParaRPr lang="en-US" sz="850" dirty="0"/>
          </a:p>
        </p:txBody>
      </p:sp>
      <p:sp>
        <p:nvSpPr>
          <p:cNvPr id="29" name="Text 27"/>
          <p:cNvSpPr txBox="1"/>
          <p:nvPr/>
        </p:nvSpPr>
        <p:spPr>
          <a:xfrm>
            <a:off x="9637776" y="2724912"/>
            <a:ext cx="1600200" cy="256032"/>
          </a:xfrm>
          <a:prstGeom prst="rect">
            <a:avLst/>
          </a:prstGeom>
          <a:noFill/>
          <a:ln/>
        </p:spPr>
        <p:txBody>
          <a:bodyPr wrap="square" lIns="0" tIns="0" rIns="0" bIns="0" rtlCol="0" anchor="ctr"/>
          <a:lstStyle/>
          <a:p>
            <a:pPr marL="0" indent="0" algn="ctr">
              <a:buNone/>
            </a:pPr>
            <a:r>
              <a:rPr lang="en-US" sz="1100" b="1" dirty="0">
                <a:solidFill>
                  <a:srgbClr val="1E2A44"/>
                </a:solidFill>
                <a:latin typeface="Calibri" pitchFamily="34" charset="0"/>
                <a:ea typeface="Calibri" pitchFamily="34" charset="-122"/>
                <a:cs typeface="Calibri" pitchFamily="34" charset="-120"/>
              </a:rPr>
              <a:t>Good ✓ (≤ 75/25)</a:t>
            </a:r>
            <a:endParaRPr lang="en-US" sz="1100" dirty="0"/>
          </a:p>
        </p:txBody>
      </p:sp>
      <p:sp>
        <p:nvSpPr>
          <p:cNvPr id="30" name="Text 28"/>
          <p:cNvSpPr txBox="1"/>
          <p:nvPr/>
        </p:nvSpPr>
        <p:spPr>
          <a:xfrm>
            <a:off x="9637776" y="3063240"/>
            <a:ext cx="1600200" cy="201168"/>
          </a:xfrm>
          <a:prstGeom prst="rect">
            <a:avLst/>
          </a:prstGeom>
          <a:noFill/>
          <a:ln/>
        </p:spPr>
        <p:txBody>
          <a:bodyPr wrap="square" lIns="0" tIns="0" rIns="0" bIns="0" rtlCol="0" anchor="ctr"/>
          <a:lstStyle/>
          <a:p>
            <a:pPr marL="0" indent="0" algn="ctr">
              <a:buNone/>
            </a:pPr>
            <a:r>
              <a:rPr lang="en-US" sz="950" dirty="0">
                <a:solidFill>
                  <a:srgbClr val="333F50"/>
                </a:solidFill>
                <a:latin typeface="Courier New" pitchFamily="34" charset="0"/>
                <a:ea typeface="Courier New" pitchFamily="34" charset="-122"/>
                <a:cs typeface="Courier New" pitchFamily="34" charset="-120"/>
              </a:rPr>
              <a:t>size ~405</a:t>
            </a:r>
            <a:endParaRPr lang="en-US" sz="950" dirty="0"/>
          </a:p>
        </p:txBody>
      </p:sp>
      <p:sp>
        <p:nvSpPr>
          <p:cNvPr id="31" name="Shape 29"/>
          <p:cNvSpPr/>
          <p:nvPr/>
        </p:nvSpPr>
        <p:spPr>
          <a:xfrm>
            <a:off x="950976" y="3310128"/>
            <a:ext cx="3337560" cy="0"/>
          </a:xfrm>
          <a:prstGeom prst="line">
            <a:avLst/>
          </a:prstGeom>
          <a:noFill/>
          <a:ln w="15875">
            <a:solidFill>
              <a:srgbClr val="595959"/>
            </a:solidFill>
            <a:prstDash val="solid"/>
          </a:ln>
        </p:spPr>
        <p:txBody>
          <a:bodyPr/>
          <a:lstStyle/>
          <a:p>
            <a:endParaRPr lang="en-US"/>
          </a:p>
        </p:txBody>
      </p:sp>
      <p:sp>
        <p:nvSpPr>
          <p:cNvPr id="32" name="Text 30"/>
          <p:cNvSpPr txBox="1"/>
          <p:nvPr/>
        </p:nvSpPr>
        <p:spPr>
          <a:xfrm>
            <a:off x="950976" y="3355848"/>
            <a:ext cx="3337560" cy="201168"/>
          </a:xfrm>
          <a:prstGeom prst="rect">
            <a:avLst/>
          </a:prstGeom>
          <a:noFill/>
          <a:ln/>
        </p:spPr>
        <p:txBody>
          <a:bodyPr wrap="square" lIns="0" tIns="0" rIns="0" bIns="0" rtlCol="0" anchor="ctr"/>
          <a:lstStyle/>
          <a:p>
            <a:pPr marL="0" indent="0" algn="ctr">
              <a:buNone/>
            </a:pPr>
            <a:r>
              <a:rPr lang="en-US" sz="950" i="1" dirty="0">
                <a:solidFill>
                  <a:srgbClr val="595959"/>
                </a:solidFill>
                <a:latin typeface="Calibri" pitchFamily="34" charset="0"/>
                <a:ea typeface="Calibri" pitchFamily="34" charset="-122"/>
                <a:cs typeface="Calibri" pitchFamily="34" charset="-120"/>
              </a:rPr>
              <a:t>Phase 1 — 2 calls to get 1 good one</a:t>
            </a:r>
            <a:endParaRPr lang="en-US" sz="950" dirty="0"/>
          </a:p>
        </p:txBody>
      </p:sp>
      <p:sp>
        <p:nvSpPr>
          <p:cNvPr id="33" name="Shape 31"/>
          <p:cNvSpPr/>
          <p:nvPr/>
        </p:nvSpPr>
        <p:spPr>
          <a:xfrm>
            <a:off x="4425696" y="3310128"/>
            <a:ext cx="5074920" cy="0"/>
          </a:xfrm>
          <a:prstGeom prst="line">
            <a:avLst/>
          </a:prstGeom>
          <a:noFill/>
          <a:ln w="15875">
            <a:solidFill>
              <a:srgbClr val="595959"/>
            </a:solidFill>
            <a:prstDash val="solid"/>
          </a:ln>
        </p:spPr>
        <p:txBody>
          <a:bodyPr/>
          <a:lstStyle/>
          <a:p>
            <a:endParaRPr lang="en-US"/>
          </a:p>
        </p:txBody>
      </p:sp>
      <p:sp>
        <p:nvSpPr>
          <p:cNvPr id="34" name="Text 32"/>
          <p:cNvSpPr txBox="1"/>
          <p:nvPr/>
        </p:nvSpPr>
        <p:spPr>
          <a:xfrm>
            <a:off x="4425696" y="3355848"/>
            <a:ext cx="5074920" cy="201168"/>
          </a:xfrm>
          <a:prstGeom prst="rect">
            <a:avLst/>
          </a:prstGeom>
          <a:noFill/>
          <a:ln/>
        </p:spPr>
        <p:txBody>
          <a:bodyPr wrap="square" lIns="0" tIns="0" rIns="0" bIns="0" rtlCol="0" anchor="ctr"/>
          <a:lstStyle/>
          <a:p>
            <a:pPr marL="0" indent="0" algn="ctr">
              <a:buNone/>
            </a:pPr>
            <a:r>
              <a:rPr lang="en-US" sz="950" i="1" dirty="0">
                <a:solidFill>
                  <a:srgbClr val="595959"/>
                </a:solidFill>
                <a:latin typeface="Calibri" pitchFamily="34" charset="0"/>
                <a:ea typeface="Calibri" pitchFamily="34" charset="-122"/>
                <a:cs typeface="Calibri" pitchFamily="34" charset="-120"/>
              </a:rPr>
              <a:t>Phase 2 — 3 calls to get 1 good one</a:t>
            </a:r>
            <a:endParaRPr lang="en-US" sz="950" dirty="0"/>
          </a:p>
        </p:txBody>
      </p:sp>
      <p:sp>
        <p:nvSpPr>
          <p:cNvPr id="35" name="Shape 33"/>
          <p:cNvSpPr/>
          <p:nvPr/>
        </p:nvSpPr>
        <p:spPr>
          <a:xfrm>
            <a:off x="9637776" y="3310128"/>
            <a:ext cx="1600200" cy="0"/>
          </a:xfrm>
          <a:prstGeom prst="line">
            <a:avLst/>
          </a:prstGeom>
          <a:noFill/>
          <a:ln w="15875">
            <a:solidFill>
              <a:srgbClr val="595959"/>
            </a:solidFill>
            <a:prstDash val="solid"/>
          </a:ln>
        </p:spPr>
        <p:txBody>
          <a:bodyPr/>
          <a:lstStyle/>
          <a:p>
            <a:endParaRPr lang="en-US"/>
          </a:p>
        </p:txBody>
      </p:sp>
      <p:sp>
        <p:nvSpPr>
          <p:cNvPr id="36" name="Text 34"/>
          <p:cNvSpPr txBox="1"/>
          <p:nvPr/>
        </p:nvSpPr>
        <p:spPr>
          <a:xfrm>
            <a:off x="9637776" y="3355848"/>
            <a:ext cx="1600200" cy="201168"/>
          </a:xfrm>
          <a:prstGeom prst="rect">
            <a:avLst/>
          </a:prstGeom>
          <a:noFill/>
          <a:ln/>
        </p:spPr>
        <p:txBody>
          <a:bodyPr wrap="square" lIns="0" tIns="0" rIns="0" bIns="0" rtlCol="0" anchor="ctr"/>
          <a:lstStyle/>
          <a:p>
            <a:pPr marL="0" indent="0" algn="ctr">
              <a:buNone/>
            </a:pPr>
            <a:r>
              <a:rPr lang="en-US" sz="950" i="1" dirty="0">
                <a:solidFill>
                  <a:srgbClr val="595959"/>
                </a:solidFill>
                <a:latin typeface="Calibri" pitchFamily="34" charset="0"/>
                <a:ea typeface="Calibri" pitchFamily="34" charset="-122"/>
                <a:cs typeface="Calibri" pitchFamily="34" charset="-120"/>
              </a:rPr>
              <a:t>Phase 3 — lucky, 1 call</a:t>
            </a:r>
            <a:endParaRPr lang="en-US" sz="950" dirty="0"/>
          </a:p>
        </p:txBody>
      </p:sp>
      <p:sp>
        <p:nvSpPr>
          <p:cNvPr id="37" name="Text 35"/>
          <p:cNvSpPr txBox="1"/>
          <p:nvPr/>
        </p:nvSpPr>
        <p:spPr>
          <a:xfrm>
            <a:off x="502920" y="4160520"/>
            <a:ext cx="11183112" cy="640080"/>
          </a:xfrm>
          <a:prstGeom prst="rect">
            <a:avLst/>
          </a:prstGeom>
          <a:noFill/>
          <a:ln/>
        </p:spPr>
        <p:txBody>
          <a:bodyPr wrap="square" lIns="0" tIns="0" rIns="0" bIns="0" rtlCol="0" anchor="t"/>
          <a:lstStyle/>
          <a:p>
            <a:pPr marL="177800" indent="-177800">
              <a:lnSpc>
                <a:spcPct val="115000"/>
              </a:lnSpc>
              <a:spcAft>
                <a:spcPts val="500"/>
              </a:spcAft>
              <a:buSzPct val="100000"/>
              <a:buChar char="•"/>
            </a:pPr>
            <a:r>
              <a:rPr lang="en-US" sz="1200" b="1" dirty="0">
                <a:solidFill>
                  <a:srgbClr val="1E2A44"/>
                </a:solidFill>
                <a:latin typeface="Calibri" pitchFamily="34" charset="0"/>
                <a:ea typeface="Calibri" pitchFamily="34" charset="-122"/>
                <a:cs typeface="Calibri" pitchFamily="34" charset="-120"/>
              </a:rPr>
              <a:t>Best case (slide 13): </a:t>
            </a:r>
            <a:r>
              <a:rPr lang="en-US" sz="1200" dirty="0">
                <a:solidFill>
                  <a:srgbClr val="333F50"/>
                </a:solidFill>
                <a:latin typeface="Calibri" pitchFamily="34" charset="0"/>
                <a:ea typeface="Calibri" pitchFamily="34" charset="-122"/>
                <a:cs typeface="Calibri" pitchFamily="34" charset="-120"/>
              </a:rPr>
              <a:t>every single call is “good” — 1 call = 1 halving — so log₂n calls reach size 1.</a:t>
            </a:r>
            <a:endParaRPr lang="en-US" sz="1200" dirty="0"/>
          </a:p>
          <a:p>
            <a:pPr marL="177800" indent="-177800">
              <a:lnSpc>
                <a:spcPct val="115000"/>
              </a:lnSpc>
              <a:spcAft>
                <a:spcPts val="500"/>
              </a:spcAft>
              <a:buSzPct val="100000"/>
              <a:buChar char="•"/>
            </a:pPr>
            <a:r>
              <a:rPr lang="en-US" sz="1200" b="1" dirty="0">
                <a:solidFill>
                  <a:srgbClr val="1E2A44"/>
                </a:solidFill>
                <a:latin typeface="Calibri" pitchFamily="34" charset="0"/>
                <a:ea typeface="Calibri" pitchFamily="34" charset="-122"/>
                <a:cs typeface="Calibri" pitchFamily="34" charset="-120"/>
              </a:rPr>
              <a:t>Randomized: </a:t>
            </a:r>
            <a:r>
              <a:rPr lang="en-US" sz="1200" dirty="0">
                <a:solidFill>
                  <a:srgbClr val="333F50"/>
                </a:solidFill>
                <a:latin typeface="Calibri" pitchFamily="34" charset="0"/>
                <a:ea typeface="Calibri" pitchFamily="34" charset="-122"/>
                <a:cs typeface="Calibri" pitchFamily="34" charset="-120"/>
              </a:rPr>
              <a:t>only half of calls are “good” — so reaching the same number of good shrinks takes about 2× as many calls — still O(log n) calls total, just a bigger constant.</a:t>
            </a:r>
            <a:endParaRPr lang="en-US" sz="1200" dirty="0"/>
          </a:p>
        </p:txBody>
      </p:sp>
      <p:sp>
        <p:nvSpPr>
          <p:cNvPr id="38" name="Text 36"/>
          <p:cNvSpPr txBox="1"/>
          <p:nvPr/>
        </p:nvSpPr>
        <p:spPr>
          <a:xfrm>
            <a:off x="502920" y="4892040"/>
            <a:ext cx="11183112" cy="292608"/>
          </a:xfrm>
          <a:prstGeom prst="rect">
            <a:avLst/>
          </a:prstGeom>
          <a:noFill/>
          <a:ln/>
        </p:spPr>
        <p:txBody>
          <a:bodyPr wrap="square" lIns="0" tIns="0" rIns="0" bIns="0" rtlCol="0" anchor="ctr"/>
          <a:lstStyle/>
          <a:p>
            <a:pPr marL="0" indent="0" algn="ctr">
              <a:buNone/>
            </a:pPr>
            <a:r>
              <a:rPr lang="en-US" sz="1100" i="1" dirty="0">
                <a:solidFill>
                  <a:srgbClr val="595959"/>
                </a:solidFill>
                <a:latin typeface="Calibri" pitchFamily="34" charset="0"/>
                <a:ea typeface="Calibri" pitchFamily="34" charset="-122"/>
                <a:cs typeface="Calibri" pitchFamily="34" charset="-120"/>
              </a:rPr>
              <a:t>Concretely: for n ≈ 1,000,000, the best case needs about 20 good halvings; randomization needs roughly 40–50 calls total to collect enough of them. Both are tiny next to n.</a:t>
            </a:r>
            <a:endParaRPr lang="en-US" sz="1100" dirty="0"/>
          </a:p>
        </p:txBody>
      </p:sp>
      <p:sp>
        <p:nvSpPr>
          <p:cNvPr id="39" name="Shape 37"/>
          <p:cNvSpPr/>
          <p:nvPr/>
        </p:nvSpPr>
        <p:spPr>
          <a:xfrm>
            <a:off x="502920" y="5303520"/>
            <a:ext cx="11183112" cy="1005840"/>
          </a:xfrm>
          <a:prstGeom prst="roundRect">
            <a:avLst>
              <a:gd name="adj" fmla="val 5455"/>
            </a:avLst>
          </a:prstGeom>
          <a:solidFill>
            <a:srgbClr val="1E2A44"/>
          </a:solidFill>
          <a:ln/>
        </p:spPr>
        <p:txBody>
          <a:bodyPr/>
          <a:lstStyle/>
          <a:p>
            <a:endParaRPr lang="en-US"/>
          </a:p>
        </p:txBody>
      </p:sp>
      <p:sp>
        <p:nvSpPr>
          <p:cNvPr id="40" name="Text 38"/>
          <p:cNvSpPr txBox="1"/>
          <p:nvPr/>
        </p:nvSpPr>
        <p:spPr>
          <a:xfrm>
            <a:off x="758952" y="5449824"/>
            <a:ext cx="10671048" cy="23774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Putting it together</a:t>
            </a:r>
            <a:endParaRPr lang="en-US" sz="1200" dirty="0"/>
          </a:p>
        </p:txBody>
      </p:sp>
      <p:sp>
        <p:nvSpPr>
          <p:cNvPr id="41" name="Text 39"/>
          <p:cNvSpPr txBox="1"/>
          <p:nvPr/>
        </p:nvSpPr>
        <p:spPr>
          <a:xfrm>
            <a:off x="758952" y="5742432"/>
            <a:ext cx="10671048" cy="45720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At any recursion depth, the subarrays being worked on are disjoint pieces of the original array, so total work at that depth is always O(n) — good or bad splits alike. O(n) per depth × O(log n) depths = O(n log n) expected. For more theoretical proof, see Roughgarden Chapter 5 Section 5.5 </a:t>
            </a:r>
            <a:endParaRPr lang="en-US" sz="1250" dirty="0"/>
          </a:p>
        </p:txBody>
      </p:sp>
      <p:sp>
        <p:nvSpPr>
          <p:cNvPr id="42" name="Text 40"/>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43" name="Text 41"/>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SPACE COMPLEXITY</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Space Complexity: The Recursion Stack</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In-place partitioning means the call stack is the only extra memory Quicksort needs.</a:t>
            </a:r>
            <a:endParaRPr lang="en-US" sz="1350" dirty="0"/>
          </a:p>
        </p:txBody>
      </p:sp>
      <p:sp>
        <p:nvSpPr>
          <p:cNvPr id="5" name="Shape 3"/>
          <p:cNvSpPr/>
          <p:nvPr/>
        </p:nvSpPr>
        <p:spPr>
          <a:xfrm>
            <a:off x="502920" y="1783080"/>
            <a:ext cx="5349240" cy="2362200"/>
          </a:xfrm>
          <a:prstGeom prst="roundRect">
            <a:avLst>
              <a:gd name="adj" fmla="val 4000"/>
            </a:avLst>
          </a:prstGeom>
          <a:solidFill>
            <a:srgbClr val="F4F5F7"/>
          </a:solidFill>
          <a:ln/>
        </p:spPr>
        <p:txBody>
          <a:bodyPr/>
          <a:lstStyle/>
          <a:p>
            <a:endParaRPr lang="en-US"/>
          </a:p>
        </p:txBody>
      </p:sp>
      <p:sp>
        <p:nvSpPr>
          <p:cNvPr id="6" name="Text 4"/>
          <p:cNvSpPr txBox="1"/>
          <p:nvPr/>
        </p:nvSpPr>
        <p:spPr>
          <a:xfrm>
            <a:off x="777240" y="1965960"/>
            <a:ext cx="4800600" cy="27432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ea typeface="Calibri" pitchFamily="34" charset="-122"/>
                <a:cs typeface="Calibri" pitchFamily="34" charset="-120"/>
              </a:rPr>
              <a:t>What's on the stack</a:t>
            </a:r>
            <a:endParaRPr lang="en-US" sz="1400" dirty="0"/>
          </a:p>
        </p:txBody>
      </p:sp>
      <p:sp>
        <p:nvSpPr>
          <p:cNvPr id="7" name="Text 5"/>
          <p:cNvSpPr txBox="1"/>
          <p:nvPr/>
        </p:nvSpPr>
        <p:spPr>
          <a:xfrm>
            <a:off x="777240" y="2304288"/>
            <a:ext cx="4800600" cy="118872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dirty="0">
                <a:solidFill>
                  <a:srgbClr val="333F50"/>
                </a:solidFill>
                <a:latin typeface="Calibri" pitchFamily="34" charset="0"/>
                <a:ea typeface="Calibri" pitchFamily="34" charset="-122"/>
                <a:cs typeface="Calibri" pitchFamily="34" charset="-120"/>
              </a:rPr>
              <a:t>Each recursive call frame stores O(1) info: the array bounds and a couple of local indices.</a:t>
            </a:r>
            <a:endParaRPr lang="en-US" sz="1200" dirty="0"/>
          </a:p>
          <a:p>
            <a:pPr marL="177800" indent="-177800">
              <a:lnSpc>
                <a:spcPct val="115000"/>
              </a:lnSpc>
              <a:spcAft>
                <a:spcPts val="800"/>
              </a:spcAft>
              <a:buSzPct val="100000"/>
              <a:buChar char="•"/>
            </a:pPr>
            <a:r>
              <a:rPr lang="en-US" sz="1200" dirty="0">
                <a:solidFill>
                  <a:srgbClr val="333F50"/>
                </a:solidFill>
                <a:latin typeface="Calibri" pitchFamily="34" charset="0"/>
                <a:ea typeface="Calibri" pitchFamily="34" charset="-122"/>
                <a:cs typeface="Calibri" pitchFamily="34" charset="-120"/>
              </a:rPr>
              <a:t>Total space = O(1) × (maximum recursion depth).</a:t>
            </a:r>
            <a:endParaRPr lang="en-US" sz="1200" dirty="0"/>
          </a:p>
        </p:txBody>
      </p:sp>
      <p:sp>
        <p:nvSpPr>
          <p:cNvPr id="8" name="Shape 6"/>
          <p:cNvSpPr/>
          <p:nvPr/>
        </p:nvSpPr>
        <p:spPr>
          <a:xfrm>
            <a:off x="6309360" y="1783080"/>
            <a:ext cx="5349240" cy="2362200"/>
          </a:xfrm>
          <a:prstGeom prst="roundRect">
            <a:avLst>
              <a:gd name="adj" fmla="val 4000"/>
            </a:avLst>
          </a:prstGeom>
          <a:solidFill>
            <a:srgbClr val="EEF3FC"/>
          </a:solidFill>
          <a:ln/>
        </p:spPr>
        <p:txBody>
          <a:bodyPr/>
          <a:lstStyle/>
          <a:p>
            <a:endParaRPr lang="en-US"/>
          </a:p>
        </p:txBody>
      </p:sp>
      <p:sp>
        <p:nvSpPr>
          <p:cNvPr id="9" name="Text 7"/>
          <p:cNvSpPr txBox="1"/>
          <p:nvPr/>
        </p:nvSpPr>
        <p:spPr>
          <a:xfrm>
            <a:off x="6583680" y="1965960"/>
            <a:ext cx="4800600" cy="27432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ea typeface="Calibri" pitchFamily="34" charset="-122"/>
                <a:cs typeface="Calibri" pitchFamily="34" charset="-120"/>
              </a:rPr>
              <a:t>Depth drives the total</a:t>
            </a:r>
            <a:endParaRPr lang="en-US" sz="1400" dirty="0"/>
          </a:p>
        </p:txBody>
      </p:sp>
      <p:sp>
        <p:nvSpPr>
          <p:cNvPr id="10" name="Text 8"/>
          <p:cNvSpPr txBox="1"/>
          <p:nvPr/>
        </p:nvSpPr>
        <p:spPr>
          <a:xfrm>
            <a:off x="6583680" y="2304288"/>
            <a:ext cx="4800600" cy="1188720"/>
          </a:xfrm>
          <a:prstGeom prst="rect">
            <a:avLst/>
          </a:prstGeom>
          <a:noFill/>
          <a:ln/>
        </p:spPr>
        <p:txBody>
          <a:bodyPr wrap="square" lIns="0" tIns="0" rIns="0" bIns="0" rtlCol="0" anchor="t"/>
          <a:lstStyle/>
          <a:p>
            <a:pPr marL="177800" indent="-177800">
              <a:lnSpc>
                <a:spcPct val="115000"/>
              </a:lnSpc>
              <a:spcAft>
                <a:spcPts val="800"/>
              </a:spcAft>
              <a:buSzPct val="100000"/>
              <a:buChar char="•"/>
            </a:pPr>
            <a:r>
              <a:rPr lang="en-US" sz="1200" dirty="0">
                <a:solidFill>
                  <a:srgbClr val="333F50"/>
                </a:solidFill>
                <a:latin typeface="Calibri" pitchFamily="34" charset="0"/>
                <a:ea typeface="Calibri" pitchFamily="34" charset="-122"/>
                <a:cs typeface="Calibri" pitchFamily="34" charset="-120"/>
              </a:rPr>
              <a:t>Randomized / good splits → expected depth O(log n) → space O(log n).</a:t>
            </a:r>
            <a:endParaRPr lang="en-US" sz="1200" dirty="0"/>
          </a:p>
          <a:p>
            <a:pPr marL="177800" indent="-177800">
              <a:lnSpc>
                <a:spcPct val="115000"/>
              </a:lnSpc>
              <a:spcAft>
                <a:spcPts val="800"/>
              </a:spcAft>
              <a:buSzPct val="100000"/>
              <a:buChar char="•"/>
            </a:pPr>
            <a:r>
              <a:rPr lang="en-US" sz="1200" dirty="0">
                <a:solidFill>
                  <a:srgbClr val="333F50"/>
                </a:solidFill>
                <a:latin typeface="Calibri" pitchFamily="34" charset="0"/>
                <a:ea typeface="Calibri" pitchFamily="34" charset="-122"/>
                <a:cs typeface="Calibri" pitchFamily="34" charset="-120"/>
              </a:rPr>
              <a:t>Degenerate splits (always k = 0) → depth O(n) → space O(n).</a:t>
            </a:r>
            <a:endParaRPr lang="en-US" sz="1200" dirty="0"/>
          </a:p>
        </p:txBody>
      </p:sp>
      <p:sp>
        <p:nvSpPr>
          <p:cNvPr id="26" name="Text 24"/>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27" name="Text 25"/>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17</a:t>
            </a:r>
            <a:endParaRPr lang="en-US" sz="850" dirty="0"/>
          </a:p>
        </p:txBody>
      </p:sp>
      <p:sp>
        <p:nvSpPr>
          <p:cNvPr id="28" name="Shape 3">
            <a:extLst>
              <a:ext uri="{FF2B5EF4-FFF2-40B4-BE49-F238E27FC236}">
                <a16:creationId xmlns:a16="http://schemas.microsoft.com/office/drawing/2014/main" id="{EB7256F7-4024-CE5B-75AF-54EB31AE1BC8}"/>
              </a:ext>
            </a:extLst>
          </p:cNvPr>
          <p:cNvSpPr/>
          <p:nvPr/>
        </p:nvSpPr>
        <p:spPr>
          <a:xfrm>
            <a:off x="504444" y="4345432"/>
            <a:ext cx="11183112" cy="1051560"/>
          </a:xfrm>
          <a:prstGeom prst="roundRect">
            <a:avLst>
              <a:gd name="adj" fmla="val 5217"/>
            </a:avLst>
          </a:prstGeom>
          <a:solidFill>
            <a:srgbClr val="F4F5F7"/>
          </a:solidFill>
          <a:ln/>
        </p:spPr>
        <p:txBody>
          <a:bodyPr/>
          <a:lstStyle/>
          <a:p>
            <a:endParaRPr lang="en-US"/>
          </a:p>
        </p:txBody>
      </p:sp>
      <p:sp>
        <p:nvSpPr>
          <p:cNvPr id="29" name="Text 7">
            <a:extLst>
              <a:ext uri="{FF2B5EF4-FFF2-40B4-BE49-F238E27FC236}">
                <a16:creationId xmlns:a16="http://schemas.microsoft.com/office/drawing/2014/main" id="{A1115865-2E5D-13DD-9C33-E193A006DF96}"/>
              </a:ext>
            </a:extLst>
          </p:cNvPr>
          <p:cNvSpPr txBox="1"/>
          <p:nvPr/>
        </p:nvSpPr>
        <p:spPr>
          <a:xfrm>
            <a:off x="777240" y="4436872"/>
            <a:ext cx="4800600" cy="27432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cs typeface="Calibri" pitchFamily="34" charset="-120"/>
              </a:rPr>
              <a:t>Bottomline </a:t>
            </a:r>
            <a:endParaRPr lang="en-US" sz="1400" dirty="0"/>
          </a:p>
        </p:txBody>
      </p:sp>
      <p:sp>
        <p:nvSpPr>
          <p:cNvPr id="30" name="Text 8">
            <a:extLst>
              <a:ext uri="{FF2B5EF4-FFF2-40B4-BE49-F238E27FC236}">
                <a16:creationId xmlns:a16="http://schemas.microsoft.com/office/drawing/2014/main" id="{77643D86-F9E4-6CE6-0940-5474BA04195B}"/>
              </a:ext>
            </a:extLst>
          </p:cNvPr>
          <p:cNvSpPr txBox="1"/>
          <p:nvPr/>
        </p:nvSpPr>
        <p:spPr>
          <a:xfrm>
            <a:off x="777239" y="4783328"/>
            <a:ext cx="10454335" cy="512064"/>
          </a:xfrm>
          <a:prstGeom prst="rect">
            <a:avLst/>
          </a:prstGeom>
          <a:noFill/>
          <a:ln/>
        </p:spPr>
        <p:txBody>
          <a:bodyPr wrap="square" lIns="0" tIns="0" rIns="0" bIns="0" rtlCol="0" anchor="t"/>
          <a:lstStyle/>
          <a:p>
            <a:pPr>
              <a:lnSpc>
                <a:spcPct val="115000"/>
              </a:lnSpc>
              <a:spcAft>
                <a:spcPts val="800"/>
              </a:spcAft>
              <a:buSzPct val="100000"/>
            </a:pPr>
            <a:r>
              <a:rPr lang="en-US" sz="1200" dirty="0">
                <a:solidFill>
                  <a:srgbClr val="333F50"/>
                </a:solidFill>
                <a:latin typeface="Calibri" pitchFamily="34" charset="0"/>
                <a:ea typeface="Calibri" pitchFamily="34" charset="-122"/>
                <a:cs typeface="Calibri" pitchFamily="34" charset="-120"/>
              </a:rPr>
              <a:t>With randomization, </a:t>
            </a:r>
            <a:r>
              <a:rPr lang="en-US" sz="1200" dirty="0" err="1">
                <a:solidFill>
                  <a:srgbClr val="333F50"/>
                </a:solidFill>
                <a:latin typeface="Calibri" pitchFamily="34" charset="0"/>
                <a:ea typeface="Calibri" pitchFamily="34" charset="-122"/>
                <a:cs typeface="Calibri" pitchFamily="34" charset="-120"/>
              </a:rPr>
              <a:t>Quicksorts</a:t>
            </a:r>
            <a:r>
              <a:rPr lang="en-US" sz="1200" dirty="0">
                <a:solidFill>
                  <a:srgbClr val="333F50"/>
                </a:solidFill>
                <a:latin typeface="Calibri" pitchFamily="34" charset="0"/>
                <a:ea typeface="Calibri" pitchFamily="34" charset="-122"/>
                <a:cs typeface="Calibri" pitchFamily="34" charset="-120"/>
              </a:rPr>
              <a:t> space complexity is O(</a:t>
            </a:r>
            <a:r>
              <a:rPr lang="en-US" sz="1200" dirty="0" err="1">
                <a:solidFill>
                  <a:srgbClr val="333F50"/>
                </a:solidFill>
                <a:latin typeface="Calibri" pitchFamily="34" charset="0"/>
                <a:ea typeface="Calibri" pitchFamily="34" charset="-122"/>
                <a:cs typeface="Calibri" pitchFamily="34" charset="-120"/>
              </a:rPr>
              <a:t>logn</a:t>
            </a:r>
            <a:r>
              <a:rPr lang="en-US" sz="1200" dirty="0">
                <a:solidFill>
                  <a:srgbClr val="333F50"/>
                </a:solidFill>
                <a:latin typeface="Calibri" pitchFamily="34" charset="0"/>
                <a:ea typeface="Calibri" pitchFamily="34" charset="-122"/>
                <a:cs typeface="Calibri" pitchFamily="34" charset="-120"/>
              </a:rPr>
              <a:t>) as expected – far better than </a:t>
            </a:r>
            <a:r>
              <a:rPr lang="en-US" sz="1200" dirty="0" err="1">
                <a:solidFill>
                  <a:srgbClr val="333F50"/>
                </a:solidFill>
                <a:latin typeface="Calibri" pitchFamily="34" charset="0"/>
                <a:ea typeface="Calibri" pitchFamily="34" charset="-122"/>
                <a:cs typeface="Calibri" pitchFamily="34" charset="-120"/>
              </a:rPr>
              <a:t>Mergesort’s</a:t>
            </a:r>
            <a:r>
              <a:rPr lang="en-US" sz="1200" dirty="0">
                <a:solidFill>
                  <a:srgbClr val="333F50"/>
                </a:solidFill>
                <a:latin typeface="Calibri" pitchFamily="34" charset="0"/>
                <a:ea typeface="Calibri" pitchFamily="34" charset="-122"/>
                <a:cs typeface="Calibri" pitchFamily="34" charset="-120"/>
              </a:rPr>
              <a:t> O(n) due to the auxiliary array, and the reason Quicksort is the in-place sorting algorithm of choice.  </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COMPARISON</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Quicksort vs. Merge Sort</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Same average-case class, very different personalities.</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3084638487"/>
              </p:ext>
            </p:extLst>
          </p:nvPr>
        </p:nvGraphicFramePr>
        <p:xfrm>
          <a:off x="502920" y="1874520"/>
          <a:ext cx="11183112" cy="2944368"/>
        </p:xfrm>
        <a:graphic>
          <a:graphicData uri="http://schemas.openxmlformats.org/drawingml/2006/table">
            <a:tbl>
              <a:tblPr/>
              <a:tblGrid>
                <a:gridCol w="32918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2062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Merge Sort</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Quicksort</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E2A44"/>
                    </a:solidFill>
                  </a:tcPr>
                </a:tc>
                <a:extLst>
                  <a:ext uri="{0D108BD9-81ED-4DB2-BD59-A6C34878D82A}">
                    <a16:rowId xmlns:a16="http://schemas.microsoft.com/office/drawing/2014/main" val="10000"/>
                  </a:ext>
                </a:extLst>
              </a:tr>
              <a:tr h="420624">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Recurrence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T(n) = 2T(n/2) + Θ(n)</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T(n) = T(k) + T(n−1−k) + Θ(n)</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extLst>
                  <a:ext uri="{0D108BD9-81ED-4DB2-BD59-A6C34878D82A}">
                    <a16:rowId xmlns:a16="http://schemas.microsoft.com/office/drawing/2014/main" val="10001"/>
                  </a:ext>
                </a:extLst>
              </a:tr>
              <a:tr h="420624">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Average / expected time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Θ(n log n)</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Θ(n log n) (randomized)</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Worst case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Θ(n log n) — guaranteed</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Θ(n²) — astronomically rare, randomized</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extLst>
                  <a:ext uri="{0D108BD9-81ED-4DB2-BD59-A6C34878D82A}">
                    <a16:rowId xmlns:a16="http://schemas.microsoft.com/office/drawing/2014/main" val="10003"/>
                  </a:ext>
                </a:extLst>
              </a:tr>
              <a:tr h="420624">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Space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Θ(n) auxiliary array</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O(log n) extra, in place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Stable?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chemeClr val="accent2"/>
                          </a:solidFill>
                          <a:latin typeface="Calibri" pitchFamily="34" charset="0"/>
                          <a:ea typeface="Calibri" pitchFamily="34" charset="-122"/>
                          <a:cs typeface="Calibri" pitchFamily="34" charset="-120"/>
                        </a:rPr>
                        <a:t>Yes</a:t>
                      </a:r>
                      <a:endParaRPr lang="en-US" sz="1200" dirty="0">
                        <a:solidFill>
                          <a:schemeClr val="accent2"/>
                        </a:solidFill>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tc>
                  <a:txBody>
                    <a:bodyPr/>
                    <a:lstStyle/>
                    <a:p>
                      <a:pPr marL="0" indent="0" algn="ctr">
                        <a:buNone/>
                      </a:pPr>
                      <a:r>
                        <a:rPr lang="en-US" sz="1200" dirty="0">
                          <a:solidFill>
                            <a:schemeClr val="accent2"/>
                          </a:solidFill>
                          <a:latin typeface="Calibri" pitchFamily="34" charset="0"/>
                          <a:ea typeface="Calibri" pitchFamily="34" charset="-122"/>
                          <a:cs typeface="Calibri" pitchFamily="34" charset="-120"/>
                        </a:rPr>
                        <a:t>No</a:t>
                      </a:r>
                      <a:endParaRPr lang="en-US" sz="1200" dirty="0">
                        <a:solidFill>
                          <a:schemeClr val="accent2"/>
                        </a:solidFill>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5F7"/>
                    </a:solidFill>
                  </a:tcPr>
                </a:tc>
                <a:extLst>
                  <a:ext uri="{0D108BD9-81ED-4DB2-BD59-A6C34878D82A}">
                    <a16:rowId xmlns:a16="http://schemas.microsoft.com/office/drawing/2014/main" val="10005"/>
                  </a:ext>
                </a:extLst>
              </a:tr>
              <a:tr h="420624">
                <a:tc>
                  <a:txBody>
                    <a:bodyPr/>
                    <a:lstStyle/>
                    <a:p>
                      <a:pPr marL="0" indent="0" algn="l">
                        <a:buNone/>
                      </a:pPr>
                      <a:r>
                        <a:rPr lang="en-US" sz="1200" dirty="0">
                          <a:solidFill>
                            <a:srgbClr val="333F50"/>
                          </a:solidFill>
                          <a:latin typeface="Calibri" pitchFamily="34" charset="0"/>
                          <a:ea typeface="Calibri" pitchFamily="34" charset="-122"/>
                          <a:cs typeface="Calibri" pitchFamily="34" charset="-120"/>
                        </a:rPr>
                        <a:t>In place?</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F50"/>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127000" marR="1270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02920" y="5074920"/>
            <a:ext cx="11183112" cy="1051560"/>
          </a:xfrm>
          <a:prstGeom prst="roundRect">
            <a:avLst>
              <a:gd name="adj" fmla="val 5217"/>
            </a:avLst>
          </a:prstGeom>
          <a:solidFill>
            <a:srgbClr val="F4F5F7"/>
          </a:solidFill>
          <a:ln/>
        </p:spPr>
        <p:txBody>
          <a:bodyPr/>
          <a:lstStyle/>
          <a:p>
            <a:endParaRPr lang="en-US"/>
          </a:p>
        </p:txBody>
      </p:sp>
      <p:sp>
        <p:nvSpPr>
          <p:cNvPr id="7" name="Text 4"/>
          <p:cNvSpPr txBox="1"/>
          <p:nvPr/>
        </p:nvSpPr>
        <p:spPr>
          <a:xfrm>
            <a:off x="758952" y="522122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So why “quick”?</a:t>
            </a:r>
            <a:endParaRPr lang="en-US" sz="1200" dirty="0"/>
          </a:p>
        </p:txBody>
      </p:sp>
      <p:sp>
        <p:nvSpPr>
          <p:cNvPr id="8" name="Text 5"/>
          <p:cNvSpPr txBox="1"/>
          <p:nvPr/>
        </p:nvSpPr>
        <p:spPr>
          <a:xfrm>
            <a:off x="758952" y="5513832"/>
            <a:ext cx="10671048" cy="50292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In place means no copying and better cache locality — Quicksort operates on contiguous memory with small constant factors. Despite matching Merge Sort's average-case class, it's typically faster in practice, which is why a randomized or hybrid Quicksort is the default in-memory sort in many language runtimes.</a:t>
            </a:r>
            <a:endParaRPr lang="en-US" sz="1250" dirty="0"/>
          </a:p>
        </p:txBody>
      </p:sp>
      <p:sp>
        <p:nvSpPr>
          <p:cNvPr id="9" name="Text 6"/>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10" name="Text 7"/>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PROPERTIES</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a:solidFill>
                  <a:srgbClr val="1E2A44"/>
                </a:solidFill>
                <a:latin typeface="Calibri" pitchFamily="34" charset="0"/>
                <a:ea typeface="Calibri" pitchFamily="34" charset="-122"/>
                <a:cs typeface="Calibri" pitchFamily="34" charset="-120"/>
              </a:rPr>
              <a:t>Quicksort Is Not Stable</a:t>
            </a:r>
            <a:endParaRPr lang="en-US" sz="2800" dirty="0"/>
          </a:p>
        </p:txBody>
      </p:sp>
      <p:sp>
        <p:nvSpPr>
          <p:cNvPr id="4" name="Text 2"/>
          <p:cNvSpPr txBox="1"/>
          <p:nvPr/>
        </p:nvSpPr>
        <p:spPr>
          <a:xfrm>
            <a:off x="502920" y="1152144"/>
            <a:ext cx="11155680" cy="365760"/>
          </a:xfrm>
          <a:prstGeom prst="rect">
            <a:avLst/>
          </a:prstGeom>
          <a:noFill/>
          <a:ln/>
        </p:spPr>
        <p:txBody>
          <a:bodyPr wrap="square" lIns="0" tIns="0" rIns="0" bIns="0" rtlCol="0" anchor="ctr"/>
          <a:lstStyle/>
          <a:p>
            <a:pPr marL="0" indent="0">
              <a:buNone/>
            </a:pPr>
            <a:r>
              <a:rPr lang="en-US" sz="1350" dirty="0">
                <a:solidFill>
                  <a:srgbClr val="595959"/>
                </a:solidFill>
                <a:latin typeface="Calibri" pitchFamily="34" charset="0"/>
                <a:ea typeface="Calibri" pitchFamily="34" charset="-122"/>
                <a:cs typeface="Calibri" pitchFamily="34" charset="-120"/>
              </a:rPr>
              <a:t>Equal-valued elements can end up reordered relative to each other.</a:t>
            </a:r>
            <a:endParaRPr lang="en-US" sz="1350" dirty="0"/>
          </a:p>
        </p:txBody>
      </p:sp>
      <p:sp>
        <p:nvSpPr>
          <p:cNvPr id="5" name="Shape 3"/>
          <p:cNvSpPr/>
          <p:nvPr/>
        </p:nvSpPr>
        <p:spPr>
          <a:xfrm>
            <a:off x="502920" y="1874520"/>
            <a:ext cx="11183112" cy="685800"/>
          </a:xfrm>
          <a:prstGeom prst="roundRect">
            <a:avLst>
              <a:gd name="adj" fmla="val 8000"/>
            </a:avLst>
          </a:prstGeom>
          <a:solidFill>
            <a:srgbClr val="F4F5F7"/>
          </a:solidFill>
          <a:ln/>
        </p:spPr>
        <p:txBody>
          <a:bodyPr/>
          <a:lstStyle/>
          <a:p>
            <a:endParaRPr lang="en-US"/>
          </a:p>
        </p:txBody>
      </p:sp>
      <p:sp>
        <p:nvSpPr>
          <p:cNvPr id="6" name="Text 4"/>
          <p:cNvSpPr txBox="1"/>
          <p:nvPr/>
        </p:nvSpPr>
        <p:spPr>
          <a:xfrm>
            <a:off x="758952" y="2020824"/>
            <a:ext cx="10671048" cy="237744"/>
          </a:xfrm>
          <a:prstGeom prst="rect">
            <a:avLst/>
          </a:prstGeom>
          <a:noFill/>
          <a:ln/>
        </p:spPr>
        <p:txBody>
          <a:bodyPr wrap="square" lIns="0" tIns="0" rIns="0" bIns="0" rtlCol="0" anchor="ctr"/>
          <a:lstStyle/>
          <a:p>
            <a:pPr marL="0" indent="0">
              <a:buNone/>
            </a:pPr>
            <a:r>
              <a:rPr lang="en-US" sz="1200" b="1" dirty="0">
                <a:solidFill>
                  <a:srgbClr val="1E2A44"/>
                </a:solidFill>
                <a:latin typeface="Calibri" pitchFamily="34" charset="0"/>
                <a:ea typeface="Calibri" pitchFamily="34" charset="-122"/>
                <a:cs typeface="Calibri" pitchFamily="34" charset="-120"/>
              </a:rPr>
              <a:t>Definition</a:t>
            </a:r>
            <a:endParaRPr lang="en-US" sz="1200" dirty="0"/>
          </a:p>
        </p:txBody>
      </p:sp>
      <p:sp>
        <p:nvSpPr>
          <p:cNvPr id="7" name="Text 5"/>
          <p:cNvSpPr txBox="1"/>
          <p:nvPr/>
        </p:nvSpPr>
        <p:spPr>
          <a:xfrm>
            <a:off x="758952" y="2313432"/>
            <a:ext cx="10671048" cy="137160"/>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A sort is stable if two elements with equal keys keep their original relative order.</a:t>
            </a:r>
            <a:endParaRPr lang="en-US" sz="1250" dirty="0"/>
          </a:p>
        </p:txBody>
      </p:sp>
      <p:sp>
        <p:nvSpPr>
          <p:cNvPr id="8" name="Text 6"/>
          <p:cNvSpPr txBox="1"/>
          <p:nvPr/>
        </p:nvSpPr>
        <p:spPr>
          <a:xfrm>
            <a:off x="502920" y="2743200"/>
            <a:ext cx="11183112"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Before partitioning — pivot p = 3 (the 'a' copy, at index 0):</a:t>
            </a:r>
            <a:endParaRPr lang="en-US" sz="1250" dirty="0"/>
          </a:p>
        </p:txBody>
      </p:sp>
      <p:sp>
        <p:nvSpPr>
          <p:cNvPr id="9" name="Shape 7"/>
          <p:cNvSpPr/>
          <p:nvPr/>
        </p:nvSpPr>
        <p:spPr>
          <a:xfrm>
            <a:off x="502920" y="3063240"/>
            <a:ext cx="777240" cy="502920"/>
          </a:xfrm>
          <a:prstGeom prst="rect">
            <a:avLst/>
          </a:prstGeom>
          <a:solidFill>
            <a:srgbClr val="FFC000"/>
          </a:solidFill>
          <a:ln w="15875">
            <a:solidFill>
              <a:srgbClr val="FFC000"/>
            </a:solidFill>
            <a:prstDash val="solid"/>
          </a:ln>
        </p:spPr>
        <p:txBody>
          <a:bodyPr/>
          <a:lstStyle/>
          <a:p>
            <a:endParaRPr lang="en-US"/>
          </a:p>
        </p:txBody>
      </p:sp>
      <p:sp>
        <p:nvSpPr>
          <p:cNvPr id="10" name="Text 8"/>
          <p:cNvSpPr txBox="1"/>
          <p:nvPr/>
        </p:nvSpPr>
        <p:spPr>
          <a:xfrm>
            <a:off x="502920" y="3063240"/>
            <a:ext cx="777240" cy="502920"/>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3a</a:t>
            </a:r>
            <a:endParaRPr lang="en-US" sz="1400" dirty="0"/>
          </a:p>
        </p:txBody>
      </p:sp>
      <p:sp>
        <p:nvSpPr>
          <p:cNvPr id="11" name="Shape 9"/>
          <p:cNvSpPr/>
          <p:nvPr/>
        </p:nvSpPr>
        <p:spPr>
          <a:xfrm>
            <a:off x="1280160" y="3063240"/>
            <a:ext cx="777240" cy="502920"/>
          </a:xfrm>
          <a:prstGeom prst="rect">
            <a:avLst/>
          </a:prstGeom>
          <a:solidFill>
            <a:srgbClr val="FFFFFF"/>
          </a:solidFill>
          <a:ln w="15875">
            <a:solidFill>
              <a:srgbClr val="D9D9D9"/>
            </a:solidFill>
            <a:prstDash val="solid"/>
          </a:ln>
        </p:spPr>
        <p:txBody>
          <a:bodyPr/>
          <a:lstStyle/>
          <a:p>
            <a:endParaRPr lang="en-US"/>
          </a:p>
        </p:txBody>
      </p:sp>
      <p:sp>
        <p:nvSpPr>
          <p:cNvPr id="12" name="Text 10"/>
          <p:cNvSpPr txBox="1"/>
          <p:nvPr/>
        </p:nvSpPr>
        <p:spPr>
          <a:xfrm>
            <a:off x="1280160" y="3063240"/>
            <a:ext cx="777240" cy="502920"/>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1b</a:t>
            </a:r>
            <a:endParaRPr lang="en-US" sz="1400" dirty="0"/>
          </a:p>
        </p:txBody>
      </p:sp>
      <p:sp>
        <p:nvSpPr>
          <p:cNvPr id="13" name="Shape 11"/>
          <p:cNvSpPr/>
          <p:nvPr/>
        </p:nvSpPr>
        <p:spPr>
          <a:xfrm>
            <a:off x="2057400" y="3063240"/>
            <a:ext cx="777240" cy="502920"/>
          </a:xfrm>
          <a:prstGeom prst="rect">
            <a:avLst/>
          </a:prstGeom>
          <a:solidFill>
            <a:srgbClr val="FFFFFF"/>
          </a:solidFill>
          <a:ln w="15875">
            <a:solidFill>
              <a:srgbClr val="D9D9D9"/>
            </a:solidFill>
            <a:prstDash val="solid"/>
          </a:ln>
        </p:spPr>
        <p:txBody>
          <a:bodyPr/>
          <a:lstStyle/>
          <a:p>
            <a:endParaRPr lang="en-US"/>
          </a:p>
        </p:txBody>
      </p:sp>
      <p:sp>
        <p:nvSpPr>
          <p:cNvPr id="14" name="Text 12"/>
          <p:cNvSpPr txBox="1"/>
          <p:nvPr/>
        </p:nvSpPr>
        <p:spPr>
          <a:xfrm>
            <a:off x="2057400" y="3063240"/>
            <a:ext cx="777240" cy="502920"/>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3c</a:t>
            </a:r>
            <a:endParaRPr lang="en-US" sz="1400" dirty="0"/>
          </a:p>
        </p:txBody>
      </p:sp>
      <p:sp>
        <p:nvSpPr>
          <p:cNvPr id="15" name="Text 13"/>
          <p:cNvSpPr txBox="1"/>
          <p:nvPr/>
        </p:nvSpPr>
        <p:spPr>
          <a:xfrm>
            <a:off x="5120640" y="2743200"/>
            <a:ext cx="5943600" cy="274320"/>
          </a:xfrm>
          <a:prstGeom prst="rect">
            <a:avLst/>
          </a:prstGeom>
          <a:noFill/>
          <a:ln/>
        </p:spPr>
        <p:txBody>
          <a:bodyPr wrap="square" lIns="0" tIns="0" rIns="0" bIns="0" rtlCol="0" anchor="ctr"/>
          <a:lstStyle/>
          <a:p>
            <a:pPr marL="0" indent="0">
              <a:buNone/>
            </a:pPr>
            <a:r>
              <a:rPr lang="en-US" sz="1250" dirty="0">
                <a:solidFill>
                  <a:srgbClr val="333F50"/>
                </a:solidFill>
                <a:latin typeface="Calibri" pitchFamily="34" charset="0"/>
                <a:ea typeface="Calibri" pitchFamily="34" charset="-122"/>
                <a:cs typeface="Calibri" pitchFamily="34" charset="-120"/>
              </a:rPr>
              <a:t>After partitioning — 3c can land before 3a:</a:t>
            </a:r>
            <a:endParaRPr lang="en-US" sz="1250" dirty="0"/>
          </a:p>
        </p:txBody>
      </p:sp>
      <p:sp>
        <p:nvSpPr>
          <p:cNvPr id="16" name="Shape 14"/>
          <p:cNvSpPr/>
          <p:nvPr/>
        </p:nvSpPr>
        <p:spPr>
          <a:xfrm>
            <a:off x="5120640" y="3063240"/>
            <a:ext cx="777240" cy="502920"/>
          </a:xfrm>
          <a:prstGeom prst="rect">
            <a:avLst/>
          </a:prstGeom>
          <a:solidFill>
            <a:srgbClr val="EEF3FC"/>
          </a:solidFill>
          <a:ln w="15875">
            <a:solidFill>
              <a:srgbClr val="EEF3FC"/>
            </a:solidFill>
            <a:prstDash val="solid"/>
          </a:ln>
        </p:spPr>
        <p:txBody>
          <a:bodyPr/>
          <a:lstStyle/>
          <a:p>
            <a:endParaRPr lang="en-US"/>
          </a:p>
        </p:txBody>
      </p:sp>
      <p:sp>
        <p:nvSpPr>
          <p:cNvPr id="17" name="Text 15"/>
          <p:cNvSpPr txBox="1"/>
          <p:nvPr/>
        </p:nvSpPr>
        <p:spPr>
          <a:xfrm>
            <a:off x="5120640" y="3063240"/>
            <a:ext cx="777240" cy="502920"/>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1b</a:t>
            </a:r>
            <a:endParaRPr lang="en-US" sz="1400" dirty="0"/>
          </a:p>
        </p:txBody>
      </p:sp>
      <p:sp>
        <p:nvSpPr>
          <p:cNvPr id="18" name="Shape 16"/>
          <p:cNvSpPr/>
          <p:nvPr/>
        </p:nvSpPr>
        <p:spPr>
          <a:xfrm>
            <a:off x="5897880" y="3063240"/>
            <a:ext cx="777240" cy="502920"/>
          </a:xfrm>
          <a:prstGeom prst="rect">
            <a:avLst/>
          </a:prstGeom>
          <a:solidFill>
            <a:srgbClr val="FBE4D5"/>
          </a:solidFill>
          <a:ln w="15875">
            <a:solidFill>
              <a:srgbClr val="FBE4D5"/>
            </a:solidFill>
            <a:prstDash val="solid"/>
          </a:ln>
        </p:spPr>
        <p:txBody>
          <a:bodyPr/>
          <a:lstStyle/>
          <a:p>
            <a:endParaRPr lang="en-US"/>
          </a:p>
        </p:txBody>
      </p:sp>
      <p:sp>
        <p:nvSpPr>
          <p:cNvPr id="19" name="Text 17"/>
          <p:cNvSpPr txBox="1"/>
          <p:nvPr/>
        </p:nvSpPr>
        <p:spPr>
          <a:xfrm>
            <a:off x="5897880" y="3063240"/>
            <a:ext cx="777240" cy="502920"/>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3c</a:t>
            </a:r>
            <a:endParaRPr lang="en-US" sz="1400" dirty="0"/>
          </a:p>
        </p:txBody>
      </p:sp>
      <p:sp>
        <p:nvSpPr>
          <p:cNvPr id="20" name="Shape 18"/>
          <p:cNvSpPr/>
          <p:nvPr/>
        </p:nvSpPr>
        <p:spPr>
          <a:xfrm>
            <a:off x="6675120" y="3063240"/>
            <a:ext cx="777240" cy="502920"/>
          </a:xfrm>
          <a:prstGeom prst="rect">
            <a:avLst/>
          </a:prstGeom>
          <a:solidFill>
            <a:srgbClr val="FFC000"/>
          </a:solidFill>
          <a:ln w="15875">
            <a:solidFill>
              <a:srgbClr val="FFC000"/>
            </a:solidFill>
            <a:prstDash val="solid"/>
          </a:ln>
        </p:spPr>
        <p:txBody>
          <a:bodyPr/>
          <a:lstStyle/>
          <a:p>
            <a:endParaRPr lang="en-US"/>
          </a:p>
        </p:txBody>
      </p:sp>
      <p:sp>
        <p:nvSpPr>
          <p:cNvPr id="21" name="Text 19"/>
          <p:cNvSpPr txBox="1"/>
          <p:nvPr/>
        </p:nvSpPr>
        <p:spPr>
          <a:xfrm>
            <a:off x="6675120" y="3063240"/>
            <a:ext cx="777240" cy="502920"/>
          </a:xfrm>
          <a:prstGeom prst="rect">
            <a:avLst/>
          </a:prstGeom>
          <a:noFill/>
          <a:ln/>
        </p:spPr>
        <p:txBody>
          <a:bodyPr wrap="square" lIns="0" tIns="0" rIns="0" bIns="0" rtlCol="0" anchor="ctr"/>
          <a:lstStyle/>
          <a:p>
            <a:pPr marL="0" indent="0" algn="ctr">
              <a:buNone/>
            </a:pPr>
            <a:r>
              <a:rPr lang="en-US" sz="1400" b="1" dirty="0">
                <a:solidFill>
                  <a:srgbClr val="1E2A44"/>
                </a:solidFill>
                <a:latin typeface="Courier New" pitchFamily="34" charset="0"/>
                <a:ea typeface="Courier New" pitchFamily="34" charset="-122"/>
                <a:cs typeface="Courier New" pitchFamily="34" charset="-120"/>
              </a:rPr>
              <a:t>3a</a:t>
            </a:r>
            <a:endParaRPr lang="en-US" sz="1400" dirty="0"/>
          </a:p>
        </p:txBody>
      </p:sp>
      <p:sp>
        <p:nvSpPr>
          <p:cNvPr id="22" name="Text 20"/>
          <p:cNvSpPr txBox="1"/>
          <p:nvPr/>
        </p:nvSpPr>
        <p:spPr>
          <a:xfrm>
            <a:off x="502920" y="4160520"/>
            <a:ext cx="11183112" cy="1188720"/>
          </a:xfrm>
          <a:prstGeom prst="rect">
            <a:avLst/>
          </a:prstGeom>
          <a:noFill/>
          <a:ln/>
        </p:spPr>
        <p:txBody>
          <a:bodyPr wrap="square" lIns="0" tIns="0" rIns="0" bIns="0" rtlCol="0" anchor="t"/>
          <a:lstStyle/>
          <a:p>
            <a:pPr marL="177800" indent="-177800">
              <a:lnSpc>
                <a:spcPct val="115000"/>
              </a:lnSpc>
              <a:spcAft>
                <a:spcPts val="900"/>
              </a:spcAft>
              <a:buSzPct val="100000"/>
              <a:buChar char="•"/>
            </a:pPr>
            <a:r>
              <a:rPr lang="en-US" sz="1300" b="1" dirty="0">
                <a:solidFill>
                  <a:srgbClr val="1E2A44"/>
                </a:solidFill>
                <a:latin typeface="Calibri" pitchFamily="34" charset="0"/>
                <a:ea typeface="Calibri" pitchFamily="34" charset="-122"/>
                <a:cs typeface="Calibri" pitchFamily="34" charset="-120"/>
              </a:rPr>
              <a:t>The relative order of the two 3's flipped: </a:t>
            </a:r>
            <a:r>
              <a:rPr lang="en-US" sz="1300" dirty="0">
                <a:solidFill>
                  <a:srgbClr val="333F50"/>
                </a:solidFill>
                <a:latin typeface="Calibri" pitchFamily="34" charset="0"/>
                <a:ea typeface="Calibri" pitchFamily="34" charset="-122"/>
                <a:cs typeface="Calibri" pitchFamily="34" charset="-120"/>
              </a:rPr>
              <a:t>'a' came first originally, but 'c' now sits ahead of it.</a:t>
            </a:r>
            <a:endParaRPr lang="en-US" sz="1300" dirty="0"/>
          </a:p>
          <a:p>
            <a:pPr marL="177800" indent="-177800">
              <a:lnSpc>
                <a:spcPct val="115000"/>
              </a:lnSpc>
              <a:spcAft>
                <a:spcPts val="900"/>
              </a:spcAft>
              <a:buSzPct val="100000"/>
              <a:buChar char="•"/>
            </a:pPr>
            <a:r>
              <a:rPr lang="en-US" sz="1300" b="1" dirty="0">
                <a:solidFill>
                  <a:srgbClr val="1E2A44"/>
                </a:solidFill>
                <a:latin typeface="Calibri" pitchFamily="34" charset="0"/>
                <a:ea typeface="Calibri" pitchFamily="34" charset="-122"/>
                <a:cs typeface="Calibri" pitchFamily="34" charset="-120"/>
              </a:rPr>
              <a:t>Why: </a:t>
            </a:r>
            <a:r>
              <a:rPr lang="en-US" sz="1300" dirty="0">
                <a:solidFill>
                  <a:srgbClr val="333F50"/>
                </a:solidFill>
                <a:latin typeface="Calibri" pitchFamily="34" charset="0"/>
                <a:ea typeface="Calibri" pitchFamily="34" charset="-122"/>
                <a:cs typeface="Calibri" pitchFamily="34" charset="-120"/>
              </a:rPr>
              <a:t>partitioning swaps elements purely by value comparison — it has no notion of which element arrived first.</a:t>
            </a:r>
            <a:endParaRPr lang="en-US" sz="1300" dirty="0"/>
          </a:p>
          <a:p>
            <a:pPr marL="177800" indent="-177800">
              <a:lnSpc>
                <a:spcPct val="115000"/>
              </a:lnSpc>
              <a:spcAft>
                <a:spcPts val="900"/>
              </a:spcAft>
              <a:buSzPct val="100000"/>
              <a:buChar char="•"/>
            </a:pPr>
            <a:r>
              <a:rPr lang="en-US" sz="1300" b="1" dirty="0">
                <a:solidFill>
                  <a:srgbClr val="1E2A44"/>
                </a:solidFill>
                <a:latin typeface="Calibri" pitchFamily="34" charset="0"/>
                <a:ea typeface="Calibri" pitchFamily="34" charset="-122"/>
                <a:cs typeface="Calibri" pitchFamily="34" charset="-120"/>
              </a:rPr>
              <a:t>Contrast: </a:t>
            </a:r>
            <a:r>
              <a:rPr lang="en-US" sz="1300" dirty="0">
                <a:solidFill>
                  <a:srgbClr val="333F50"/>
                </a:solidFill>
                <a:latin typeface="Calibri" pitchFamily="34" charset="0"/>
                <a:ea typeface="Calibri" pitchFamily="34" charset="-122"/>
                <a:cs typeface="Calibri" pitchFamily="34" charset="-120"/>
              </a:rPr>
              <a:t>Merge Sort is naturally stable, since Merge always takes from the left half first when there's a tie.</a:t>
            </a:r>
            <a:endParaRPr lang="en-US" sz="1300" dirty="0"/>
          </a:p>
        </p:txBody>
      </p:sp>
      <p:sp>
        <p:nvSpPr>
          <p:cNvPr id="23" name="Shape 21"/>
          <p:cNvSpPr/>
          <p:nvPr/>
        </p:nvSpPr>
        <p:spPr>
          <a:xfrm>
            <a:off x="502920" y="5486400"/>
            <a:ext cx="11183112" cy="502920"/>
          </a:xfrm>
          <a:prstGeom prst="roundRect">
            <a:avLst>
              <a:gd name="adj" fmla="val 10909"/>
            </a:avLst>
          </a:prstGeom>
          <a:solidFill>
            <a:srgbClr val="F4F5F7"/>
          </a:solidFill>
          <a:ln/>
        </p:spPr>
        <p:txBody>
          <a:bodyPr/>
          <a:lstStyle/>
          <a:p>
            <a:endParaRPr lang="en-US"/>
          </a:p>
        </p:txBody>
      </p:sp>
      <p:sp>
        <p:nvSpPr>
          <p:cNvPr id="24" name="Text 22"/>
          <p:cNvSpPr txBox="1"/>
          <p:nvPr/>
        </p:nvSpPr>
        <p:spPr>
          <a:xfrm>
            <a:off x="758952" y="5632704"/>
            <a:ext cx="10671048" cy="246888"/>
          </a:xfrm>
          <a:prstGeom prst="rect">
            <a:avLst/>
          </a:prstGeom>
          <a:noFill/>
          <a:ln/>
        </p:spPr>
        <p:txBody>
          <a:bodyPr wrap="square" lIns="0" tIns="0" rIns="0" bIns="0" rtlCol="0" anchor="t"/>
          <a:lstStyle/>
          <a:p>
            <a:pPr marL="0" indent="0">
              <a:lnSpc>
                <a:spcPct val="115000"/>
              </a:lnSpc>
              <a:buNone/>
            </a:pPr>
            <a:r>
              <a:rPr lang="en-US" sz="1250" dirty="0">
                <a:solidFill>
                  <a:srgbClr val="333F50"/>
                </a:solidFill>
                <a:latin typeface="Calibri" pitchFamily="34" charset="0"/>
                <a:ea typeface="Calibri" pitchFamily="34" charset="-122"/>
                <a:cs typeface="Calibri" pitchFamily="34" charset="-120"/>
              </a:rPr>
              <a:t>Stability matters when sorting by a secondary key after an earlier sort — e.g. keeping name order among students who tie on score.</a:t>
            </a:r>
            <a:endParaRPr lang="en-US" sz="1250" dirty="0"/>
          </a:p>
        </p:txBody>
      </p:sp>
      <p:sp>
        <p:nvSpPr>
          <p:cNvPr id="25" name="Text 23"/>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26" name="Text 24"/>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10515600" cy="274320"/>
          </a:xfrm>
          <a:prstGeom prst="rect">
            <a:avLst/>
          </a:prstGeom>
          <a:noFill/>
          <a:ln/>
        </p:spPr>
        <p:txBody>
          <a:bodyPr wrap="square" lIns="0" tIns="0" rIns="0" bIns="0" rtlCol="0" anchor="ctr"/>
          <a:lstStyle/>
          <a:p>
            <a:pPr marL="0" indent="0">
              <a:buNone/>
            </a:pPr>
            <a:r>
              <a:rPr lang="en-US" sz="1200" b="1" kern="0" spc="120" dirty="0">
                <a:solidFill>
                  <a:srgbClr val="C55A11"/>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502920" y="585216"/>
            <a:ext cx="11155680" cy="566928"/>
          </a:xfrm>
          <a:prstGeom prst="rect">
            <a:avLst/>
          </a:prstGeom>
          <a:noFill/>
          <a:ln/>
        </p:spPr>
        <p:txBody>
          <a:bodyPr wrap="square" lIns="0" tIns="0" rIns="0" bIns="0" rtlCol="0" anchor="ctr"/>
          <a:lstStyle/>
          <a:p>
            <a:pPr marL="0" indent="0">
              <a:buNone/>
            </a:pPr>
            <a:r>
              <a:rPr lang="en-US" sz="2800" b="1" dirty="0" err="1">
                <a:solidFill>
                  <a:srgbClr val="1E2A44"/>
                </a:solidFill>
                <a:latin typeface="Calibri" pitchFamily="34" charset="0"/>
                <a:ea typeface="Calibri" pitchFamily="34" charset="-122"/>
                <a:cs typeface="Calibri" pitchFamily="34" charset="-120"/>
              </a:rPr>
              <a:t>QuickSort</a:t>
            </a:r>
            <a:r>
              <a:rPr lang="en-US" sz="2800" b="1" dirty="0">
                <a:solidFill>
                  <a:srgbClr val="1E2A44"/>
                </a:solidFill>
                <a:latin typeface="Calibri" pitchFamily="34" charset="0"/>
                <a:ea typeface="Calibri" pitchFamily="34" charset="-122"/>
                <a:cs typeface="Calibri" pitchFamily="34" charset="-120"/>
              </a:rPr>
              <a:t>: Key Takeaways</a:t>
            </a:r>
            <a:endParaRPr lang="en-US" sz="2800" dirty="0"/>
          </a:p>
        </p:txBody>
      </p:sp>
      <p:sp>
        <p:nvSpPr>
          <p:cNvPr id="4" name="Shape 2"/>
          <p:cNvSpPr/>
          <p:nvPr/>
        </p:nvSpPr>
        <p:spPr>
          <a:xfrm>
            <a:off x="502920" y="1965960"/>
            <a:ext cx="384048" cy="384048"/>
          </a:xfrm>
          <a:prstGeom prst="ellipse">
            <a:avLst/>
          </a:prstGeom>
          <a:solidFill>
            <a:srgbClr val="4472C4"/>
          </a:solidFill>
          <a:ln/>
        </p:spPr>
        <p:txBody>
          <a:bodyPr/>
          <a:lstStyle/>
          <a:p>
            <a:endParaRPr lang="en-US"/>
          </a:p>
        </p:txBody>
      </p:sp>
      <p:sp>
        <p:nvSpPr>
          <p:cNvPr id="5" name="Text 3"/>
          <p:cNvSpPr txBox="1"/>
          <p:nvPr/>
        </p:nvSpPr>
        <p:spPr>
          <a:xfrm>
            <a:off x="502920" y="196596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51560" y="1929384"/>
            <a:ext cx="1042416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Divide-and-conquer, restructured</a:t>
            </a:r>
            <a:endParaRPr lang="en-US" sz="1500" dirty="0"/>
          </a:p>
        </p:txBody>
      </p:sp>
      <p:sp>
        <p:nvSpPr>
          <p:cNvPr id="7" name="Text 5"/>
          <p:cNvSpPr txBox="1"/>
          <p:nvPr/>
        </p:nvSpPr>
        <p:spPr>
          <a:xfrm>
            <a:off x="1051560" y="2221992"/>
            <a:ext cx="1042416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Partitioning does the hard work up front (the divide step), so combining is free — no merge step required.</a:t>
            </a:r>
            <a:endParaRPr lang="en-US" sz="1300" dirty="0"/>
          </a:p>
        </p:txBody>
      </p:sp>
      <p:sp>
        <p:nvSpPr>
          <p:cNvPr id="8" name="Shape 6"/>
          <p:cNvSpPr/>
          <p:nvPr/>
        </p:nvSpPr>
        <p:spPr>
          <a:xfrm>
            <a:off x="502920" y="3017520"/>
            <a:ext cx="384048" cy="384048"/>
          </a:xfrm>
          <a:prstGeom prst="ellipse">
            <a:avLst/>
          </a:prstGeom>
          <a:solidFill>
            <a:srgbClr val="4472C4"/>
          </a:solidFill>
          <a:ln/>
        </p:spPr>
        <p:txBody>
          <a:bodyPr/>
          <a:lstStyle/>
          <a:p>
            <a:endParaRPr lang="en-US"/>
          </a:p>
        </p:txBody>
      </p:sp>
      <p:sp>
        <p:nvSpPr>
          <p:cNvPr id="9" name="Text 7"/>
          <p:cNvSpPr txBox="1"/>
          <p:nvPr/>
        </p:nvSpPr>
        <p:spPr>
          <a:xfrm>
            <a:off x="502920" y="301752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051560" y="2980944"/>
            <a:ext cx="1042416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The pivot invariant is everything</a:t>
            </a:r>
            <a:endParaRPr lang="en-US" sz="1500" dirty="0"/>
          </a:p>
        </p:txBody>
      </p:sp>
      <p:sp>
        <p:nvSpPr>
          <p:cNvPr id="11" name="Text 9"/>
          <p:cNvSpPr txBox="1"/>
          <p:nvPr/>
        </p:nvSpPr>
        <p:spPr>
          <a:xfrm>
            <a:off x="1051560" y="3273552"/>
            <a:ext cx="1042416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Once an element is correctly placed relative to the pivot, it never needs to be touched again.</a:t>
            </a:r>
            <a:endParaRPr lang="en-US" sz="1300" dirty="0"/>
          </a:p>
        </p:txBody>
      </p:sp>
      <p:sp>
        <p:nvSpPr>
          <p:cNvPr id="12" name="Shape 10"/>
          <p:cNvSpPr/>
          <p:nvPr/>
        </p:nvSpPr>
        <p:spPr>
          <a:xfrm>
            <a:off x="502920" y="4069080"/>
            <a:ext cx="384048" cy="384048"/>
          </a:xfrm>
          <a:prstGeom prst="ellipse">
            <a:avLst/>
          </a:prstGeom>
          <a:solidFill>
            <a:srgbClr val="4472C4"/>
          </a:solidFill>
          <a:ln/>
        </p:spPr>
        <p:txBody>
          <a:bodyPr/>
          <a:lstStyle/>
          <a:p>
            <a:endParaRPr lang="en-US"/>
          </a:p>
        </p:txBody>
      </p:sp>
      <p:sp>
        <p:nvSpPr>
          <p:cNvPr id="13" name="Text 11"/>
          <p:cNvSpPr txBox="1"/>
          <p:nvPr/>
        </p:nvSpPr>
        <p:spPr>
          <a:xfrm>
            <a:off x="502920" y="406908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051560" y="4032504"/>
            <a:ext cx="1042416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Randomization stops Θ(n²)</a:t>
            </a:r>
            <a:endParaRPr lang="en-US" sz="1500" dirty="0"/>
          </a:p>
        </p:txBody>
      </p:sp>
      <p:sp>
        <p:nvSpPr>
          <p:cNvPr id="15" name="Text 13"/>
          <p:cNvSpPr txBox="1"/>
          <p:nvPr/>
        </p:nvSpPr>
        <p:spPr>
          <a:xfrm>
            <a:off x="1051560" y="4325112"/>
            <a:ext cx="1042416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A random pivot can't be “tricked” by any fixed input order, guaranteeing O(n log n) expected time on every input.</a:t>
            </a:r>
            <a:endParaRPr lang="en-US" sz="1300" dirty="0"/>
          </a:p>
        </p:txBody>
      </p:sp>
      <p:sp>
        <p:nvSpPr>
          <p:cNvPr id="16" name="Shape 14"/>
          <p:cNvSpPr/>
          <p:nvPr/>
        </p:nvSpPr>
        <p:spPr>
          <a:xfrm>
            <a:off x="502920" y="5120640"/>
            <a:ext cx="384048" cy="384048"/>
          </a:xfrm>
          <a:prstGeom prst="ellipse">
            <a:avLst/>
          </a:prstGeom>
          <a:solidFill>
            <a:srgbClr val="4472C4"/>
          </a:solidFill>
          <a:ln/>
        </p:spPr>
        <p:txBody>
          <a:bodyPr/>
          <a:lstStyle/>
          <a:p>
            <a:endParaRPr lang="en-US"/>
          </a:p>
        </p:txBody>
      </p:sp>
      <p:sp>
        <p:nvSpPr>
          <p:cNvPr id="17" name="Text 15"/>
          <p:cNvSpPr txBox="1"/>
          <p:nvPr/>
        </p:nvSpPr>
        <p:spPr>
          <a:xfrm>
            <a:off x="502920" y="512064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051560" y="5084064"/>
            <a:ext cx="10424160" cy="292608"/>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Real-world payoff</a:t>
            </a:r>
            <a:endParaRPr lang="en-US" sz="1500" dirty="0"/>
          </a:p>
        </p:txBody>
      </p:sp>
      <p:sp>
        <p:nvSpPr>
          <p:cNvPr id="19" name="Text 17"/>
          <p:cNvSpPr txBox="1"/>
          <p:nvPr/>
        </p:nvSpPr>
        <p:spPr>
          <a:xfrm>
            <a:off x="1051560" y="5376672"/>
            <a:ext cx="10424160" cy="457200"/>
          </a:xfrm>
          <a:prstGeom prst="rect">
            <a:avLst/>
          </a:prstGeom>
          <a:noFill/>
          <a:ln/>
        </p:spPr>
        <p:txBody>
          <a:bodyPr wrap="square" lIns="0" tIns="0" rIns="0" bIns="0" rtlCol="0" anchor="t"/>
          <a:lstStyle/>
          <a:p>
            <a:pPr marL="0" indent="0">
              <a:buNone/>
            </a:pPr>
            <a:r>
              <a:rPr lang="en-US" sz="1300" dirty="0">
                <a:solidFill>
                  <a:srgbClr val="333F50"/>
                </a:solidFill>
                <a:latin typeface="Calibri" pitchFamily="34" charset="0"/>
                <a:ea typeface="Calibri" pitchFamily="34" charset="-122"/>
                <a:cs typeface="Calibri" pitchFamily="34" charset="-120"/>
              </a:rPr>
              <a:t>In place, cache-friendly, small constants — a randomized or hybrid Quicksort is the default in-memory sort in most language runtimes.</a:t>
            </a:r>
            <a:endParaRPr lang="en-US" sz="1300" dirty="0"/>
          </a:p>
        </p:txBody>
      </p:sp>
      <p:sp>
        <p:nvSpPr>
          <p:cNvPr id="20" name="Text 18"/>
          <p:cNvSpPr txBox="1"/>
          <p:nvPr/>
        </p:nvSpPr>
        <p:spPr>
          <a:xfrm>
            <a:off x="502920" y="6547104"/>
            <a:ext cx="8229600" cy="237744"/>
          </a:xfrm>
          <a:prstGeom prst="rect">
            <a:avLst/>
          </a:prstGeom>
          <a:noFill/>
          <a:ln/>
        </p:spPr>
        <p:txBody>
          <a:bodyPr wrap="square" lIns="0" tIns="0" rIns="0" bIns="0" rtlCol="0" anchor="ctr"/>
          <a:lstStyle/>
          <a:p>
            <a:pPr marL="0" indent="0">
              <a:buNone/>
            </a:pPr>
            <a:r>
              <a:rPr lang="en-US" sz="850" dirty="0">
                <a:solidFill>
                  <a:srgbClr val="595959"/>
                </a:solidFill>
                <a:latin typeface="Calibri" pitchFamily="34" charset="0"/>
                <a:ea typeface="Calibri" pitchFamily="34" charset="-122"/>
                <a:cs typeface="Calibri" pitchFamily="34" charset="-120"/>
              </a:rPr>
              <a:t>Algorithm Analysis and Design  ·  Sorting Algorithms III  ·  Sep 23</a:t>
            </a:r>
            <a:endParaRPr lang="en-US" sz="850" dirty="0"/>
          </a:p>
        </p:txBody>
      </p:sp>
      <p:sp>
        <p:nvSpPr>
          <p:cNvPr id="21" name="Text 19"/>
          <p:cNvSpPr txBox="1"/>
          <p:nvPr/>
        </p:nvSpPr>
        <p:spPr>
          <a:xfrm>
            <a:off x="11231575" y="6547104"/>
            <a:ext cx="457200" cy="237744"/>
          </a:xfrm>
          <a:prstGeom prst="rect">
            <a:avLst/>
          </a:prstGeom>
          <a:noFill/>
          <a:ln/>
        </p:spPr>
        <p:txBody>
          <a:bodyPr wrap="square" lIns="0" tIns="0" rIns="0" bIns="0" rtlCol="0" anchor="ctr"/>
          <a:lstStyle/>
          <a:p>
            <a:pPr marL="0" indent="0" algn="r">
              <a:buNone/>
            </a:pPr>
            <a:r>
              <a:rPr lang="en-US" sz="850" dirty="0">
                <a:solidFill>
                  <a:srgbClr val="595959"/>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TotalTime>
  <Words>3567</Words>
  <Application>Microsoft Macintosh PowerPoint</Application>
  <PresentationFormat>Widescreen</PresentationFormat>
  <Paragraphs>448</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Tanwistha Saha</cp:lastModifiedBy>
  <cp:revision>32</cp:revision>
  <dcterms:created xsi:type="dcterms:W3CDTF">2026-09-23T04:34:17Z</dcterms:created>
  <dcterms:modified xsi:type="dcterms:W3CDTF">2026-09-23T18:20:55Z</dcterms:modified>
</cp:coreProperties>
</file>