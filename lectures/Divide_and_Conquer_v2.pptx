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74" r:id="rId3"/>
    <p:sldId id="273" r:id="rId4"/>
    <p:sldId id="278" r:id="rId5"/>
    <p:sldId id="276" r:id="rId6"/>
    <p:sldId id="277" r:id="rId7"/>
    <p:sldId id="287" r:id="rId8"/>
    <p:sldId id="280" r:id="rId9"/>
    <p:sldId id="281" r:id="rId10"/>
    <p:sldId id="282" r:id="rId11"/>
    <p:sldId id="284" r:id="rId12"/>
    <p:sldId id="285" r:id="rId13"/>
    <p:sldId id="286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8"/>
    <p:restoredTop sz="94570"/>
  </p:normalViewPr>
  <p:slideViewPr>
    <p:cSldViewPr snapToGrid="0">
      <p:cViewPr varScale="1">
        <p:scale>
          <a:sx n="116" d="100"/>
          <a:sy n="116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001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Princeton lectures on Algorithms: https://</a:t>
            </a:r>
            <a:r>
              <a:rPr lang="en-US" dirty="0" err="1"/>
              <a:t>www.cs.princeton.edu</a:t>
            </a:r>
            <a:r>
              <a:rPr lang="en-US" dirty="0"/>
              <a:t>/courses/archive/fall25/cos226/lectures/14AnalysisOfAlgorithms.pdf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0507-8FFF-D265-2D11-6C4951B27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A683F-A8D5-0C09-BC03-909A3A442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36F5-211B-6A26-25CA-707F5E3C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58A4-BABF-C7E7-4453-710B20CE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27839-8CCD-6B5C-FB8B-0F96E5F0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13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0400-4F17-83FA-BE63-53E08592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ADD92-9929-A19A-FFD6-C1DE17CEE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AEC67-B7F3-5BCB-3FA3-25F1BAF3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379E6-0B14-C2DF-BC9C-CEE39306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50FAC-DEDF-83C5-5D84-03585A32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7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BAADD-6ACB-478B-4157-2A83CDA8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63EC7-4B4F-1EFE-ED8B-C570FE4C8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5B7EE-1CB5-28B0-3971-69955C37E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00F62-E6AF-9E3D-96C5-800DC387F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8499-8E3E-57F8-92FD-159EECAB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2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E5B4-12B0-4715-8390-5F85D789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0A869-A8D2-DF1A-F94E-D80E41C9A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0851A-DB90-6461-AF85-D1D5E2A24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BE978-8228-921A-2731-A6AF3C0E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429D-542F-4B27-B32A-2D0446CD9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D449E-2BEF-B08E-0DF2-AFE6095E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2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7466-D563-954C-A2B2-D0D3DA8A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3EAF7-8458-6542-63C8-E2C29EB6D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78604-95C0-6309-79FA-6FADCE5C4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A9EFBF-5340-538A-2517-DFAE22F5D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8CF46-29E2-0F03-E56B-F972C17DD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E889C-6BEA-9795-C27F-DD3D9062E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57D7C-0FEF-E589-53EE-63B9CFF75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2DBF9-914F-176B-0A2B-81E09815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9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A670C-991C-9813-0DE5-A5EB4A00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F2E1B-59F3-A3D5-8369-254EF094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39FB8-4A76-9956-F475-83B49276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69E20-59D9-1C57-A24C-68C9F6D2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51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08C77F-5D05-3B33-A872-00296D3D0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1804A-8FD1-9C0E-A39F-C87818AC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68608-1B32-1FE9-8B75-DBA4236B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15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34B47-0847-946B-9100-8B2F6184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8B926-C5D0-1D05-2804-3C2AEC117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BD858-6D9D-DF0A-B0A8-8BF081409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90FDD-726A-8CDE-7B84-1DD08B86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7B513-D1D2-29B2-4657-1A17E24A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001F6-61BF-3490-5589-CED77D75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1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2A363-BA7A-642C-366D-D4186ED2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9D883D-A31A-1A8D-71C6-819261AFE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D0ADE-D64F-CA24-57CC-7660EEB05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2E128-2B58-7E73-30D0-F3F68824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A65FE-5971-60A8-E419-C9CECD3BA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0D1DE-AE13-991C-2DE9-288DD07B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0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2638E-B09B-716B-6EEE-E3CB6406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47292-7EC0-ACFD-655E-08C3C1CED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9BAE6-8C71-8CA3-D0DE-D472FA49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17BB5-3FE6-5D35-36C9-FEB6D5159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6BC48-9A8B-DB02-EF47-132FBFE1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93DA9-DEDF-2909-5D7B-B492DF05B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90FDF-9F7C-EBE4-7D92-BDF7CE8F9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9FED2-DC72-0BED-2160-CA1E578A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1B6C4-DBFD-F452-8F1D-0FD227E4F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FFB44-BAEC-8699-4BEF-60DAE24E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1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25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62B60-4087-F09B-73F2-50551E71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555A-868C-C57F-8CBB-2C776591C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554C2-85E4-F874-F60D-FF8CE13E8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FA32C-0516-594B-A3A9-E4A9F22AFA0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1699C-D995-E3BD-5AEC-AAA754593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C88A1-6C5C-5509-EF3D-E08EA04B3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6E2D9-2972-054F-B7FD-EE06C3880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5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150000"/>
            <a:ext cx="8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>
                <a:solidFill>
                  <a:srgbClr val="44546A"/>
                </a:solidFill>
                <a:latin typeface="Calibri Light"/>
              </a:rPr>
              <a:t>Asymptotic Analysis &amp; Divide and Conquer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25000"/>
            <a:ext cx="6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>
                <a:solidFill>
                  <a:srgbClr val="ED7D31"/>
                </a:solidFill>
                <a:latin typeface="Calibri"/>
              </a:rPr>
              <a:t>For Search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29000"/>
            <a:ext cx="73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dirty="0">
                <a:solidFill>
                  <a:srgbClr val="595959"/>
                </a:solidFill>
                <a:latin typeface="Calibri"/>
              </a:rPr>
              <a:t>Big-O tells you how slow it gets. Divide and conquer tells you how to fix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5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CS 383 Algorithms Analysis and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7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Tanwistha Saha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49972"/>
            <a:ext cx="6000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95959"/>
                </a:solidFill>
                <a:latin typeface="Calibri"/>
              </a:rPr>
              <a:t>Week </a:t>
            </a:r>
            <a:r>
              <a:rPr lang="en-US" sz="1300" b="0" i="0" dirty="0">
                <a:solidFill>
                  <a:srgbClr val="595959"/>
                </a:solidFill>
                <a:latin typeface="Calibri"/>
              </a:rPr>
              <a:t>3</a:t>
            </a:r>
            <a:r>
              <a:rPr sz="1300" b="0" i="0" dirty="0">
                <a:solidFill>
                  <a:srgbClr val="595959"/>
                </a:solidFill>
                <a:latin typeface="Calibri"/>
              </a:rPr>
              <a:t>  ·  Session 7  ·  September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550000" y="4670000"/>
            <a:ext cx="200000" cy="28000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35000" y="4330000"/>
            <a:ext cx="200000" cy="62000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20000" y="3900000"/>
            <a:ext cx="200000" cy="1050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05000" y="3300000"/>
            <a:ext cx="200000" cy="165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90000" y="5010000"/>
            <a:ext cx="13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Before: O(n²)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0000" y="4000000"/>
            <a:ext cx="620000" cy="320000"/>
          </a:xfrm>
          <a:prstGeom prst="rightArrow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80000" y="3500000"/>
            <a:ext cx="1120000" cy="46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472C4"/>
                </a:solidFill>
                <a:latin typeface="Calibri"/>
              </a:rPr>
              <a:t>divide &amp;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472C4"/>
                </a:solidFill>
                <a:latin typeface="Calibri"/>
              </a:rPr>
              <a:t>conquer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0000" y="4670000"/>
            <a:ext cx="200000" cy="280000"/>
          </a:xfrm>
          <a:prstGeom prst="rect">
            <a:avLst/>
          </a:prstGeom>
          <a:solidFill>
            <a:srgbClr val="C9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795000" y="4550000"/>
            <a:ext cx="200000" cy="400000"/>
          </a:xfrm>
          <a:prstGeom prst="rect">
            <a:avLst/>
          </a:prstGeom>
          <a:solidFill>
            <a:srgbClr val="9DB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080000" y="4460000"/>
            <a:ext cx="200000" cy="490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365000" y="4390000"/>
            <a:ext cx="200000" cy="560000"/>
          </a:xfrm>
          <a:prstGeom prst="rect">
            <a:avLst/>
          </a:prstGeom>
          <a:solidFill>
            <a:srgbClr val="2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50000" y="5010000"/>
            <a:ext cx="13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After: O(log n)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70000" y="4950000"/>
            <a:ext cx="3180000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01384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Algorithm Analysis and Design  ·  Asymptotic Notation &amp; Big-O  ·  Sep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NOTATION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33F50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Common order-of-growth classifications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463040"/>
          <a:ext cx="11091672" cy="416966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of 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code 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= b + c;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two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(i = n; i &gt; 0; i /= 2) {...}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in half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(i = 0; i &lt; n; i++) {...}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maximum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mergesort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and conquer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</a:t>
                      </a:r>
                      <a:r>
                        <a:rPr lang="en-US" sz="1300" baseline="300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(i…) for (j…) {...}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all pairs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</a:t>
                      </a:r>
                      <a:r>
                        <a:rPr lang="en-US" sz="1300" baseline="300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(i…) for (j…) for (k…) {...}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all triples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Θ(2</a:t>
                      </a:r>
                      <a:r>
                        <a:rPr lang="en-US" sz="1300" baseline="300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ourier New" pitchFamily="34" charset="0"/>
                          <a:ea typeface="Courier New" charset="0"/>
                          <a:cs typeface="Courier New" pitchFamily="34" charset="-120"/>
                        </a:rPr>
                        <a:t>Naïve recursive Fibonacci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exhaustive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all subsets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describes how running time scales as the input size n increases, from constant to exponential.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01384"/>
            <a:ext cx="9326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Notation; Divide and Conquer Strategy ·  Sep </a:t>
            </a: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908792" y="650138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 70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AND KEY TAKEAWAYS</a:t>
            </a:r>
          </a:p>
        </p:txBody>
      </p:sp>
      <p:sp>
        <p:nvSpPr>
          <p:cNvPr id="702" name="Text 702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33F50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Asymptotic notation, in three ideas</a:t>
            </a:r>
          </a:p>
        </p:txBody>
      </p:sp>
      <p:sp>
        <p:nvSpPr>
          <p:cNvPr id="703" name="Shape 703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" name="Text 704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33F50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705" name="Text 705"/>
          <p:cNvSpPr/>
          <p:nvPr/>
        </p:nvSpPr>
        <p:spPr>
          <a:xfrm>
            <a:off x="1280160" y="17830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Constants &amp; lower-order terms don’t matter</a:t>
            </a:r>
          </a:p>
        </p:txBody>
      </p:sp>
      <p:sp>
        <p:nvSpPr>
          <p:cNvPr id="706" name="Text 706"/>
          <p:cNvSpPr/>
          <p:nvPr/>
        </p:nvSpPr>
        <p:spPr>
          <a:xfrm>
            <a:off x="1280160" y="219456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n is large, only the highest-order term decides the growth rate — O(n²) absorbs the 5, the 3n, and the 2 in our example 5n</a:t>
            </a:r>
            <a:r>
              <a:rPr lang="en-US" sz="1400" baseline="30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+3n+2.</a:t>
            </a:r>
          </a:p>
        </p:txBody>
      </p:sp>
      <p:sp>
        <p:nvSpPr>
          <p:cNvPr id="707" name="Shape 707"/>
          <p:cNvSpPr/>
          <p:nvPr/>
        </p:nvSpPr>
        <p:spPr>
          <a:xfrm>
            <a:off x="548640" y="3017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8" name="Text 708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33F50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709" name="Text 709"/>
          <p:cNvSpPr/>
          <p:nvPr/>
        </p:nvSpPr>
        <p:spPr>
          <a:xfrm>
            <a:off x="1280160" y="29718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O, Ω, and Θ answer different questions</a:t>
            </a:r>
          </a:p>
        </p:txBody>
      </p:sp>
      <p:sp>
        <p:nvSpPr>
          <p:cNvPr id="710" name="Text 710"/>
          <p:cNvSpPr/>
          <p:nvPr/>
        </p:nvSpPr>
        <p:spPr>
          <a:xfrm>
            <a:off x="1280160" y="338328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is an upper bound, Ω is a lower bound, and Θ means both hold — a tight, provable characterization of growth.</a:t>
            </a:r>
          </a:p>
        </p:txBody>
      </p:sp>
      <p:sp>
        <p:nvSpPr>
          <p:cNvPr id="711" name="Shape 711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2" name="Text 712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33F50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713" name="Text 713"/>
          <p:cNvSpPr/>
          <p:nvPr/>
        </p:nvSpPr>
        <p:spPr>
          <a:xfrm>
            <a:off x="1280160" y="41605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One toolkit, every curve</a:t>
            </a:r>
          </a:p>
        </p:txBody>
      </p:sp>
      <p:sp>
        <p:nvSpPr>
          <p:cNvPr id="714" name="Text 714"/>
          <p:cNvSpPr/>
          <p:nvPr/>
        </p:nvSpPr>
        <p:spPr>
          <a:xfrm>
            <a:off x="1280160" y="457200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single formula for log n, this notation describes n, n log n, n², 2ⁿ — any function — with the same rigor.</a:t>
            </a:r>
          </a:p>
        </p:txBody>
      </p:sp>
      <p:sp>
        <p:nvSpPr>
          <p:cNvPr id="715" name="Shape 715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6" name="Text 716"/>
          <p:cNvSpPr/>
          <p:nvPr/>
        </p:nvSpPr>
        <p:spPr>
          <a:xfrm>
            <a:off x="548640" y="5623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</a:t>
            </a:r>
          </a:p>
        </p:txBody>
      </p:sp>
      <p:sp>
        <p:nvSpPr>
          <p:cNvPr id="717" name="Text 717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Algorithms Illuminated, Part 1 (Roughgarden) — Ch. 2. Practice classifying 3–4 running-time formulas with O, </a:t>
            </a:r>
            <a:r>
              <a:rPr lang="en-US" sz="1400" i="1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400" i="1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718" name="Footer 718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Notation; Divide and Conquer Strategy ·  Sep 16</a:t>
            </a:r>
          </a:p>
        </p:txBody>
      </p:sp>
      <p:sp>
        <p:nvSpPr>
          <p:cNvPr id="719" name="Slide Number 719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SEARCH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333F50"/>
                </a:solidFill>
                <a:latin typeface="Calibri Light"/>
              </a:rPr>
              <a:t>Linear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The simplest search strategy: check every element, in order, until the target is found or the array runs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0000"/>
            <a:ext cx="5700000" cy="270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640" y="2200000"/>
            <a:ext cx="5200000" cy="2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333F50"/>
                </a:solidFill>
                <a:latin typeface="Courier New"/>
              </a:rPr>
              <a:t>LinearSearch(A, n, target):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333F50"/>
                </a:solidFill>
                <a:latin typeface="Courier New"/>
              </a:rPr>
              <a:t>  for i = 0 to n - 1: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333F50"/>
                </a:solidFill>
                <a:latin typeface="Courier New"/>
              </a:rPr>
              <a:t>    if A[i] == target: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333F50"/>
                </a:solidFill>
                <a:latin typeface="Courier New"/>
              </a:rPr>
              <a:t>      return 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333F50"/>
                </a:solidFill>
                <a:latin typeface="Courier New"/>
              </a:rPr>
              <a:t>  return 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8640" y="1950000"/>
            <a:ext cx="4991672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48640" y="2050000"/>
            <a:ext cx="45916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333F50"/>
                </a:solidFill>
                <a:latin typeface="Calibri"/>
              </a:rPr>
              <a:t>Best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8640" y="2330000"/>
            <a:ext cx="409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target is A[0]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40312" y="2050000"/>
            <a:ext cx="6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l-GR" sz="1800" b="1" i="0" dirty="0">
                <a:solidFill>
                  <a:srgbClr val="4472C4"/>
                </a:solidFill>
                <a:latin typeface="Courier New"/>
              </a:rPr>
              <a:t>Θ</a:t>
            </a:r>
            <a:r>
              <a:rPr sz="1800" b="1" i="0" dirty="0">
                <a:solidFill>
                  <a:srgbClr val="4472C4"/>
                </a:solidFill>
                <a:latin typeface="Courier New"/>
              </a:rPr>
              <a:t>(1)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8640" y="2850000"/>
            <a:ext cx="4991672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48640" y="2950000"/>
            <a:ext cx="45916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333F50"/>
                </a:solidFill>
                <a:latin typeface="Calibri"/>
              </a:rPr>
              <a:t>Worst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640" y="3230000"/>
            <a:ext cx="409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target missing, or A[n-1]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0312" y="2950000"/>
            <a:ext cx="6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l-GR" sz="1800" b="1" i="0" dirty="0">
                <a:solidFill>
                  <a:srgbClr val="4472C4"/>
                </a:solidFill>
                <a:latin typeface="Courier New"/>
              </a:rPr>
              <a:t>Θ</a:t>
            </a:r>
            <a:r>
              <a:rPr sz="1800" b="1" i="0" dirty="0">
                <a:solidFill>
                  <a:srgbClr val="4472C4"/>
                </a:solidFill>
                <a:latin typeface="Courier New"/>
              </a:rPr>
              <a:t>(n)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8640" y="3750000"/>
            <a:ext cx="4991672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48640" y="3850000"/>
            <a:ext cx="45916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333F50"/>
                </a:solidFill>
                <a:latin typeface="Calibri"/>
              </a:rPr>
              <a:t>Average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640" y="4130000"/>
            <a:ext cx="409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target found ~halfway 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40312" y="3850000"/>
            <a:ext cx="6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i="0">
                <a:solidFill>
                  <a:srgbClr val="4472C4"/>
                </a:solidFill>
                <a:latin typeface="Courier New"/>
              </a:rPr>
              <a:t>Θ(n)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50000"/>
            <a:ext cx="11091672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Works on unsorted data — no assumption about ordering is required, which is exactly why it can't do better than Θ(n) in the worst case.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16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b="0" i="0">
                <a:solidFill>
                  <a:srgbClr val="595959"/>
                </a:solidFill>
                <a:latin typeface="Calibri"/>
              </a:rPr>
              <a:t>3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TIME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333F50"/>
                </a:solidFill>
                <a:latin typeface="Calibri Light"/>
              </a:rPr>
              <a:t>From asymptotic notation to best, worst, average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The SAME algorithm can have different running times on different inputs of the same size n — these three cases describe which input we're measuring.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0000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T="54864" marB="54864"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marT="54864" marB="54864"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 — linear search over n items</a:t>
                      </a:r>
                    </a:p>
                  </a:txBody>
                  <a:tcPr marT="54864" marB="54864"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Typical notation</a:t>
                      </a:r>
                    </a:p>
                  </a:txBody>
                  <a:tcPr marT="54864" marB="54864" anchor="ctr"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Fewest steps possible, on the most favorable input of size n.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The target is the very first element checked.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333F50"/>
                          </a:solidFill>
                          <a:latin typeface="Courier New"/>
                        </a:rPr>
                        <a:t>Ω</a:t>
                      </a:r>
                      <a:r>
                        <a:rPr sz="1300" dirty="0">
                          <a:solidFill>
                            <a:srgbClr val="333F50"/>
                          </a:solidFill>
                          <a:latin typeface="Courier New"/>
                        </a:rPr>
                        <a:t>(1)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Worst case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Most steps possible, on the least favorable input of size n.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The target is missing, or is the last element checked.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ourier New"/>
                        </a:rPr>
                        <a:t>O(n) / Θ(n)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Average case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Expected steps, over a distribution of inputs of size n.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The target is found about halfway through, on average.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333F50"/>
                          </a:solidFill>
                          <a:latin typeface="Courier New"/>
                        </a:rPr>
                        <a:t>Θ</a:t>
                      </a:r>
                      <a:r>
                        <a:rPr sz="1300" dirty="0">
                          <a:solidFill>
                            <a:srgbClr val="333F50"/>
                          </a:solidFill>
                          <a:latin typeface="Courier New"/>
                        </a:rPr>
                        <a:t>(n)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50000"/>
            <a:ext cx="11091672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33F50"/>
                </a:solidFill>
                <a:latin typeface="Calibri"/>
              </a:rPr>
              <a:t>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8640" y="4850000"/>
            <a:ext cx="10391672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Big-O by itself usually describes the worst case unless stated otherwise; Θ can describe any of the three cases when a matching upper and lower bound have both been proven for that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16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b="0" i="0">
                <a:solidFill>
                  <a:srgbClr val="595959"/>
                </a:solidFill>
                <a:latin typeface="Calibri"/>
              </a:rPr>
              <a:t>4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ALGORITHM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333F50"/>
                </a:solidFill>
                <a:latin typeface="Calibri Light"/>
              </a:rPr>
              <a:t>The Divide-and-Conquer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A general recipe for algorithm design: break a hard problem into easier pieces, solve the pieces, then stitch the pieces back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333F5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33F50"/>
                </a:solidFill>
                <a:latin typeface="Calibri"/>
              </a:rPr>
              <a:t>Divide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3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Split the problem into smaller subproblems of the same type — typically by breaking the input roughly in half.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00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333F5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545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33F50"/>
                </a:solidFill>
                <a:latin typeface="Calibri"/>
              </a:rPr>
              <a:t>Conquer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11720"/>
            <a:ext cx="10332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595959"/>
                </a:solidFill>
                <a:latin typeface="Calibri"/>
              </a:rPr>
              <a:t>Solve the subproblems </a:t>
            </a:r>
            <a:r>
              <a:rPr sz="1400" b="1" i="0" dirty="0">
                <a:solidFill>
                  <a:srgbClr val="595959"/>
                </a:solidFill>
                <a:latin typeface="Calibri"/>
              </a:rPr>
              <a:t>recursively</a:t>
            </a:r>
            <a:r>
              <a:rPr sz="1400" b="0" i="0" dirty="0">
                <a:solidFill>
                  <a:srgbClr val="595959"/>
                </a:solidFill>
                <a:latin typeface="Calibri"/>
              </a:rPr>
              <a:t>. Once a subproblem is small enough (the base case), solve it directly instead of recursing further.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80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333F5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345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33F50"/>
                </a:solidFill>
                <a:latin typeface="Calibri"/>
              </a:rPr>
              <a:t>Combine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09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Merge the subproblem solutions into a solution for the original, larger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50000"/>
            <a:ext cx="11091672" cy="15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640" y="4830000"/>
            <a:ext cx="10491672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472C4"/>
                </a:solidFill>
                <a:latin typeface="Calibri"/>
              </a:rPr>
              <a:t>General recurrence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640" y="5275334"/>
            <a:ext cx="1049167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333F50"/>
                </a:solidFill>
                <a:latin typeface="Courier New"/>
              </a:rPr>
              <a:t>T(n) </a:t>
            </a:r>
            <a:r>
              <a:rPr lang="en-US" sz="2400" b="1" i="0" dirty="0">
                <a:solidFill>
                  <a:srgbClr val="333F50"/>
                </a:solidFill>
                <a:latin typeface="Courier New"/>
              </a:rPr>
              <a:t>=</a:t>
            </a:r>
            <a:r>
              <a:rPr sz="2400" b="1" i="0" dirty="0">
                <a:solidFill>
                  <a:srgbClr val="333F50"/>
                </a:solidFill>
                <a:latin typeface="Courier New"/>
              </a:rPr>
              <a:t> a·</a:t>
            </a:r>
            <a:r>
              <a:rPr lang="en-US" sz="2400" b="1" dirty="0">
                <a:solidFill>
                  <a:srgbClr val="333F50"/>
                </a:solidFill>
                <a:latin typeface="Courier New"/>
              </a:rPr>
              <a:t> </a:t>
            </a:r>
            <a:r>
              <a:rPr sz="2400" b="1" i="0" dirty="0">
                <a:solidFill>
                  <a:srgbClr val="333F50"/>
                </a:solidFill>
                <a:latin typeface="Courier New"/>
              </a:rPr>
              <a:t>T(n/b) + </a:t>
            </a:r>
            <a:r>
              <a:rPr lang="en-US" sz="2400" b="1" i="0" dirty="0">
                <a:solidFill>
                  <a:srgbClr val="333F50"/>
                </a:solidFill>
                <a:latin typeface="Courier New"/>
              </a:rPr>
              <a:t>f(n)</a:t>
            </a:r>
            <a:endParaRPr sz="2400" b="1" i="0" dirty="0">
              <a:solidFill>
                <a:srgbClr val="333F50"/>
              </a:solidFill>
              <a:latin typeface="Courier New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8640" y="5729945"/>
            <a:ext cx="10491672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95959"/>
                </a:solidFill>
                <a:latin typeface="Calibri"/>
              </a:rPr>
              <a:t>a = number of subproblems   ·   n/b = size of each subproblem   ·   f(n) = cost to divide &amp; combine.  </a:t>
            </a:r>
            <a:r>
              <a:rPr lang="en-US" sz="1300" b="0" i="0" dirty="0">
                <a:solidFill>
                  <a:srgbClr val="595959"/>
                </a:solidFill>
                <a:latin typeface="Calibri"/>
              </a:rPr>
              <a:t>Solved with the Master Theorem (will learn more in next session).</a:t>
            </a:r>
            <a:endParaRPr sz="13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16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b="0" i="0">
                <a:solidFill>
                  <a:srgbClr val="595959"/>
                </a:solidFill>
                <a:latin typeface="Calibri"/>
              </a:rPr>
              <a:t>5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SEARCH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333F50"/>
                </a:solidFill>
                <a:latin typeface="Calibri Light"/>
              </a:rPr>
              <a:t>Binary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A divide-and-conquer search: on sorted data, each comparison eliminates half of what's left to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49999"/>
            <a:ext cx="5700000" cy="2899999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640" y="2140000"/>
            <a:ext cx="5200000" cy="2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 dirty="0" err="1">
                <a:solidFill>
                  <a:srgbClr val="333F50"/>
                </a:solidFill>
                <a:latin typeface="Courier New"/>
              </a:rPr>
              <a:t>BinarySearch</a:t>
            </a:r>
            <a:r>
              <a:rPr sz="1250" b="1" i="0" dirty="0">
                <a:solidFill>
                  <a:srgbClr val="333F50"/>
                </a:solidFill>
                <a:latin typeface="Courier New"/>
              </a:rPr>
              <a:t>(A, lo, hi, target):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 dirty="0">
                <a:solidFill>
                  <a:srgbClr val="333F50"/>
                </a:solidFill>
                <a:latin typeface="Courier New"/>
              </a:rPr>
              <a:t>  if lo &gt; hi: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 dirty="0">
                <a:solidFill>
                  <a:srgbClr val="333F50"/>
                </a:solidFill>
                <a:latin typeface="Courier New"/>
              </a:rPr>
              <a:t>    return -1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 dirty="0">
                <a:solidFill>
                  <a:srgbClr val="333F50"/>
                </a:solidFill>
                <a:latin typeface="Courier New"/>
              </a:rPr>
              <a:t>  mid = (lo + hi) / 2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 dirty="0">
                <a:solidFill>
                  <a:srgbClr val="333F50"/>
                </a:solidFill>
                <a:latin typeface="Courier New"/>
              </a:rPr>
              <a:t>  if A[mid] == target: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 dirty="0">
                <a:solidFill>
                  <a:srgbClr val="333F50"/>
                </a:solidFill>
                <a:latin typeface="Courier New"/>
              </a:rPr>
              <a:t>    return mid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 dirty="0">
                <a:solidFill>
                  <a:srgbClr val="333F50"/>
                </a:solidFill>
                <a:latin typeface="Courier New"/>
              </a:rPr>
              <a:t>  </a:t>
            </a:r>
            <a:r>
              <a:rPr sz="1250" b="0" i="0" dirty="0" err="1">
                <a:solidFill>
                  <a:srgbClr val="333F50"/>
                </a:solidFill>
                <a:latin typeface="Courier New"/>
              </a:rPr>
              <a:t>elif</a:t>
            </a:r>
            <a:r>
              <a:rPr sz="1250" b="0" i="0" dirty="0">
                <a:solidFill>
                  <a:srgbClr val="333F50"/>
                </a:solidFill>
                <a:latin typeface="Courier New"/>
              </a:rPr>
              <a:t> A[mid] &lt; target: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 dirty="0">
                <a:solidFill>
                  <a:srgbClr val="333F50"/>
                </a:solidFill>
                <a:latin typeface="Courier New"/>
              </a:rPr>
              <a:t>    return </a:t>
            </a:r>
            <a:r>
              <a:rPr sz="1250" b="0" i="0" dirty="0" err="1">
                <a:solidFill>
                  <a:srgbClr val="333F50"/>
                </a:solidFill>
                <a:latin typeface="Courier New"/>
              </a:rPr>
              <a:t>BinarySearch</a:t>
            </a:r>
            <a:r>
              <a:rPr sz="1250" b="0" i="0" dirty="0">
                <a:solidFill>
                  <a:srgbClr val="333F50"/>
                </a:solidFill>
                <a:latin typeface="Courier New"/>
              </a:rPr>
              <a:t>(A, mid+1, hi, target)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 dirty="0">
                <a:solidFill>
                  <a:srgbClr val="333F50"/>
                </a:solidFill>
                <a:latin typeface="Courier New"/>
              </a:rPr>
              <a:t>  else: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 dirty="0">
                <a:solidFill>
                  <a:srgbClr val="333F50"/>
                </a:solidFill>
                <a:latin typeface="Courier New"/>
              </a:rPr>
              <a:t>    return </a:t>
            </a:r>
            <a:r>
              <a:rPr sz="1250" b="0" i="0" dirty="0" err="1">
                <a:solidFill>
                  <a:srgbClr val="333F50"/>
                </a:solidFill>
                <a:latin typeface="Courier New"/>
              </a:rPr>
              <a:t>BinarySearch</a:t>
            </a:r>
            <a:r>
              <a:rPr sz="1250" b="0" i="0" dirty="0">
                <a:solidFill>
                  <a:srgbClr val="333F50"/>
                </a:solidFill>
                <a:latin typeface="Courier New"/>
              </a:rPr>
              <a:t>(A, lo, mid-1, target)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endParaRPr sz="1250" b="0" i="0" dirty="0">
              <a:solidFill>
                <a:srgbClr val="333F50"/>
              </a:solidFill>
              <a:latin typeface="Courier New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1" dirty="0">
                <a:solidFill>
                  <a:srgbClr val="595959"/>
                </a:solidFill>
                <a:latin typeface="Courier New"/>
              </a:rPr>
              <a:t># initial call: </a:t>
            </a:r>
            <a:r>
              <a:rPr sz="1250" b="0" i="1" dirty="0" err="1">
                <a:solidFill>
                  <a:srgbClr val="595959"/>
                </a:solidFill>
                <a:latin typeface="Courier New"/>
              </a:rPr>
              <a:t>BinarySearch</a:t>
            </a:r>
            <a:r>
              <a:rPr sz="1250" b="0" i="1" dirty="0">
                <a:solidFill>
                  <a:srgbClr val="595959"/>
                </a:solidFill>
                <a:latin typeface="Courier New"/>
              </a:rPr>
              <a:t>(A, 0, n-1, target)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8640" y="1950000"/>
            <a:ext cx="4991672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48640" y="2050000"/>
            <a:ext cx="45916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333F50"/>
                </a:solidFill>
                <a:latin typeface="Calibri"/>
              </a:rPr>
              <a:t>Best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8640" y="2380000"/>
            <a:ext cx="459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target is the middle element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8640" y="2850000"/>
            <a:ext cx="4991672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8640" y="2950000"/>
            <a:ext cx="45916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333F50"/>
                </a:solidFill>
                <a:latin typeface="Calibri"/>
              </a:rPr>
              <a:t>Worst / average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640" y="3280000"/>
            <a:ext cx="459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each step halves the range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8640" y="3750000"/>
            <a:ext cx="4991672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8640" y="3850000"/>
            <a:ext cx="45916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333F50"/>
                </a:solidFill>
                <a:latin typeface="Calibri"/>
              </a:rPr>
              <a:t>Requires sorted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640" y="4180000"/>
            <a:ext cx="459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otherwise the halving logic breaks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0312" y="2050000"/>
            <a:ext cx="13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i="0">
                <a:solidFill>
                  <a:srgbClr val="4472C4"/>
                </a:solidFill>
                <a:latin typeface="Courier New"/>
              </a:rPr>
              <a:t>Θ(1)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0312" y="2950000"/>
            <a:ext cx="13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i="0">
                <a:solidFill>
                  <a:srgbClr val="4472C4"/>
                </a:solidFill>
                <a:latin typeface="Courier New"/>
              </a:rPr>
              <a:t>Θ(log 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" y="5111887"/>
            <a:ext cx="11091672" cy="1071829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dirty="0">
                <a:solidFill>
                  <a:srgbClr val="595959"/>
                </a:solidFill>
                <a:latin typeface="Calibri"/>
              </a:rPr>
              <a:t>6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90EBB0-9EAA-E293-9268-B5CD10A91262}"/>
              </a:ext>
            </a:extLst>
          </p:cNvPr>
          <p:cNvSpPr txBox="1"/>
          <p:nvPr/>
        </p:nvSpPr>
        <p:spPr>
          <a:xfrm>
            <a:off x="702804" y="5301723"/>
            <a:ext cx="10591672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333F50"/>
                </a:solidFill>
                <a:latin typeface="Calibri"/>
              </a:rPr>
              <a:t>Linear search: </a:t>
            </a:r>
            <a:r>
              <a:rPr sz="1300" b="0" i="0" dirty="0" err="1">
                <a:solidFill>
                  <a:srgbClr val="333F50"/>
                </a:solidFill>
                <a:latin typeface="Calibri"/>
              </a:rPr>
              <a:t>Θ</a:t>
            </a:r>
            <a:r>
              <a:rPr sz="1300" b="0" i="0" dirty="0">
                <a:solidFill>
                  <a:srgbClr val="333F50"/>
                </a:solidFill>
                <a:latin typeface="Calibri"/>
              </a:rPr>
              <a:t>(n)   vs   binary search: </a:t>
            </a:r>
            <a:r>
              <a:rPr sz="1300" b="0" i="0" dirty="0" err="1">
                <a:solidFill>
                  <a:srgbClr val="333F50"/>
                </a:solidFill>
                <a:latin typeface="Calibri"/>
              </a:rPr>
              <a:t>Θ</a:t>
            </a:r>
            <a:r>
              <a:rPr sz="1300" b="0" i="0" dirty="0">
                <a:solidFill>
                  <a:srgbClr val="333F50"/>
                </a:solidFill>
                <a:latin typeface="Calibri"/>
              </a:rPr>
              <a:t>(log n) — for n = 1,000,000 sorted elements that's ~1,000,000 comparisons versus ~20.</a:t>
            </a:r>
            <a:endParaRPr lang="en-US" sz="1300" b="0" i="0" dirty="0">
              <a:solidFill>
                <a:srgbClr val="333F50"/>
              </a:solidFill>
              <a:latin typeface="Calibri"/>
            </a:endParaRPr>
          </a:p>
          <a:p>
            <a:pPr algn="l"/>
            <a:endParaRPr lang="en-US" sz="1300" dirty="0">
              <a:solidFill>
                <a:schemeClr val="accent2"/>
              </a:solidFill>
              <a:latin typeface="Calibri"/>
            </a:endParaRPr>
          </a:p>
          <a:p>
            <a:pPr algn="l"/>
            <a:r>
              <a:rPr lang="en-US" sz="1300" b="1" u="sng" dirty="0">
                <a:solidFill>
                  <a:schemeClr val="accent2"/>
                </a:solidFill>
                <a:latin typeface="Calibri"/>
              </a:rPr>
              <a:t>Food for thought: </a:t>
            </a:r>
            <a:r>
              <a:rPr lang="en-US" sz="1300" dirty="0">
                <a:solidFill>
                  <a:schemeClr val="accent2"/>
                </a:solidFill>
                <a:latin typeface="Calibri"/>
              </a:rPr>
              <a:t>If the input to binary search is unsorted, what would be the average case time complexity? Is it still better than linear search? </a:t>
            </a:r>
            <a:endParaRPr sz="1300" b="0" i="0" dirty="0">
              <a:solidFill>
                <a:schemeClr val="accent2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D7B5B5-7B3C-A337-41C6-672815B2DACB}"/>
              </a:ext>
            </a:extLst>
          </p:cNvPr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>
                <a:solidFill>
                  <a:srgbClr val="595959"/>
                </a:solidFill>
                <a:latin typeface="Calibri"/>
              </a:rPr>
              <a:t>16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MATRIX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333F50"/>
                </a:solidFill>
                <a:latin typeface="Calibri Light"/>
              </a:rPr>
              <a:t>Brute-force matrix multiplication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To multiply two n×n matrices, compute every output entry as a dot product of a row and a column.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0000"/>
            <a:ext cx="5550000" cy="25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640" y="2200000"/>
            <a:ext cx="5050000" cy="2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333F50"/>
                </a:solidFill>
                <a:latin typeface="Courier New"/>
              </a:rPr>
              <a:t>MatMult(A, B, n):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333F50"/>
                </a:solidFill>
                <a:latin typeface="Courier New"/>
              </a:rPr>
              <a:t>  for i = 0 to n-1: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333F50"/>
                </a:solidFill>
                <a:latin typeface="Courier New"/>
              </a:rPr>
              <a:t>    for j = 0 to n-1: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333F50"/>
                </a:solidFill>
                <a:latin typeface="Courier New"/>
              </a:rPr>
              <a:t>      C[i][j] = 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333F50"/>
                </a:solidFill>
                <a:latin typeface="Courier New"/>
              </a:rPr>
              <a:t>      for k = 0 to n-1: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333F50"/>
                </a:solidFill>
                <a:latin typeface="Courier New"/>
              </a:rPr>
              <a:t>        C[i][j] += A[i][k]*B[k][j]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333F50"/>
                </a:solidFill>
                <a:latin typeface="Courier New"/>
              </a:rPr>
              <a:t>  return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640" y="4080000"/>
            <a:ext cx="505000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Three nested loops → Θ(n³) scalar multiplications.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640" y="1950000"/>
            <a:ext cx="51916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472C4"/>
                </a:solidFill>
                <a:latin typeface="Calibri"/>
              </a:rPr>
              <a:t>Worked example (n =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640" y="2300000"/>
            <a:ext cx="5191672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33F50"/>
                </a:solidFill>
                <a:latin typeface="Courier New"/>
              </a:rPr>
              <a:t>A = [ 1  3 ]        B = [ 6  8 ]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33F50"/>
                </a:solidFill>
                <a:latin typeface="Courier New"/>
              </a:rPr>
              <a:t>    [ 7  5 ]            [ 4  2 ]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sz="1300" b="0" i="0">
              <a:solidFill>
                <a:srgbClr val="333F50"/>
              </a:solidFill>
              <a:latin typeface="Courier New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33F50"/>
                </a:solidFill>
                <a:latin typeface="Courier New"/>
              </a:rPr>
              <a:t>C11 = 1×6 + 3×4 = 6+12  = 18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33F50"/>
                </a:solidFill>
                <a:latin typeface="Courier New"/>
              </a:rPr>
              <a:t>C12 = 1×8 + 3×2 = 8+6   = 14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33F50"/>
                </a:solidFill>
                <a:latin typeface="Courier New"/>
              </a:rPr>
              <a:t>C21 = 7×6 + 5×4 = 42+20 = 62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33F50"/>
                </a:solidFill>
                <a:latin typeface="Courier New"/>
              </a:rPr>
              <a:t>C22 = 7×8 + 5×2 = 56+10 = 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8640" y="4150000"/>
            <a:ext cx="5191672" cy="60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8640" y="4150000"/>
            <a:ext cx="4791672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333F50"/>
                </a:solidFill>
                <a:latin typeface="Courier New"/>
              </a:rPr>
              <a:t>C = [ 18  14 ]
    [ 62  66 ]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dirty="0">
                <a:solidFill>
                  <a:srgbClr val="595959"/>
                </a:solidFill>
                <a:latin typeface="Calibri"/>
              </a:rPr>
              <a:t>7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D24A8-4E29-06A2-E368-70F8F94F28BC}"/>
              </a:ext>
            </a:extLst>
          </p:cNvPr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16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MATRIX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333F50"/>
                </a:solidFill>
                <a:latin typeface="Calibri Light"/>
              </a:rPr>
              <a:t>Splitting into quadrants: the naive block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00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Before Strassen's trick: what if we just divide each n×n matrix into four (n/2)×(n/2) quadrants and multiply blocks like numbers?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30000"/>
            <a:ext cx="6100000" cy="23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640" y="2150000"/>
            <a:ext cx="5600000" cy="1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 i="0">
                <a:solidFill>
                  <a:srgbClr val="333F50"/>
                </a:solidFill>
                <a:latin typeface="Courier New"/>
              </a:rPr>
              <a:t>A = [ a  b ]     B = [ e  f ]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 i="0">
                <a:solidFill>
                  <a:srgbClr val="333F50"/>
                </a:solidFill>
                <a:latin typeface="Courier New"/>
              </a:rPr>
              <a:t>    [ c  d ]         [ g  h ]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1">
                <a:solidFill>
                  <a:srgbClr val="595959"/>
                </a:solidFill>
                <a:latin typeface="Courier New"/>
              </a:rPr>
              <a:t>      (each block is (n/2)×(n/2))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500" b="0" i="1">
              <a:solidFill>
                <a:srgbClr val="595959"/>
              </a:solidFill>
              <a:latin typeface="Courier New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44546A"/>
                </a:solidFill>
                <a:latin typeface="Courier New"/>
              </a:rPr>
              <a:t>C11 = a·e + b·g      C12 = a·f + b·h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44546A"/>
                </a:solidFill>
                <a:latin typeface="Courier New"/>
              </a:rPr>
              <a:t>C21 = c·e + d·g      C22 = c·f + d·h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20000"/>
            <a:ext cx="61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That's 8 multiplications of (n/2)×(n/2) submatrices (a·e, b·g, a·f, b·h, c·e, d·g, c·f, d·h), plus 4 additions to combine them — the additions cost only Θ(n²).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8640" y="1930000"/>
            <a:ext cx="4641672" cy="2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48640" y="2110000"/>
            <a:ext cx="414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472C4"/>
                </a:solidFill>
                <a:latin typeface="Calibri"/>
              </a:rPr>
              <a:t>Recurrence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8640" y="2490000"/>
            <a:ext cx="4141672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333F50"/>
                </a:solidFill>
                <a:latin typeface="Courier New"/>
              </a:rPr>
              <a:t>T(n) = 8·T(n/2) + Θ(n²)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8640" y="3050000"/>
            <a:ext cx="4141672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  <a:latin typeface="Courier New"/>
              </a:rPr>
              <a:t>By the Master Theorem → Θ(n³)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8640" y="3550000"/>
            <a:ext cx="4141672" cy="6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Exactly the same complexity as brute force!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80000"/>
            <a:ext cx="11091672" cy="9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640" y="5080000"/>
            <a:ext cx="10591672" cy="9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33F50"/>
                </a:solidFill>
                <a:latin typeface="Calibri"/>
              </a:rPr>
              <a:t>Lesson: splitting into blocks alone buys us nothing asymptotically — we still perform 8 recursive multiplications, just on smaller matrices. To beat Θ(n³) we need to reduce the NUMBER of multiplications, not just their size. That's exactly Strassen's contribution: 7 products instead of 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dirty="0">
                <a:solidFill>
                  <a:srgbClr val="595959"/>
                </a:solidFill>
                <a:latin typeface="Calibri"/>
              </a:rPr>
              <a:t>8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5CA662-C5F6-97E9-6036-53DCB9252940}"/>
              </a:ext>
            </a:extLst>
          </p:cNvPr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16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MATRIX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333F50"/>
                </a:solidFill>
                <a:latin typeface="Calibri Light"/>
              </a:rPr>
              <a:t>Strassen's key idea: 7 products instead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8572"/>
            <a:ext cx="110642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95959"/>
                </a:solidFill>
                <a:latin typeface="Calibri"/>
              </a:rPr>
              <a:t>Using the SAME quadrants </a:t>
            </a:r>
            <a:r>
              <a:rPr sz="1300" b="0" i="0" dirty="0" err="1">
                <a:solidFill>
                  <a:srgbClr val="595959"/>
                </a:solidFill>
                <a:latin typeface="Calibri"/>
              </a:rPr>
              <a:t>a,b,c,d</a:t>
            </a:r>
            <a:r>
              <a:rPr sz="1300" b="0" i="0" dirty="0">
                <a:solidFill>
                  <a:srgbClr val="595959"/>
                </a:solidFill>
                <a:latin typeface="Calibri"/>
              </a:rPr>
              <a:t> (from A) and </a:t>
            </a:r>
            <a:r>
              <a:rPr sz="1300" b="0" i="0" dirty="0" err="1">
                <a:solidFill>
                  <a:srgbClr val="595959"/>
                </a:solidFill>
                <a:latin typeface="Calibri"/>
              </a:rPr>
              <a:t>e,f,g,h</a:t>
            </a:r>
            <a:r>
              <a:rPr sz="1300" b="0" i="0" dirty="0">
                <a:solidFill>
                  <a:srgbClr val="595959"/>
                </a:solidFill>
                <a:latin typeface="Calibri"/>
              </a:rPr>
              <a:t> (from B), </a:t>
            </a:r>
            <a:r>
              <a:rPr lang="en-US" sz="1300" b="0" i="0" dirty="0">
                <a:solidFill>
                  <a:srgbClr val="595959"/>
                </a:solidFill>
                <a:latin typeface="Calibri"/>
              </a:rPr>
              <a:t>BUT </a:t>
            </a:r>
            <a:r>
              <a:rPr sz="1300" b="0" i="0" dirty="0">
                <a:solidFill>
                  <a:srgbClr val="595959"/>
                </a:solidFill>
                <a:latin typeface="Calibri"/>
              </a:rPr>
              <a:t>combine them differently BEFORE multiplying.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30000"/>
            <a:ext cx="7000000" cy="320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640" y="2050000"/>
            <a:ext cx="5400000" cy="2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333F50"/>
                </a:solidFill>
                <a:latin typeface="Courier New"/>
              </a:rPr>
              <a:t>M1 = a · (f − h)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333F50"/>
                </a:solidFill>
                <a:latin typeface="Courier New"/>
              </a:rPr>
              <a:t>M2 = (a + b) · h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333F50"/>
                </a:solidFill>
                <a:latin typeface="Courier New"/>
              </a:rPr>
              <a:t>M3 = (c + d) · e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333F50"/>
                </a:solidFill>
                <a:latin typeface="Courier New"/>
              </a:rPr>
              <a:t>M4 = d · (g − e)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333F50"/>
                </a:solidFill>
                <a:latin typeface="Courier New"/>
              </a:rPr>
              <a:t>M5 = (a + d) · (e + h)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333F50"/>
                </a:solidFill>
                <a:latin typeface="Courier New"/>
              </a:rPr>
              <a:t>M6 = (b − d) · (g + h)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333F50"/>
                </a:solidFill>
                <a:latin typeface="Courier New"/>
              </a:rPr>
              <a:t>M7 = (a − c) · (e + 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87754" y="2133202"/>
            <a:ext cx="1500000" cy="3086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0"/>
              </a:spcAft>
            </a:pPr>
            <a:r>
              <a:rPr sz="1400" b="0" i="1" dirty="0">
                <a:solidFill>
                  <a:srgbClr val="595959"/>
                </a:solidFill>
                <a:latin typeface="Calibri"/>
              </a:rPr>
              <a:t>← 1 multiplication</a:t>
            </a:r>
          </a:p>
          <a:p>
            <a:pPr algn="l">
              <a:lnSpc>
                <a:spcPct val="185000"/>
              </a:lnSpc>
              <a:spcAft>
                <a:spcPts val="0"/>
              </a:spcAft>
            </a:pPr>
            <a:r>
              <a:rPr sz="1400" b="0" i="1" dirty="0">
                <a:solidFill>
                  <a:srgbClr val="595959"/>
                </a:solidFill>
                <a:latin typeface="Calibri"/>
              </a:rPr>
              <a:t>← 1 multiplication</a:t>
            </a:r>
          </a:p>
          <a:p>
            <a:pPr algn="l">
              <a:lnSpc>
                <a:spcPct val="185000"/>
              </a:lnSpc>
              <a:spcAft>
                <a:spcPts val="0"/>
              </a:spcAft>
            </a:pPr>
            <a:r>
              <a:rPr sz="1400" b="0" i="1" dirty="0">
                <a:solidFill>
                  <a:srgbClr val="595959"/>
                </a:solidFill>
                <a:latin typeface="Calibri"/>
              </a:rPr>
              <a:t>← 1 multiplication</a:t>
            </a:r>
          </a:p>
          <a:p>
            <a:pPr algn="l">
              <a:lnSpc>
                <a:spcPct val="185000"/>
              </a:lnSpc>
              <a:spcAft>
                <a:spcPts val="0"/>
              </a:spcAft>
            </a:pPr>
            <a:r>
              <a:rPr sz="1400" b="0" i="1" dirty="0">
                <a:solidFill>
                  <a:srgbClr val="595959"/>
                </a:solidFill>
                <a:latin typeface="Calibri"/>
              </a:rPr>
              <a:t>← 1 multiplication</a:t>
            </a:r>
          </a:p>
          <a:p>
            <a:pPr algn="l">
              <a:lnSpc>
                <a:spcPct val="185000"/>
              </a:lnSpc>
              <a:spcAft>
                <a:spcPts val="0"/>
              </a:spcAft>
            </a:pPr>
            <a:r>
              <a:rPr sz="1400" b="0" i="1" dirty="0">
                <a:solidFill>
                  <a:srgbClr val="595959"/>
                </a:solidFill>
                <a:latin typeface="Calibri"/>
              </a:rPr>
              <a:t>← 1 multiplication</a:t>
            </a:r>
          </a:p>
          <a:p>
            <a:pPr algn="l">
              <a:lnSpc>
                <a:spcPct val="185000"/>
              </a:lnSpc>
              <a:spcAft>
                <a:spcPts val="0"/>
              </a:spcAft>
            </a:pPr>
            <a:r>
              <a:rPr sz="1400" b="0" i="1" dirty="0">
                <a:solidFill>
                  <a:srgbClr val="595959"/>
                </a:solidFill>
                <a:latin typeface="Calibri"/>
              </a:rPr>
              <a:t>← 1 multiplication</a:t>
            </a:r>
          </a:p>
          <a:p>
            <a:pPr algn="l">
              <a:lnSpc>
                <a:spcPct val="185000"/>
              </a:lnSpc>
              <a:spcAft>
                <a:spcPts val="0"/>
              </a:spcAft>
            </a:pPr>
            <a:r>
              <a:rPr sz="1400" b="0" i="1" dirty="0">
                <a:solidFill>
                  <a:srgbClr val="595959"/>
                </a:solidFill>
                <a:latin typeface="Calibri"/>
              </a:rPr>
              <a:t>← 1 multiplication</a:t>
            </a:r>
            <a:endParaRPr lang="en-US" sz="1400" b="0" i="1" dirty="0">
              <a:solidFill>
                <a:srgbClr val="595959"/>
              </a:solidFill>
              <a:latin typeface="Calibri"/>
            </a:endParaRPr>
          </a:p>
          <a:p>
            <a:pPr algn="l">
              <a:lnSpc>
                <a:spcPct val="185000"/>
              </a:lnSpc>
              <a:spcAft>
                <a:spcPts val="0"/>
              </a:spcAft>
            </a:pPr>
            <a:endParaRPr sz="1200" b="0" i="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48640" y="1830000"/>
            <a:ext cx="3791672" cy="32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68640" y="2010000"/>
            <a:ext cx="335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472C4"/>
                </a:solidFill>
                <a:latin typeface="Calibri"/>
              </a:rPr>
              <a:t>Combine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8640" y="2450000"/>
            <a:ext cx="3351672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4546A"/>
                </a:solidFill>
                <a:latin typeface="Courier New"/>
              </a:rPr>
              <a:t>C11 = M5+M4−M2+M6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4546A"/>
                </a:solidFill>
                <a:latin typeface="Courier New"/>
              </a:rPr>
              <a:t>C12 = M1+M2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4546A"/>
                </a:solidFill>
                <a:latin typeface="Courier New"/>
              </a:rPr>
              <a:t>C21 = M3+M4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4546A"/>
                </a:solidFill>
                <a:latin typeface="Courier New"/>
              </a:rPr>
              <a:t>C22 = M1+M5−M3−M7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8640" y="4180000"/>
            <a:ext cx="3351672" cy="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Each Mi costs exactly one recursive multiplication of (n/2)-sized matrices; the +/− combinations are just additions — Θ(n²)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30000"/>
            <a:ext cx="11091672" cy="60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8640" y="5429972"/>
            <a:ext cx="10591672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333F50"/>
                </a:solidFill>
                <a:latin typeface="Calibri"/>
              </a:rPr>
              <a:t>7 multiplications instead of 8 </a:t>
            </a:r>
            <a:r>
              <a:rPr sz="1300" b="0" i="0" dirty="0">
                <a:solidFill>
                  <a:srgbClr val="333F50"/>
                </a:solidFill>
                <a:latin typeface="Calibri"/>
              </a:rPr>
              <a:t>— one fewer per split — is enough to lower the exponent from log₂ 8 = 3 to log₂ 7 ≈ 2.807</a:t>
            </a:r>
            <a:r>
              <a:rPr lang="en-US" sz="1300" b="0" i="0" dirty="0">
                <a:solidFill>
                  <a:srgbClr val="333F50"/>
                </a:solidFill>
                <a:latin typeface="Calibri"/>
              </a:rPr>
              <a:t> (Ref: Master Theorem)</a:t>
            </a:r>
            <a:endParaRPr sz="1300" b="0" i="0" dirty="0">
              <a:solidFill>
                <a:srgbClr val="333F5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dirty="0">
                <a:solidFill>
                  <a:srgbClr val="595959"/>
                </a:solidFill>
                <a:latin typeface="Calibri"/>
              </a:rPr>
              <a:t>9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2B6EAB-A2F2-E1F3-9FD0-A672DFAB9914}"/>
              </a:ext>
            </a:extLst>
          </p:cNvPr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16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MATRIX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333F50"/>
                </a:solidFill>
                <a:latin typeface="Calibri Light"/>
              </a:rPr>
              <a:t>Strassen's algorithm: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Same divide-and-conquer shape as brute force — split, recurse, combine — but only 7 recursive multiplications instead of 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0000"/>
            <a:ext cx="6350000" cy="35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640" y="1930000"/>
            <a:ext cx="5850000" cy="3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>
                <a:solidFill>
                  <a:srgbClr val="333F50"/>
                </a:solidFill>
                <a:latin typeface="Courier New"/>
              </a:rPr>
              <a:t>Strassen(A, B, n):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if n == 1: return A[0][0] * B[0][0]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split A into a,b,c,d   (n/2×n/2 each)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split B into e,f,g,h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M1 = Strassen(a, f - h)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M2 = Strassen(a + b, h)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M3 = Strassen(c + d, e)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M4 = Strassen(d, g - e)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M5 = Strassen(a + d, e + h)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M6 = Strassen(b - d, g + h)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M7 = Strassen(a - c, e + f)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C11 = M5 + M4 - M2 + M6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C12 = M1 + M2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C21 = M3 + M4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C22 = M1 + M5 - M3 - M7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333F50"/>
                </a:solidFill>
                <a:latin typeface="Courier New"/>
              </a:rPr>
              <a:t>  return combine(C11, C12, C21, C22)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8640" y="1750000"/>
            <a:ext cx="43916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472C4"/>
                </a:solidFill>
                <a:latin typeface="Calibri"/>
              </a:rPr>
              <a:t>How to read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8640" y="2130000"/>
            <a:ext cx="439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333F50"/>
                </a:solidFill>
                <a:latin typeface="Calibri"/>
              </a:rPr>
              <a:t>Base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8640" y="2470000"/>
            <a:ext cx="4391672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When n = 1, a matrix is a single number — multiply directly, no recursion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8640" y="3190000"/>
            <a:ext cx="439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333F50"/>
                </a:solidFill>
                <a:latin typeface="Calibri"/>
              </a:rPr>
              <a:t>7 recursive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8640" y="3530000"/>
            <a:ext cx="4391672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Each Strassen(...) call solves an (n/2)×(n/2) problem; only 7 are made per level, not 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8640" y="4250000"/>
            <a:ext cx="4391672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333F50"/>
                </a:solidFill>
                <a:latin typeface="Calibri"/>
              </a:rPr>
              <a:t>Combine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8640" y="4590000"/>
            <a:ext cx="439167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95959"/>
                </a:solidFill>
                <a:latin typeface="Calibri"/>
              </a:rPr>
              <a:t>Adding/subtracting quadrants to form M1–M7 and C11–C22 is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Θ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(n²) work — cheap compared to the recursive calls.</a:t>
            </a:r>
            <a:r>
              <a:rPr lang="en-US" sz="1200" b="0" i="0" dirty="0">
                <a:solidFill>
                  <a:srgbClr val="595959"/>
                </a:solidFill>
                <a:latin typeface="Calibri"/>
              </a:rPr>
              <a:t> (Roughgarden Chapter 3 pp. 57-58) </a:t>
            </a:r>
            <a:endParaRPr sz="12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5450000"/>
            <a:ext cx="11091672" cy="6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640" y="5574945"/>
            <a:ext cx="10591672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 dirty="0">
                <a:solidFill>
                  <a:srgbClr val="333F50"/>
                </a:solidFill>
                <a:latin typeface="Calibri"/>
              </a:rPr>
              <a:t>Net effect on the recurrence: </a:t>
            </a:r>
            <a:r>
              <a:rPr sz="1300" b="1" i="0" dirty="0">
                <a:solidFill>
                  <a:srgbClr val="333F50"/>
                </a:solidFill>
                <a:latin typeface="Calibri"/>
              </a:rPr>
              <a:t>T(n) = 7·T(n/2) + </a:t>
            </a:r>
            <a:r>
              <a:rPr sz="1300" b="1" i="0" dirty="0" err="1">
                <a:solidFill>
                  <a:srgbClr val="333F50"/>
                </a:solidFill>
                <a:latin typeface="Calibri"/>
              </a:rPr>
              <a:t>Θ</a:t>
            </a:r>
            <a:r>
              <a:rPr sz="1300" b="1" i="0" dirty="0">
                <a:solidFill>
                  <a:srgbClr val="333F50"/>
                </a:solidFill>
                <a:latin typeface="Calibri"/>
              </a:rPr>
              <a:t>(n²) </a:t>
            </a:r>
            <a:r>
              <a:rPr sz="1300" b="0" i="0" dirty="0">
                <a:solidFill>
                  <a:srgbClr val="333F50"/>
                </a:solidFill>
                <a:latin typeface="Calibri"/>
              </a:rPr>
              <a:t>— </a:t>
            </a:r>
            <a:r>
              <a:rPr sz="1300" b="1" i="0" dirty="0">
                <a:solidFill>
                  <a:schemeClr val="accent2"/>
                </a:solidFill>
                <a:latin typeface="Calibri"/>
              </a:rPr>
              <a:t>one fewer recursive call </a:t>
            </a:r>
            <a:r>
              <a:rPr sz="1300" b="0" i="0" dirty="0">
                <a:solidFill>
                  <a:srgbClr val="333F50"/>
                </a:solidFill>
                <a:latin typeface="Calibri"/>
              </a:rPr>
              <a:t>than the naive 8T(n/2) + </a:t>
            </a:r>
            <a:r>
              <a:rPr sz="1300" b="0" i="0" dirty="0" err="1">
                <a:solidFill>
                  <a:srgbClr val="333F50"/>
                </a:solidFill>
                <a:latin typeface="Calibri"/>
              </a:rPr>
              <a:t>Θ</a:t>
            </a:r>
            <a:r>
              <a:rPr sz="1300" b="0" i="0" dirty="0">
                <a:solidFill>
                  <a:srgbClr val="333F50"/>
                </a:solidFill>
                <a:latin typeface="Calibri"/>
              </a:rPr>
              <a:t>(n²) version, which is enough to lower the exponent from 3 to log₂ 7 ≈ 2.807.</a:t>
            </a:r>
            <a:r>
              <a:rPr lang="en-US" sz="1300" b="0" i="0" dirty="0">
                <a:solidFill>
                  <a:srgbClr val="333F50"/>
                </a:solidFill>
                <a:latin typeface="Calibri"/>
              </a:rPr>
              <a:t> So the overall complexity of Strassen’s algorithm (by Master’s Theorem) is : </a:t>
            </a:r>
            <a:r>
              <a:rPr lang="el-GR" sz="1300" dirty="0">
                <a:solidFill>
                  <a:srgbClr val="333F50"/>
                </a:solidFill>
                <a:latin typeface="Calibri"/>
              </a:rPr>
              <a:t>Θ(</a:t>
            </a:r>
            <a:r>
              <a:rPr lang="en-US" sz="1300" dirty="0">
                <a:solidFill>
                  <a:srgbClr val="333F50"/>
                </a:solidFill>
                <a:latin typeface="Calibri"/>
              </a:rPr>
              <a:t>n</a:t>
            </a:r>
            <a:r>
              <a:rPr lang="en-US" sz="1300" baseline="30000" dirty="0">
                <a:solidFill>
                  <a:srgbClr val="333F50"/>
                </a:solidFill>
                <a:latin typeface="Calibri"/>
              </a:rPr>
              <a:t>2.807</a:t>
            </a:r>
            <a:r>
              <a:rPr lang="en-US" sz="1300" dirty="0">
                <a:solidFill>
                  <a:srgbClr val="333F50"/>
                </a:solidFill>
                <a:latin typeface="Calibri"/>
              </a:rPr>
              <a:t>) </a:t>
            </a:r>
            <a:endParaRPr sz="1300" b="0" i="0" dirty="0">
              <a:solidFill>
                <a:srgbClr val="333F5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dirty="0">
                <a:solidFill>
                  <a:srgbClr val="595959"/>
                </a:solidFill>
                <a:latin typeface="Calibri"/>
              </a:rPr>
              <a:t>10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041E03-61FB-8010-7774-AE26F5666364}"/>
              </a:ext>
            </a:extLst>
          </p:cNvPr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16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MATRIX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F50"/>
                </a:solidFill>
                <a:latin typeface="Calibri Light"/>
              </a:rPr>
              <a:t>Strassen's algorithm: worked example,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00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Same numbers as the brute-force example — A=[1,3;7,5], B=[6,8;4,2] — so a=1, b=3, c=7, d=5, e=6, f=8, g=4, h=2 (n=2, so quadrants are single numbers).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50000"/>
            <a:ext cx="5750000" cy="35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8640" y="2050000"/>
            <a:ext cx="5290000" cy="3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1" i="0">
                <a:solidFill>
                  <a:srgbClr val="333F50"/>
                </a:solidFill>
                <a:latin typeface="Courier New"/>
              </a:rPr>
              <a:t>Step 1 — compute M1–M4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33F50"/>
                </a:solidFill>
                <a:latin typeface="Courier New"/>
              </a:rPr>
              <a:t>M1 = a×(f−h) = 1×(8−2) = 1×6 = 6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33F50"/>
                </a:solidFill>
                <a:latin typeface="Courier New"/>
              </a:rPr>
              <a:t>M2 = (a+b)×h = (1+3)×2 = 4×2 = 8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33F50"/>
                </a:solidFill>
                <a:latin typeface="Courier New"/>
              </a:rPr>
              <a:t>M3 = (c+d)×e = (7+5)×6 = 12×6 = 72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33F50"/>
                </a:solidFill>
                <a:latin typeface="Courier New"/>
              </a:rPr>
              <a:t>M4 = d×(g−e) = 5×(4−6) = 5×(−2) = −10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endParaRPr sz="1250" b="0" i="0">
              <a:solidFill>
                <a:srgbClr val="333F50"/>
              </a:solidFill>
              <a:latin typeface="Courier New"/>
            </a:endParaRP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1" i="0">
                <a:solidFill>
                  <a:srgbClr val="333F50"/>
                </a:solidFill>
                <a:latin typeface="Courier New"/>
              </a:rPr>
              <a:t>Step 2 — compute M5–M7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33F50"/>
                </a:solidFill>
                <a:latin typeface="Courier New"/>
              </a:rPr>
              <a:t>M5 = (a+d)×(e+h) = (1+5)×(6+2) = 6×8 = 48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33F50"/>
                </a:solidFill>
                <a:latin typeface="Courier New"/>
              </a:rPr>
              <a:t>M6 = (b−d)×(g+h) = (3−5)×(4+2) = (−2)×6 = −12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33F50"/>
                </a:solidFill>
                <a:latin typeface="Courier New"/>
              </a:rPr>
              <a:t>M7 = (a−c)×(e+f) = (1−7)×(6+8) = (−6)×14 = −84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8640" y="1850000"/>
            <a:ext cx="5041672" cy="24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28640" y="2050000"/>
            <a:ext cx="4581672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i="0">
                <a:solidFill>
                  <a:srgbClr val="333F50"/>
                </a:solidFill>
                <a:latin typeface="Courier New"/>
              </a:rPr>
              <a:t>Step 3 — combine into C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333F50"/>
                </a:solidFill>
                <a:latin typeface="Courier New"/>
              </a:rPr>
              <a:t>C11 = M5+M4−M2+M6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44546A"/>
                </a:solidFill>
                <a:latin typeface="Courier New"/>
              </a:rPr>
              <a:t>     = 48−10−8−12 = 18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44546A"/>
                </a:solidFill>
                <a:latin typeface="Courier New"/>
              </a:rPr>
              <a:t>C12 = M1+M2 = 6+8 = 14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44546A"/>
                </a:solidFill>
                <a:latin typeface="Courier New"/>
              </a:rPr>
              <a:t>C21 = M3+M4 = 72−10 = 62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333F50"/>
                </a:solidFill>
                <a:latin typeface="Courier New"/>
              </a:rPr>
              <a:t>C22 = M1+M5−M3−M7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44546A"/>
                </a:solidFill>
                <a:latin typeface="Courier New"/>
              </a:rPr>
              <a:t>     = 6+48−72+84 = 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640" y="4450000"/>
            <a:ext cx="5041672" cy="9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8640" y="4450000"/>
            <a:ext cx="4601672" cy="9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333F50"/>
                </a:solidFill>
                <a:latin typeface="Courier New"/>
              </a:rPr>
              <a:t>C = [ 18  14 ]
    [ 62  66 ]
✓ matches brute 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dirty="0">
                <a:solidFill>
                  <a:srgbClr val="595959"/>
                </a:solidFill>
                <a:latin typeface="Calibri"/>
              </a:rPr>
              <a:t>11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5CCDE8-4D1A-D7C8-3B03-DB20DFFABDAF}"/>
              </a:ext>
            </a:extLst>
          </p:cNvPr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16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RUNTIME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333F50"/>
                </a:solidFill>
                <a:latin typeface="Calibri Light"/>
              </a:rPr>
              <a:t>Comparing the three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Fewer recursive multiplications per split changes the exponent in the running time, not just the constant factor.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50000"/>
          <a:ext cx="11091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54864" marB="54864"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Recurrence</a:t>
                      </a:r>
                    </a:p>
                  </a:txBody>
                  <a:tcPr marT="54864" marB="54864"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Mults. per split</a:t>
                      </a:r>
                    </a:p>
                  </a:txBody>
                  <a:tcPr marT="54864" marB="54864"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 complexity</a:t>
                      </a:r>
                    </a:p>
                  </a:txBody>
                  <a:tcPr marT="54864" marB="54864" anchor="ctr"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Brute force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ourier New"/>
                        </a:rPr>
                        <a:t>— (iterative, triple loop)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n³ total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ourier New"/>
                        </a:rPr>
                        <a:t>Θ(n³)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Naive block (quadrants)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ourier New"/>
                        </a:rPr>
                        <a:t>T(n) = 8T(n/2) + Θ(n²)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ourier New"/>
                        </a:rPr>
                        <a:t>Θ(n³)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Strassen's algorithm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ourier New"/>
                        </a:rPr>
                        <a:t>T(n) = 7T(n/2) + Θ(n²)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F50"/>
                          </a:solidFill>
                          <a:latin typeface="Courier New"/>
                        </a:rPr>
                        <a:t>Θ(n^log₂(7)) ≈ Θ(n^2.807)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50000"/>
            <a:ext cx="11091672" cy="80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8640" y="4550000"/>
            <a:ext cx="10591672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33F50"/>
                </a:solidFill>
                <a:latin typeface="Calibri"/>
              </a:rPr>
              <a:t>Strassen wins asymptotically, but the smaller exponent comes with larger constant factors and reduced numerical stability — in practice it typically only pays off for large matrices, and real libraries switch back to brute force below a size threshold.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69294"/>
            <a:ext cx="731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dirty="0">
                <a:solidFill>
                  <a:srgbClr val="595959"/>
                </a:solidFill>
                <a:latin typeface="Calibri"/>
              </a:rPr>
              <a:t>12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FBCA2-E0E4-6479-535B-6831791831FA}"/>
              </a:ext>
            </a:extLst>
          </p:cNvPr>
          <p:cNvSpPr txBox="1"/>
          <p:nvPr/>
        </p:nvSpPr>
        <p:spPr>
          <a:xfrm>
            <a:off x="548640" y="6569294"/>
            <a:ext cx="9326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595959"/>
                </a:solidFill>
                <a:latin typeface="Calibri"/>
              </a:rPr>
              <a:t>Algorithm Analysis and Design  · 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Asymptotic Notation;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Divide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and 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Conquer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Strategy</a:t>
            </a:r>
            <a:r>
              <a:rPr sz="900" b="0" i="0" dirty="0">
                <a:solidFill>
                  <a:srgbClr val="595959"/>
                </a:solidFill>
                <a:latin typeface="Calibri"/>
              </a:rPr>
              <a:t> ·  Sep </a:t>
            </a:r>
            <a:r>
              <a:rPr lang="en-US" sz="900" b="0" i="0" dirty="0">
                <a:solidFill>
                  <a:srgbClr val="595959"/>
                </a:solidFill>
                <a:latin typeface="Calibri"/>
              </a:rPr>
              <a:t>16</a:t>
            </a:r>
            <a:endParaRPr sz="900" b="0" i="0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Text 60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</a:p>
        </p:txBody>
      </p:sp>
      <p:sp>
        <p:nvSpPr>
          <p:cNvPr id="602" name="Text 60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44546A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Divide-and-conquer </a:t>
            </a:r>
            <a:r>
              <a:rPr lang="en-US" sz="3000" b="1" dirty="0">
                <a:solidFill>
                  <a:srgbClr val="44546A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strategies </a:t>
            </a:r>
            <a:r>
              <a:rPr lang="en-US" sz="3000" b="1">
                <a:solidFill>
                  <a:srgbClr val="44546A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for sorting</a:t>
            </a:r>
            <a:endParaRPr lang="en-US" sz="3000" b="1" dirty="0">
              <a:solidFill>
                <a:srgbClr val="44546A"/>
              </a:solidFill>
              <a:latin typeface="Calibri Light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603" name="Text 60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Notation; Divide and Conquer Strategy ·  Sep 16</a:t>
            </a:r>
          </a:p>
        </p:txBody>
      </p:sp>
      <p:sp>
        <p:nvSpPr>
          <p:cNvPr id="604" name="Text 604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</a:p>
        </p:txBody>
      </p:sp>
      <p:sp>
        <p:nvSpPr>
          <p:cNvPr id="605" name="Shape 605"/>
          <p:cNvSpPr/>
          <p:nvPr/>
        </p:nvSpPr>
        <p:spPr>
          <a:xfrm>
            <a:off x="54864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6" name="Text 606"/>
          <p:cNvSpPr/>
          <p:nvPr/>
        </p:nvSpPr>
        <p:spPr>
          <a:xfrm>
            <a:off x="86868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SORTING MATTERS</a:t>
            </a:r>
            <a:endParaRPr lang="en-US" sz="1100" b="1" kern="0" spc="100" dirty="0">
              <a:solidFill>
                <a:srgbClr val="4472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07" name="Text 607"/>
          <p:cNvSpPr/>
          <p:nvPr/>
        </p:nvSpPr>
        <p:spPr>
          <a:xfrm>
            <a:off x="868680" y="25603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Sorting turns disorder into structure</a:t>
            </a:r>
          </a:p>
        </p:txBody>
      </p:sp>
      <p:sp>
        <p:nvSpPr>
          <p:cNvPr id="608" name="Text 608"/>
          <p:cNvSpPr/>
          <p:nvPr/>
        </p:nvSpPr>
        <p:spPr>
          <a:xfrm>
            <a:off x="868680" y="3154680"/>
            <a:ext cx="461772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algorithms become simpler once data is ordered</a:t>
            </a: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to sort efficiently without comparing every item with every other item</a:t>
            </a: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609" name="Shape 609"/>
          <p:cNvSpPr/>
          <p:nvPr/>
        </p:nvSpPr>
        <p:spPr>
          <a:xfrm>
            <a:off x="868680" y="448044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0" name="Text 610"/>
          <p:cNvSpPr/>
          <p:nvPr/>
        </p:nvSpPr>
        <p:spPr>
          <a:xfrm>
            <a:off x="868680" y="461772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 gives us a reusable strategy: split the input, solve smaller sorting problems, then combine the results.</a:t>
            </a:r>
          </a:p>
        </p:txBody>
      </p:sp>
      <p:sp>
        <p:nvSpPr>
          <p:cNvPr id="611" name="Shape 611"/>
          <p:cNvSpPr/>
          <p:nvPr/>
        </p:nvSpPr>
        <p:spPr>
          <a:xfrm>
            <a:off x="635508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D6DC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2" name="Text 612"/>
          <p:cNvSpPr/>
          <p:nvPr/>
        </p:nvSpPr>
        <p:spPr>
          <a:xfrm>
            <a:off x="667512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</a:t>
            </a: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ALGORITHMS</a:t>
            </a:r>
            <a:endParaRPr lang="en-US" sz="1100" b="1" kern="0" spc="150" dirty="0">
              <a:solidFill>
                <a:srgbClr val="4472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13" name="Text 613"/>
          <p:cNvSpPr/>
          <p:nvPr/>
        </p:nvSpPr>
        <p:spPr>
          <a:xfrm>
            <a:off x="6675120" y="256032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Split. Sort. Combine.</a:t>
            </a:r>
          </a:p>
        </p:txBody>
      </p:sp>
      <p:sp>
        <p:nvSpPr>
          <p:cNvPr id="614" name="Text 614"/>
          <p:cNvSpPr/>
          <p:nvPr/>
        </p:nvSpPr>
        <p:spPr>
          <a:xfrm>
            <a:off x="6675120" y="3336600"/>
            <a:ext cx="461772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divides the input</a:t>
            </a: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each half</a:t>
            </a: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merges </a:t>
            </a: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 Quicksort partitions around </a:t>
            </a: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</a:t>
            </a: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sorts the smaller regions</a:t>
            </a: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615" name="Shape 615"/>
          <p:cNvSpPr/>
          <p:nvPr/>
        </p:nvSpPr>
        <p:spPr>
          <a:xfrm>
            <a:off x="6675120" y="448044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6" name="Text 616"/>
          <p:cNvSpPr/>
          <p:nvPr/>
        </p:nvSpPr>
        <p:spPr>
          <a:xfrm>
            <a:off x="6675120" y="461772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trace both algorithms and connect each step to a divide-and-conquer recurrence with reference to Master Theorem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2959</Words>
  <Application>Microsoft Macintosh PowerPoint</Application>
  <PresentationFormat>Widescreen</PresentationFormat>
  <Paragraphs>320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Tanwistha Saha</dc:creator>
  <cp:lastModifiedBy>Tanwistha Saha</cp:lastModifiedBy>
  <cp:revision>50</cp:revision>
  <dcterms:created xsi:type="dcterms:W3CDTF">2026-09-14T19:51:26Z</dcterms:created>
  <dcterms:modified xsi:type="dcterms:W3CDTF">2026-09-16T19:50:47Z</dcterms:modified>
</cp:coreProperties>
</file>